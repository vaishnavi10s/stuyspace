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5" r:id="rId9"/>
    <p:sldId id="266" r:id="rId10"/>
    <p:sldId id="267" r:id="rId11"/>
    <p:sldId id="263" r:id="rId12"/>
    <p:sldId id="268" r:id="rId13"/>
    <p:sldId id="269" r:id="rId14"/>
    <p:sldId id="270" r:id="rId15"/>
    <p:sldId id="271" r:id="rId16"/>
    <p:sldId id="272" r:id="rId17"/>
    <p:sldId id="273" r:id="rId18"/>
    <p:sldId id="264" r:id="rId19"/>
    <p:sldId id="274" r:id="rId20"/>
    <p:sldId id="275" r:id="rId21"/>
    <p:sldId id="276" r:id="rId22"/>
    <p:sldId id="279" r:id="rId23"/>
    <p:sldId id="280" r:id="rId24"/>
    <p:sldId id="277" r:id="rId25"/>
    <p:sldId id="278"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E770-44AE-47D5-B4B1-71BEC9A9D725}"/>
              </a:ext>
            </a:extLst>
          </p:cNvPr>
          <p:cNvSpPr>
            <a:spLocks noGrp="1"/>
          </p:cNvSpPr>
          <p:nvPr>
            <p:ph type="ctrTitle"/>
          </p:nvPr>
        </p:nvSpPr>
        <p:spPr>
          <a:xfrm>
            <a:off x="841248" y="663960"/>
            <a:ext cx="9456049" cy="3594112"/>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4CA91C7-81A9-46F3-B0F4-D9AB8808514E}"/>
              </a:ext>
            </a:extLst>
          </p:cNvPr>
          <p:cNvSpPr>
            <a:spLocks noGrp="1"/>
          </p:cNvSpPr>
          <p:nvPr>
            <p:ph type="subTitle" idx="1"/>
          </p:nvPr>
        </p:nvSpPr>
        <p:spPr>
          <a:xfrm>
            <a:off x="841248" y="4667581"/>
            <a:ext cx="9456049" cy="1197387"/>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1AA648C8-9681-4994-B52A-1A8BC79127E1}"/>
              </a:ext>
            </a:extLst>
          </p:cNvPr>
          <p:cNvSpPr>
            <a:spLocks noGrp="1"/>
          </p:cNvSpPr>
          <p:nvPr>
            <p:ph type="dt" sz="half" idx="10"/>
          </p:nvPr>
        </p:nvSpPr>
        <p:spPr>
          <a:xfrm>
            <a:off x="841248" y="6102693"/>
            <a:ext cx="2743200" cy="365125"/>
          </a:xfrm>
        </p:spPr>
        <p:txBody>
          <a:bodyPr/>
          <a:lstStyle/>
          <a:p>
            <a:fld id="{AE3425CA-4B9D-4420-BB9E-C250DB30E421}" type="datetime1">
              <a:rPr lang="en-US" smtClean="0"/>
              <a:t>12/26/2025</a:t>
            </a:fld>
            <a:endParaRPr lang="en-US"/>
          </a:p>
        </p:txBody>
      </p:sp>
      <p:sp>
        <p:nvSpPr>
          <p:cNvPr id="5" name="Footer Placeholder 4">
            <a:extLst>
              <a:ext uri="{FF2B5EF4-FFF2-40B4-BE49-F238E27FC236}">
                <a16:creationId xmlns:a16="http://schemas.microsoft.com/office/drawing/2014/main" id="{6677F203-CB10-488B-82DC-9D0571A5E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B2E9B-C8B7-4716-9D05-265A04246E05}"/>
              </a:ext>
            </a:extLst>
          </p:cNvPr>
          <p:cNvSpPr>
            <a:spLocks noGrp="1"/>
          </p:cNvSpPr>
          <p:nvPr>
            <p:ph type="sldNum" sz="quarter" idx="12"/>
          </p:nvPr>
        </p:nvSpPr>
        <p:spPr/>
        <p:txBody>
          <a:bodyPr/>
          <a:lstStyle/>
          <a:p>
            <a:fld id="{6586042B-6341-4E38-A80C-926D3BB8AAC9}" type="slidenum">
              <a:rPr lang="en-US" smtClean="0"/>
              <a:t>‹#›</a:t>
            </a:fld>
            <a:endParaRPr lang="en-US"/>
          </a:p>
        </p:txBody>
      </p:sp>
      <p:cxnSp>
        <p:nvCxnSpPr>
          <p:cNvPr id="7" name="Straight Connector 6">
            <a:extLst>
              <a:ext uri="{FF2B5EF4-FFF2-40B4-BE49-F238E27FC236}">
                <a16:creationId xmlns:a16="http://schemas.microsoft.com/office/drawing/2014/main" id="{9EED8031-DD67-43C6-94A0-646636C95560}"/>
              </a:ext>
            </a:extLst>
          </p:cNvPr>
          <p:cNvCxnSpPr>
            <a:cxnSpLocks/>
          </p:cNvCxnSpPr>
          <p:nvPr/>
        </p:nvCxnSpPr>
        <p:spPr>
          <a:xfrm>
            <a:off x="360154" y="4495800"/>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003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42B9A-9384-46B2-8B4F-B9C2035CAB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B413CF4-CD0B-4F3C-A1CE-1BA3EFDEEB5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1DE659-17B0-4F70-8F1C-93BF4DB64390}"/>
              </a:ext>
            </a:extLst>
          </p:cNvPr>
          <p:cNvSpPr>
            <a:spLocks noGrp="1"/>
          </p:cNvSpPr>
          <p:nvPr>
            <p:ph type="dt" sz="half" idx="10"/>
          </p:nvPr>
        </p:nvSpPr>
        <p:spPr/>
        <p:txBody>
          <a:bodyPr/>
          <a:lstStyle/>
          <a:p>
            <a:fld id="{62751E1E-C50D-4FD4-8B1E-ECD78340D9AB}" type="datetime1">
              <a:rPr lang="en-US" smtClean="0"/>
              <a:t>12/26/2025</a:t>
            </a:fld>
            <a:endParaRPr lang="en-US"/>
          </a:p>
        </p:txBody>
      </p:sp>
      <p:sp>
        <p:nvSpPr>
          <p:cNvPr id="5" name="Footer Placeholder 4">
            <a:extLst>
              <a:ext uri="{FF2B5EF4-FFF2-40B4-BE49-F238E27FC236}">
                <a16:creationId xmlns:a16="http://schemas.microsoft.com/office/drawing/2014/main" id="{37AB0750-AB4E-4FCF-9B52-BC954760B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466B99-C716-4464-B695-623F4C5A9D9B}"/>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675336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233A-AD59-4FB1-A1CA-AABFAE040805}"/>
              </a:ext>
            </a:extLst>
          </p:cNvPr>
          <p:cNvSpPr>
            <a:spLocks noGrp="1"/>
          </p:cNvSpPr>
          <p:nvPr>
            <p:ph type="title"/>
          </p:nvPr>
        </p:nvSpPr>
        <p:spPr>
          <a:xfrm>
            <a:off x="841249" y="552782"/>
            <a:ext cx="9538428" cy="3714417"/>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A656964-650B-4E87-9541-0E659DEC0365}"/>
              </a:ext>
            </a:extLst>
          </p:cNvPr>
          <p:cNvSpPr>
            <a:spLocks noGrp="1"/>
          </p:cNvSpPr>
          <p:nvPr>
            <p:ph type="body" idx="1"/>
          </p:nvPr>
        </p:nvSpPr>
        <p:spPr>
          <a:xfrm>
            <a:off x="841249" y="4672584"/>
            <a:ext cx="9538428" cy="1143802"/>
          </a:xfrm>
        </p:spPr>
        <p:txBody>
          <a:bodyPr>
            <a:normAutofit/>
          </a:bodyPr>
          <a:lstStyle>
            <a:lvl1pPr marL="0" indent="0" algn="l" defTabSz="914400" rtl="0" eaLnBrk="1" latinLnBrk="0" hangingPunct="1">
              <a:lnSpc>
                <a:spcPct val="130000"/>
              </a:lnSpc>
              <a:spcBef>
                <a:spcPts val="1000"/>
              </a:spcBef>
              <a:buFont typeface="Arial" panose="020B0604020202020204" pitchFamily="34" charset="0"/>
              <a:buNone/>
              <a:defRPr lang="en-US" sz="2000"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21BB50-DF4A-47B5-A3AD-18712A3AD40E}"/>
              </a:ext>
            </a:extLst>
          </p:cNvPr>
          <p:cNvSpPr>
            <a:spLocks noGrp="1"/>
          </p:cNvSpPr>
          <p:nvPr>
            <p:ph type="dt" sz="half" idx="10"/>
          </p:nvPr>
        </p:nvSpPr>
        <p:spPr/>
        <p:txBody>
          <a:bodyPr/>
          <a:lstStyle/>
          <a:p>
            <a:fld id="{43C83AFB-9E54-459E-8C6D-0913AC3BA5D7}" type="datetime1">
              <a:rPr lang="en-US" smtClean="0"/>
              <a:t>12/26/2025</a:t>
            </a:fld>
            <a:endParaRPr lang="en-US"/>
          </a:p>
        </p:txBody>
      </p:sp>
      <p:sp>
        <p:nvSpPr>
          <p:cNvPr id="5" name="Footer Placeholder 4">
            <a:extLst>
              <a:ext uri="{FF2B5EF4-FFF2-40B4-BE49-F238E27FC236}">
                <a16:creationId xmlns:a16="http://schemas.microsoft.com/office/drawing/2014/main" id="{3CDF59B3-D1B8-4A51-AD6E-868C5BF6F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CA779-6272-4A15-A566-20C4E9A60D47}"/>
              </a:ext>
            </a:extLst>
          </p:cNvPr>
          <p:cNvSpPr>
            <a:spLocks noGrp="1"/>
          </p:cNvSpPr>
          <p:nvPr>
            <p:ph type="sldNum" sz="quarter" idx="12"/>
          </p:nvPr>
        </p:nvSpPr>
        <p:spPr/>
        <p:txBody>
          <a:bodyPr/>
          <a:lstStyle/>
          <a:p>
            <a:fld id="{6586042B-6341-4E38-A80C-926D3BB8AAC9}" type="slidenum">
              <a:rPr lang="en-US" smtClean="0"/>
              <a:t>‹#›</a:t>
            </a:fld>
            <a:endParaRPr lang="en-US"/>
          </a:p>
        </p:txBody>
      </p:sp>
      <p:cxnSp>
        <p:nvCxnSpPr>
          <p:cNvPr id="7" name="Straight Connector 6">
            <a:extLst>
              <a:ext uri="{FF2B5EF4-FFF2-40B4-BE49-F238E27FC236}">
                <a16:creationId xmlns:a16="http://schemas.microsoft.com/office/drawing/2014/main" id="{F0B86E8F-91EA-4626-BCA8-3B4973C7C9D6}"/>
              </a:ext>
            </a:extLst>
          </p:cNvPr>
          <p:cNvCxnSpPr>
            <a:cxnSpLocks/>
          </p:cNvCxnSpPr>
          <p:nvPr/>
        </p:nvCxnSpPr>
        <p:spPr>
          <a:xfrm>
            <a:off x="360154" y="4495800"/>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41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52A00-5BBD-436C-BB6D-CE650FC46202}"/>
              </a:ext>
            </a:extLst>
          </p:cNvPr>
          <p:cNvSpPr>
            <a:spLocks noGrp="1"/>
          </p:cNvSpPr>
          <p:nvPr>
            <p:ph type="title"/>
          </p:nvPr>
        </p:nvSpPr>
        <p:spPr>
          <a:xfrm>
            <a:off x="841248" y="552783"/>
            <a:ext cx="9683871" cy="132588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DFB3E2E-F3C4-4CDD-9138-86AE7A1B566D}"/>
              </a:ext>
            </a:extLst>
          </p:cNvPr>
          <p:cNvSpPr>
            <a:spLocks noGrp="1"/>
          </p:cNvSpPr>
          <p:nvPr>
            <p:ph sz="half" idx="1"/>
          </p:nvPr>
        </p:nvSpPr>
        <p:spPr>
          <a:xfrm>
            <a:off x="841248" y="2108362"/>
            <a:ext cx="4507926" cy="37216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795CD01-B639-46B6-B53D-18FE1E39AF50}"/>
              </a:ext>
            </a:extLst>
          </p:cNvPr>
          <p:cNvSpPr>
            <a:spLocks noGrp="1"/>
          </p:cNvSpPr>
          <p:nvPr>
            <p:ph sz="half" idx="2"/>
          </p:nvPr>
        </p:nvSpPr>
        <p:spPr>
          <a:xfrm>
            <a:off x="5699171" y="2108362"/>
            <a:ext cx="4825948" cy="37216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396E34C3-86AC-48F9-92A4-F17BFAF9EF06}"/>
              </a:ext>
            </a:extLst>
          </p:cNvPr>
          <p:cNvSpPr>
            <a:spLocks noGrp="1"/>
          </p:cNvSpPr>
          <p:nvPr>
            <p:ph type="dt" sz="half" idx="10"/>
          </p:nvPr>
        </p:nvSpPr>
        <p:spPr/>
        <p:txBody>
          <a:bodyPr/>
          <a:lstStyle/>
          <a:p>
            <a:fld id="{F10144B6-0CA7-46BA-A00B-1E68E5C3ED0C}" type="datetime1">
              <a:rPr lang="en-US" smtClean="0"/>
              <a:t>12/26/2025</a:t>
            </a:fld>
            <a:endParaRPr lang="en-US"/>
          </a:p>
        </p:txBody>
      </p:sp>
      <p:sp>
        <p:nvSpPr>
          <p:cNvPr id="6" name="Footer Placeholder 5">
            <a:extLst>
              <a:ext uri="{FF2B5EF4-FFF2-40B4-BE49-F238E27FC236}">
                <a16:creationId xmlns:a16="http://schemas.microsoft.com/office/drawing/2014/main" id="{275D6A29-C51F-4654-82AD-04056FA6C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21EEB6-57E6-40E7-9702-1D5999B505DC}"/>
              </a:ext>
            </a:extLst>
          </p:cNvPr>
          <p:cNvSpPr>
            <a:spLocks noGrp="1"/>
          </p:cNvSpPr>
          <p:nvPr>
            <p:ph type="sldNum" sz="quarter" idx="12"/>
          </p:nvPr>
        </p:nvSpPr>
        <p:spPr/>
        <p:txBody>
          <a:bodyPr/>
          <a:lstStyle/>
          <a:p>
            <a:fld id="{6586042B-6341-4E38-A80C-926D3BB8AAC9}" type="slidenum">
              <a:rPr lang="en-US" smtClean="0"/>
              <a:t>‹#›</a:t>
            </a:fld>
            <a:endParaRPr lang="en-US"/>
          </a:p>
        </p:txBody>
      </p:sp>
      <p:cxnSp>
        <p:nvCxnSpPr>
          <p:cNvPr id="8" name="Straight Connector 7">
            <a:extLst>
              <a:ext uri="{FF2B5EF4-FFF2-40B4-BE49-F238E27FC236}">
                <a16:creationId xmlns:a16="http://schemas.microsoft.com/office/drawing/2014/main" id="{F929C81A-4806-44FF-99D8-13A65B2D066F}"/>
              </a:ext>
            </a:extLst>
          </p:cNvPr>
          <p:cNvCxnSpPr>
            <a:cxnSpLocks/>
          </p:cNvCxnSpPr>
          <p:nvPr/>
        </p:nvCxnSpPr>
        <p:spPr>
          <a:xfrm>
            <a:off x="375523" y="2004012"/>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8DDCF9-5353-4B5F-8565-8C27F795A4BF}"/>
              </a:ext>
            </a:extLst>
          </p:cNvPr>
          <p:cNvCxnSpPr>
            <a:cxnSpLocks/>
          </p:cNvCxnSpPr>
          <p:nvPr/>
        </p:nvCxnSpPr>
        <p:spPr>
          <a:xfrm>
            <a:off x="5563342" y="2004012"/>
            <a:ext cx="0" cy="4048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08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0D1A9-BF08-4C6D-805E-244B234EE852}"/>
              </a:ext>
            </a:extLst>
          </p:cNvPr>
          <p:cNvSpPr>
            <a:spLocks noGrp="1"/>
          </p:cNvSpPr>
          <p:nvPr>
            <p:ph type="title"/>
          </p:nvPr>
        </p:nvSpPr>
        <p:spPr>
          <a:xfrm>
            <a:off x="841248" y="557784"/>
            <a:ext cx="943957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920C1D8-0907-4FDB-BFAD-36E14AF98D81}"/>
              </a:ext>
            </a:extLst>
          </p:cNvPr>
          <p:cNvSpPr>
            <a:spLocks noGrp="1"/>
          </p:cNvSpPr>
          <p:nvPr>
            <p:ph type="body" idx="1"/>
          </p:nvPr>
        </p:nvSpPr>
        <p:spPr>
          <a:xfrm>
            <a:off x="841248" y="2114185"/>
            <a:ext cx="4438887" cy="693761"/>
          </a:xfrm>
        </p:spPr>
        <p:txBody>
          <a:bodyPr anchor="b">
            <a:normAutofit/>
          </a:bodyPr>
          <a:lstStyle>
            <a:lvl1pPr marL="0" indent="0" algn="l" defTabSz="914400" rtl="0" eaLnBrk="1" latinLnBrk="0" hangingPunct="1">
              <a:lnSpc>
                <a:spcPct val="130000"/>
              </a:lnSpc>
              <a:spcBef>
                <a:spcPts val="1000"/>
              </a:spcBef>
              <a:buFont typeface="Arial" panose="020B0604020202020204" pitchFamily="34" charset="0"/>
              <a:buNone/>
              <a:defRPr lang="en-US" sz="2400"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A4441-5FC3-4F86-8ADE-ED90424DB9B8}"/>
              </a:ext>
            </a:extLst>
          </p:cNvPr>
          <p:cNvSpPr>
            <a:spLocks noGrp="1"/>
          </p:cNvSpPr>
          <p:nvPr>
            <p:ph sz="half" idx="2"/>
          </p:nvPr>
        </p:nvSpPr>
        <p:spPr>
          <a:xfrm>
            <a:off x="841248" y="2900451"/>
            <a:ext cx="4438887" cy="3028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3CEB34D-DB36-47E0-AE2C-FBEBA272076E}"/>
              </a:ext>
            </a:extLst>
          </p:cNvPr>
          <p:cNvSpPr>
            <a:spLocks noGrp="1"/>
          </p:cNvSpPr>
          <p:nvPr>
            <p:ph type="body" sz="quarter" idx="3"/>
          </p:nvPr>
        </p:nvSpPr>
        <p:spPr>
          <a:xfrm>
            <a:off x="5795090" y="2114185"/>
            <a:ext cx="4485728" cy="693761"/>
          </a:xfrm>
        </p:spPr>
        <p:txBody>
          <a:bodyPr anchor="b">
            <a:normAutofit/>
          </a:bodyPr>
          <a:lstStyle>
            <a:lvl1pPr marL="0" indent="0" algn="l" defTabSz="914400" rtl="0" eaLnBrk="1" latinLnBrk="0" hangingPunct="1">
              <a:lnSpc>
                <a:spcPct val="130000"/>
              </a:lnSpc>
              <a:spcBef>
                <a:spcPts val="1000"/>
              </a:spcBef>
              <a:buFont typeface="Arial" panose="020B0604020202020204" pitchFamily="34" charset="0"/>
              <a:buNone/>
              <a:defRPr lang="en-US" sz="2400"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056219-D498-410D-8F2C-03045AE48016}"/>
              </a:ext>
            </a:extLst>
          </p:cNvPr>
          <p:cNvSpPr>
            <a:spLocks noGrp="1"/>
          </p:cNvSpPr>
          <p:nvPr>
            <p:ph sz="quarter" idx="4"/>
          </p:nvPr>
        </p:nvSpPr>
        <p:spPr>
          <a:xfrm>
            <a:off x="5795090" y="2900451"/>
            <a:ext cx="4485730" cy="3028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8DC9AD-F6B8-44D0-8169-84553C1F92C9}"/>
              </a:ext>
            </a:extLst>
          </p:cNvPr>
          <p:cNvSpPr>
            <a:spLocks noGrp="1"/>
          </p:cNvSpPr>
          <p:nvPr>
            <p:ph type="dt" sz="half" idx="10"/>
          </p:nvPr>
        </p:nvSpPr>
        <p:spPr/>
        <p:txBody>
          <a:bodyPr/>
          <a:lstStyle/>
          <a:p>
            <a:fld id="{0051F549-537C-41EC-B9CC-5B6A9AC2A6A7}" type="datetime1">
              <a:rPr lang="en-US" smtClean="0"/>
              <a:t>12/26/2025</a:t>
            </a:fld>
            <a:endParaRPr lang="en-US"/>
          </a:p>
        </p:txBody>
      </p:sp>
      <p:sp>
        <p:nvSpPr>
          <p:cNvPr id="8" name="Footer Placeholder 7">
            <a:extLst>
              <a:ext uri="{FF2B5EF4-FFF2-40B4-BE49-F238E27FC236}">
                <a16:creationId xmlns:a16="http://schemas.microsoft.com/office/drawing/2014/main" id="{FF9985ED-7382-4F00-845D-4F27841B5D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A2CC25-9EC7-4706-9BD4-5E20C4B33200}"/>
              </a:ext>
            </a:extLst>
          </p:cNvPr>
          <p:cNvSpPr>
            <a:spLocks noGrp="1"/>
          </p:cNvSpPr>
          <p:nvPr>
            <p:ph type="sldNum" sz="quarter" idx="12"/>
          </p:nvPr>
        </p:nvSpPr>
        <p:spPr/>
        <p:txBody>
          <a:bodyPr/>
          <a:lstStyle/>
          <a:p>
            <a:fld id="{6586042B-6341-4E38-A80C-926D3BB8AAC9}" type="slidenum">
              <a:rPr lang="en-US" smtClean="0"/>
              <a:t>‹#›</a:t>
            </a:fld>
            <a:endParaRPr lang="en-US"/>
          </a:p>
        </p:txBody>
      </p:sp>
      <p:cxnSp>
        <p:nvCxnSpPr>
          <p:cNvPr id="12" name="Straight Connector 11">
            <a:extLst>
              <a:ext uri="{FF2B5EF4-FFF2-40B4-BE49-F238E27FC236}">
                <a16:creationId xmlns:a16="http://schemas.microsoft.com/office/drawing/2014/main" id="{4DBC7D26-1B30-46B8-8221-09886FA3D030}"/>
              </a:ext>
            </a:extLst>
          </p:cNvPr>
          <p:cNvCxnSpPr>
            <a:cxnSpLocks/>
          </p:cNvCxnSpPr>
          <p:nvPr/>
        </p:nvCxnSpPr>
        <p:spPr>
          <a:xfrm>
            <a:off x="375523" y="2004012"/>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4186A75-E140-4995-A8BB-89B5ACE678D2}"/>
              </a:ext>
            </a:extLst>
          </p:cNvPr>
          <p:cNvCxnSpPr>
            <a:cxnSpLocks/>
          </p:cNvCxnSpPr>
          <p:nvPr/>
        </p:nvCxnSpPr>
        <p:spPr>
          <a:xfrm>
            <a:off x="5563342" y="2004012"/>
            <a:ext cx="0" cy="40486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571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221C2-B85F-435F-8DF3-C714A5472B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99FE38-24D5-4D5F-A92E-E4F8B23FB7FC}"/>
              </a:ext>
            </a:extLst>
          </p:cNvPr>
          <p:cNvSpPr>
            <a:spLocks noGrp="1"/>
          </p:cNvSpPr>
          <p:nvPr>
            <p:ph type="dt" sz="half" idx="10"/>
          </p:nvPr>
        </p:nvSpPr>
        <p:spPr/>
        <p:txBody>
          <a:bodyPr/>
          <a:lstStyle/>
          <a:p>
            <a:fld id="{952F8D56-3D0E-48B8-8218-1F3A06A96C62}" type="datetime1">
              <a:rPr lang="en-US" smtClean="0"/>
              <a:t>12/26/2025</a:t>
            </a:fld>
            <a:endParaRPr lang="en-US"/>
          </a:p>
        </p:txBody>
      </p:sp>
      <p:sp>
        <p:nvSpPr>
          <p:cNvPr id="4" name="Footer Placeholder 3">
            <a:extLst>
              <a:ext uri="{FF2B5EF4-FFF2-40B4-BE49-F238E27FC236}">
                <a16:creationId xmlns:a16="http://schemas.microsoft.com/office/drawing/2014/main" id="{E629DF69-BE29-4038-9744-17BFC57B88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B9496F-64EC-46E7-97F0-BCB7E79F820A}"/>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3772144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9F19E0-8FE3-45E8-A227-D74EEF1A6322}"/>
              </a:ext>
            </a:extLst>
          </p:cNvPr>
          <p:cNvSpPr>
            <a:spLocks noGrp="1"/>
          </p:cNvSpPr>
          <p:nvPr>
            <p:ph type="dt" sz="half" idx="10"/>
          </p:nvPr>
        </p:nvSpPr>
        <p:spPr/>
        <p:txBody>
          <a:bodyPr/>
          <a:lstStyle/>
          <a:p>
            <a:fld id="{E8EC309E-27D4-401F-A74A-DEA16C7B51DC}" type="datetime1">
              <a:rPr lang="en-US" smtClean="0"/>
              <a:t>12/26/2025</a:t>
            </a:fld>
            <a:endParaRPr lang="en-US"/>
          </a:p>
        </p:txBody>
      </p:sp>
      <p:sp>
        <p:nvSpPr>
          <p:cNvPr id="3" name="Footer Placeholder 2">
            <a:extLst>
              <a:ext uri="{FF2B5EF4-FFF2-40B4-BE49-F238E27FC236}">
                <a16:creationId xmlns:a16="http://schemas.microsoft.com/office/drawing/2014/main" id="{ABFB1926-56F3-40BC-A03F-62B969419E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FFE2B6-07A4-4AA0-9BCE-204E13DA447E}"/>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562384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6266A-CB24-44C5-B2E8-011420844A17}"/>
              </a:ext>
            </a:extLst>
          </p:cNvPr>
          <p:cNvSpPr>
            <a:spLocks noGrp="1"/>
          </p:cNvSpPr>
          <p:nvPr>
            <p:ph type="title"/>
          </p:nvPr>
        </p:nvSpPr>
        <p:spPr>
          <a:xfrm>
            <a:off x="841248" y="549283"/>
            <a:ext cx="4603963" cy="2572489"/>
          </a:xfrm>
        </p:spPr>
        <p:txBody>
          <a:bodyPr anchor="ctr">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39DBD1-7133-47A5-A771-2CEA18533491}"/>
              </a:ext>
            </a:extLst>
          </p:cNvPr>
          <p:cNvSpPr>
            <a:spLocks noGrp="1"/>
          </p:cNvSpPr>
          <p:nvPr>
            <p:ph idx="1"/>
          </p:nvPr>
        </p:nvSpPr>
        <p:spPr>
          <a:xfrm>
            <a:off x="5870796" y="549283"/>
            <a:ext cx="4455517" cy="5319704"/>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576A729F-B24D-424E-B067-003B0601F259}"/>
              </a:ext>
            </a:extLst>
          </p:cNvPr>
          <p:cNvSpPr>
            <a:spLocks noGrp="1"/>
          </p:cNvSpPr>
          <p:nvPr>
            <p:ph type="body" sz="half" idx="2"/>
          </p:nvPr>
        </p:nvSpPr>
        <p:spPr>
          <a:xfrm>
            <a:off x="841248" y="3296498"/>
            <a:ext cx="4603963" cy="2572489"/>
          </a:xfrm>
        </p:spPr>
        <p:txBody>
          <a:bodyPr>
            <a:normAutofit/>
          </a:bodyPr>
          <a:lstStyle>
            <a:lvl1pPr marL="0" indent="0">
              <a:buNone/>
              <a:defRPr lang="en-US" sz="2000"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A7323-5497-426C-9DD9-3CF69E88EC38}"/>
              </a:ext>
            </a:extLst>
          </p:cNvPr>
          <p:cNvSpPr>
            <a:spLocks noGrp="1"/>
          </p:cNvSpPr>
          <p:nvPr>
            <p:ph type="dt" sz="half" idx="10"/>
          </p:nvPr>
        </p:nvSpPr>
        <p:spPr/>
        <p:txBody>
          <a:bodyPr/>
          <a:lstStyle/>
          <a:p>
            <a:fld id="{6DEA2B81-2BC3-42D7-B67D-05C685AA80AD}" type="datetime1">
              <a:rPr lang="en-US" smtClean="0"/>
              <a:t>12/26/2025</a:t>
            </a:fld>
            <a:endParaRPr lang="en-US"/>
          </a:p>
        </p:txBody>
      </p:sp>
      <p:sp>
        <p:nvSpPr>
          <p:cNvPr id="6" name="Footer Placeholder 5">
            <a:extLst>
              <a:ext uri="{FF2B5EF4-FFF2-40B4-BE49-F238E27FC236}">
                <a16:creationId xmlns:a16="http://schemas.microsoft.com/office/drawing/2014/main" id="{45FD7667-4D25-40AF-9D6D-FCB2C21E8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650918-EDF8-47A5-BEA8-AC9A7A1536DE}"/>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97824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5D2B-FAFB-4BC9-A917-610FDCD0B859}"/>
              </a:ext>
            </a:extLst>
          </p:cNvPr>
          <p:cNvSpPr>
            <a:spLocks noGrp="1"/>
          </p:cNvSpPr>
          <p:nvPr>
            <p:ph type="title"/>
          </p:nvPr>
        </p:nvSpPr>
        <p:spPr>
          <a:xfrm>
            <a:off x="841249" y="552782"/>
            <a:ext cx="4608576" cy="2569464"/>
          </a:xfrm>
        </p:spPr>
        <p:txBody>
          <a:bodyPr anchor="ctr">
            <a:noAutofit/>
          </a:bodyPr>
          <a:lstStyle>
            <a:lvl1pPr algn="l" defTabSz="914400" rtl="0" eaLnBrk="1" latinLnBrk="0" hangingPunct="1">
              <a:lnSpc>
                <a:spcPct val="90000"/>
              </a:lnSpc>
              <a:spcBef>
                <a:spcPct val="0"/>
              </a:spcBef>
              <a:buNone/>
              <a:defRPr lang="en-US" sz="4400" kern="1200" dirty="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226A694-5302-42BE-8A7A-6007C10F8F70}"/>
              </a:ext>
            </a:extLst>
          </p:cNvPr>
          <p:cNvSpPr>
            <a:spLocks noGrp="1"/>
          </p:cNvSpPr>
          <p:nvPr>
            <p:ph type="pic" idx="1"/>
          </p:nvPr>
        </p:nvSpPr>
        <p:spPr>
          <a:xfrm>
            <a:off x="5825952" y="552783"/>
            <a:ext cx="4663440" cy="530826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8E4481C-81D6-4329-8203-70B3FCC3F8FE}"/>
              </a:ext>
            </a:extLst>
          </p:cNvPr>
          <p:cNvSpPr>
            <a:spLocks noGrp="1"/>
          </p:cNvSpPr>
          <p:nvPr>
            <p:ph type="body" sz="half" idx="2"/>
          </p:nvPr>
        </p:nvSpPr>
        <p:spPr>
          <a:xfrm>
            <a:off x="841249" y="3300984"/>
            <a:ext cx="4608576" cy="2569464"/>
          </a:xfrm>
        </p:spPr>
        <p:txBody>
          <a:bodyPr>
            <a:normAutofit/>
          </a:bodyPr>
          <a:lstStyle>
            <a:lvl1pPr marL="0" indent="0">
              <a:buNone/>
              <a:defRPr lang="en-US" sz="2000"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D6C12-26C4-4DF7-B013-56D0849AC7DE}"/>
              </a:ext>
            </a:extLst>
          </p:cNvPr>
          <p:cNvSpPr>
            <a:spLocks noGrp="1"/>
          </p:cNvSpPr>
          <p:nvPr>
            <p:ph type="dt" sz="half" idx="10"/>
          </p:nvPr>
        </p:nvSpPr>
        <p:spPr/>
        <p:txBody>
          <a:bodyPr/>
          <a:lstStyle/>
          <a:p>
            <a:fld id="{F0DB8F2B-E487-4905-B553-FB649F2B6F23}" type="datetime1">
              <a:rPr lang="en-US" smtClean="0"/>
              <a:t>12/26/2025</a:t>
            </a:fld>
            <a:endParaRPr lang="en-US"/>
          </a:p>
        </p:txBody>
      </p:sp>
      <p:sp>
        <p:nvSpPr>
          <p:cNvPr id="6" name="Footer Placeholder 5">
            <a:extLst>
              <a:ext uri="{FF2B5EF4-FFF2-40B4-BE49-F238E27FC236}">
                <a16:creationId xmlns:a16="http://schemas.microsoft.com/office/drawing/2014/main" id="{5CE2F307-FB97-40EC-8517-E6F351B3DA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C1B397-305A-42B7-A763-829634B939A9}"/>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954310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C3B3-C67F-4C48-A663-EF010429E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4C4B3F-B3CB-4CF0-AEC8-1893A6A27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6D005-2B71-4325-A646-A2278C3A2EAA}"/>
              </a:ext>
            </a:extLst>
          </p:cNvPr>
          <p:cNvSpPr>
            <a:spLocks noGrp="1"/>
          </p:cNvSpPr>
          <p:nvPr>
            <p:ph type="dt" sz="half" idx="10"/>
          </p:nvPr>
        </p:nvSpPr>
        <p:spPr/>
        <p:txBody>
          <a:bodyPr/>
          <a:lstStyle/>
          <a:p>
            <a:fld id="{6A14B861-3779-4E37-8DF0-E9EB3EA96210}" type="datetime1">
              <a:rPr lang="en-US" smtClean="0"/>
              <a:t>12/26/2025</a:t>
            </a:fld>
            <a:endParaRPr lang="en-US"/>
          </a:p>
        </p:txBody>
      </p:sp>
      <p:sp>
        <p:nvSpPr>
          <p:cNvPr id="5" name="Footer Placeholder 4">
            <a:extLst>
              <a:ext uri="{FF2B5EF4-FFF2-40B4-BE49-F238E27FC236}">
                <a16:creationId xmlns:a16="http://schemas.microsoft.com/office/drawing/2014/main" id="{DB356B01-AE16-42EF-B970-5CAF0C891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BF9BE2-24F4-4F83-8E64-4307C9794E17}"/>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378259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01120-856A-4F01-B7C1-D87A1E5F8150}"/>
              </a:ext>
            </a:extLst>
          </p:cNvPr>
          <p:cNvSpPr>
            <a:spLocks noGrp="1"/>
          </p:cNvSpPr>
          <p:nvPr>
            <p:ph type="title" orient="vert"/>
          </p:nvPr>
        </p:nvSpPr>
        <p:spPr>
          <a:xfrm>
            <a:off x="7874324" y="552782"/>
            <a:ext cx="2620891" cy="52947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9D62358-C84C-4947-B826-FF738422EA5B}"/>
              </a:ext>
            </a:extLst>
          </p:cNvPr>
          <p:cNvSpPr>
            <a:spLocks noGrp="1"/>
          </p:cNvSpPr>
          <p:nvPr>
            <p:ph type="body" orient="vert" idx="1"/>
          </p:nvPr>
        </p:nvSpPr>
        <p:spPr>
          <a:xfrm>
            <a:off x="838200" y="552782"/>
            <a:ext cx="6803155" cy="529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71139-AA1A-46DB-B793-17FB8E6E8A77}"/>
              </a:ext>
            </a:extLst>
          </p:cNvPr>
          <p:cNvSpPr>
            <a:spLocks noGrp="1"/>
          </p:cNvSpPr>
          <p:nvPr>
            <p:ph type="dt" sz="half" idx="10"/>
          </p:nvPr>
        </p:nvSpPr>
        <p:spPr/>
        <p:txBody>
          <a:bodyPr/>
          <a:lstStyle/>
          <a:p>
            <a:fld id="{53E38388-E864-4553-9937-AE9FC5E50CFC}" type="datetime1">
              <a:rPr lang="en-US" smtClean="0"/>
              <a:t>12/26/2025</a:t>
            </a:fld>
            <a:endParaRPr lang="en-US"/>
          </a:p>
        </p:txBody>
      </p:sp>
      <p:sp>
        <p:nvSpPr>
          <p:cNvPr id="5" name="Footer Placeholder 4">
            <a:extLst>
              <a:ext uri="{FF2B5EF4-FFF2-40B4-BE49-F238E27FC236}">
                <a16:creationId xmlns:a16="http://schemas.microsoft.com/office/drawing/2014/main" id="{1B2E06F6-0FE2-40FB-BFEE-010C22293D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A7B1B-13A1-41BA-B924-FD11450C14E7}"/>
              </a:ext>
            </a:extLst>
          </p:cNvPr>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21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4BD48A-4D17-4225-AC4D-67B4C686C55D}"/>
              </a:ext>
            </a:extLst>
          </p:cNvPr>
          <p:cNvSpPr>
            <a:spLocks noGrp="1"/>
          </p:cNvSpPr>
          <p:nvPr>
            <p:ph type="title"/>
          </p:nvPr>
        </p:nvSpPr>
        <p:spPr>
          <a:xfrm>
            <a:off x="841248" y="552782"/>
            <a:ext cx="9489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7F14A2B-77AF-4E51-B0C1-0D361EF81A2C}"/>
              </a:ext>
            </a:extLst>
          </p:cNvPr>
          <p:cNvSpPr>
            <a:spLocks noGrp="1"/>
          </p:cNvSpPr>
          <p:nvPr>
            <p:ph type="body" idx="1"/>
          </p:nvPr>
        </p:nvSpPr>
        <p:spPr>
          <a:xfrm>
            <a:off x="841248" y="2096199"/>
            <a:ext cx="9489000" cy="3747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239C2F5-57CA-4152-A766-8F877538FB16}"/>
              </a:ext>
            </a:extLst>
          </p:cNvPr>
          <p:cNvSpPr>
            <a:spLocks noGrp="1"/>
          </p:cNvSpPr>
          <p:nvPr>
            <p:ph type="dt" sz="half" idx="2"/>
          </p:nvPr>
        </p:nvSpPr>
        <p:spPr>
          <a:xfrm>
            <a:off x="841248" y="6102693"/>
            <a:ext cx="2743200" cy="365125"/>
          </a:xfrm>
          <a:prstGeom prst="rect">
            <a:avLst/>
          </a:prstGeom>
        </p:spPr>
        <p:txBody>
          <a:bodyPr vert="horz" lIns="91440" tIns="45720" rIns="91440" bIns="45720" rtlCol="0" anchor="ctr"/>
          <a:lstStyle>
            <a:lvl1pPr algn="l">
              <a:defRPr lang="en-US" sz="1000" b="1" kern="1200" cap="all" spc="300" baseline="0" smtClean="0">
                <a:solidFill>
                  <a:schemeClr val="tx1"/>
                </a:solidFill>
                <a:latin typeface="+mn-lt"/>
                <a:ea typeface="+mn-ea"/>
                <a:cs typeface="+mn-cs"/>
              </a:defRPr>
            </a:lvl1pPr>
          </a:lstStyle>
          <a:p>
            <a:fld id="{6EF7C3A7-D6F6-4D38-A7C3-B72967BB81A6}" type="datetime1">
              <a:rPr lang="en-US" smtClean="0"/>
              <a:t>12/26/2025</a:t>
            </a:fld>
            <a:endParaRPr lang="en-US"/>
          </a:p>
        </p:txBody>
      </p:sp>
      <p:sp>
        <p:nvSpPr>
          <p:cNvPr id="5" name="Footer Placeholder 4">
            <a:extLst>
              <a:ext uri="{FF2B5EF4-FFF2-40B4-BE49-F238E27FC236}">
                <a16:creationId xmlns:a16="http://schemas.microsoft.com/office/drawing/2014/main" id="{A1225FB5-D02B-4BB9-8B8B-D1A11CFE8961}"/>
              </a:ext>
            </a:extLst>
          </p:cNvPr>
          <p:cNvSpPr>
            <a:spLocks noGrp="1"/>
          </p:cNvSpPr>
          <p:nvPr>
            <p:ph type="ftr" sz="quarter" idx="3"/>
          </p:nvPr>
        </p:nvSpPr>
        <p:spPr>
          <a:xfrm rot="5400000">
            <a:off x="9234260" y="2427620"/>
            <a:ext cx="4114800" cy="365125"/>
          </a:xfrm>
          <a:prstGeom prst="rect">
            <a:avLst/>
          </a:prstGeom>
        </p:spPr>
        <p:txBody>
          <a:bodyPr vert="horz" lIns="91440" tIns="45720" rIns="91440" bIns="45720" rtlCol="0" anchor="ctr"/>
          <a:lstStyle>
            <a:lvl1pPr algn="l">
              <a:defRPr lang="en-US" sz="1000" b="1" kern="1200" cap="all" spc="300" baseline="0">
                <a:solidFill>
                  <a:schemeClr val="tx1"/>
                </a:solidFill>
                <a:latin typeface="+mn-lt"/>
                <a:ea typeface="+mn-ea"/>
                <a:cs typeface="+mn-cs"/>
              </a:defRPr>
            </a:lvl1pPr>
          </a:lstStyle>
          <a:p>
            <a:endParaRPr lang="en-US"/>
          </a:p>
        </p:txBody>
      </p:sp>
      <p:sp>
        <p:nvSpPr>
          <p:cNvPr id="6" name="Slide Number Placeholder 5">
            <a:extLst>
              <a:ext uri="{FF2B5EF4-FFF2-40B4-BE49-F238E27FC236}">
                <a16:creationId xmlns:a16="http://schemas.microsoft.com/office/drawing/2014/main" id="{EF6244FF-6F88-4090-A77F-499DF9AAEA8B}"/>
              </a:ext>
            </a:extLst>
          </p:cNvPr>
          <p:cNvSpPr>
            <a:spLocks noGrp="1"/>
          </p:cNvSpPr>
          <p:nvPr>
            <p:ph type="sldNum" sz="quarter" idx="4"/>
          </p:nvPr>
        </p:nvSpPr>
        <p:spPr>
          <a:xfrm>
            <a:off x="10815546" y="5878515"/>
            <a:ext cx="952229" cy="420381"/>
          </a:xfrm>
          <a:prstGeom prst="rect">
            <a:avLst/>
          </a:prstGeom>
        </p:spPr>
        <p:txBody>
          <a:bodyPr vert="horz" lIns="91440" tIns="45720" rIns="91440" bIns="45720" rtlCol="0" anchor="ctr"/>
          <a:lstStyle>
            <a:lvl1pPr algn="ctr">
              <a:defRPr lang="en-US" sz="3200" b="1" kern="1200" cap="all" spc="300" baseline="0" smtClean="0">
                <a:solidFill>
                  <a:schemeClr val="tx1"/>
                </a:solidFill>
                <a:latin typeface="+mn-lt"/>
                <a:ea typeface="+mn-ea"/>
                <a:cs typeface="+mn-cs"/>
              </a:defRPr>
            </a:lvl1pPr>
          </a:lstStyle>
          <a:p>
            <a:fld id="{6586042B-6341-4E38-A80C-926D3BB8AAC9}" type="slidenum">
              <a:rPr lang="en-US" smtClean="0"/>
              <a:t>‹#›</a:t>
            </a:fld>
            <a:endParaRPr lang="en-US"/>
          </a:p>
        </p:txBody>
      </p:sp>
      <p:sp>
        <p:nvSpPr>
          <p:cNvPr id="7" name="Rectangle 6">
            <a:extLst>
              <a:ext uri="{FF2B5EF4-FFF2-40B4-BE49-F238E27FC236}">
                <a16:creationId xmlns:a16="http://schemas.microsoft.com/office/drawing/2014/main" id="{F194AEDE-F25F-43E6-A2C4-7FFF41074990}"/>
              </a:ext>
            </a:extLst>
          </p:cNvPr>
          <p:cNvSpPr/>
          <p:nvPr/>
        </p:nvSpPr>
        <p:spPr>
          <a:xfrm>
            <a:off x="367744" y="334928"/>
            <a:ext cx="11456511" cy="61881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C793C08-EF4C-422B-A728-6C717C47DF6F}"/>
              </a:ext>
            </a:extLst>
          </p:cNvPr>
          <p:cNvCxnSpPr>
            <a:cxnSpLocks/>
          </p:cNvCxnSpPr>
          <p:nvPr/>
        </p:nvCxnSpPr>
        <p:spPr>
          <a:xfrm>
            <a:off x="10748698" y="334928"/>
            <a:ext cx="0" cy="61881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E825BC6-56A8-46DE-8037-A9A577624B0D}"/>
              </a:ext>
            </a:extLst>
          </p:cNvPr>
          <p:cNvCxnSpPr>
            <a:cxnSpLocks/>
          </p:cNvCxnSpPr>
          <p:nvPr/>
        </p:nvCxnSpPr>
        <p:spPr>
          <a:xfrm>
            <a:off x="373060" y="6047437"/>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76713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130000"/>
        </a:lnSpc>
        <a:spcBef>
          <a:spcPts val="500"/>
        </a:spcBef>
        <a:buFont typeface="Arial" panose="020B0604020202020204" pitchFamily="34" charset="0"/>
        <a:buChar char="•"/>
        <a:defRPr sz="1600" kern="1200">
          <a:solidFill>
            <a:schemeClr val="tx1"/>
          </a:solidFill>
          <a:latin typeface="+mn-lt"/>
          <a:ea typeface="+mn-ea"/>
          <a:cs typeface="+mn-cs"/>
        </a:defRPr>
      </a:lvl3pPr>
      <a:lvl4pPr marL="13716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1828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experimental-probabilit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events-in-probabilit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event-and-its-typ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Black">
            <a:extLst>
              <a:ext uri="{FF2B5EF4-FFF2-40B4-BE49-F238E27FC236}">
                <a16:creationId xmlns:a16="http://schemas.microsoft.com/office/drawing/2014/main" id="{E99D7AAF-4170-4D21-AB6C-605F6F100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igital balance scale using circles">
            <a:extLst>
              <a:ext uri="{FF2B5EF4-FFF2-40B4-BE49-F238E27FC236}">
                <a16:creationId xmlns:a16="http://schemas.microsoft.com/office/drawing/2014/main" id="{BD9CEB7A-B26E-F376-44B4-3EF172ABE8D5}"/>
              </a:ext>
            </a:extLst>
          </p:cNvPr>
          <p:cNvPicPr>
            <a:picLocks noChangeAspect="1"/>
          </p:cNvPicPr>
          <p:nvPr/>
        </p:nvPicPr>
        <p:blipFill rotWithShape="1">
          <a:blip r:embed="rId2">
            <a:alphaModFix amt="40000"/>
          </a:blip>
          <a:srcRect r="-1" b="7001"/>
          <a:stretch/>
        </p:blipFill>
        <p:spPr>
          <a:xfrm>
            <a:off x="20" y="10"/>
            <a:ext cx="12188932" cy="6857990"/>
          </a:xfrm>
          <a:prstGeom prst="rect">
            <a:avLst/>
          </a:prstGeom>
        </p:spPr>
      </p:pic>
      <p:sp>
        <p:nvSpPr>
          <p:cNvPr id="13" name="Main Frame">
            <a:extLst>
              <a:ext uri="{FF2B5EF4-FFF2-40B4-BE49-F238E27FC236}">
                <a16:creationId xmlns:a16="http://schemas.microsoft.com/office/drawing/2014/main" id="{9502469D-C562-48E3-ABA2-3CFA55C52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744" y="334928"/>
            <a:ext cx="11456511" cy="6188146"/>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B68CA0-B0B6-A910-3E92-CC6B96DD8063}"/>
              </a:ext>
            </a:extLst>
          </p:cNvPr>
          <p:cNvSpPr>
            <a:spLocks noGrp="1"/>
          </p:cNvSpPr>
          <p:nvPr>
            <p:ph type="ctrTitle"/>
          </p:nvPr>
        </p:nvSpPr>
        <p:spPr>
          <a:xfrm>
            <a:off x="841248" y="2181123"/>
            <a:ext cx="9456049" cy="3594112"/>
          </a:xfrm>
        </p:spPr>
        <p:txBody>
          <a:bodyPr anchor="b">
            <a:normAutofit/>
          </a:bodyPr>
          <a:lstStyle/>
          <a:p>
            <a:r>
              <a:rPr lang="en-US" sz="3200" dirty="0">
                <a:solidFill>
                  <a:srgbClr val="FFFFFF"/>
                </a:solidFill>
              </a:rPr>
              <a:t>Dr. Rakhee Chhibber</a:t>
            </a:r>
          </a:p>
        </p:txBody>
      </p:sp>
      <p:sp>
        <p:nvSpPr>
          <p:cNvPr id="3" name="Subtitle 2">
            <a:extLst>
              <a:ext uri="{FF2B5EF4-FFF2-40B4-BE49-F238E27FC236}">
                <a16:creationId xmlns:a16="http://schemas.microsoft.com/office/drawing/2014/main" id="{FEB17357-BFE0-7A64-A54C-CF080560AC3C}"/>
              </a:ext>
            </a:extLst>
          </p:cNvPr>
          <p:cNvSpPr>
            <a:spLocks noGrp="1"/>
          </p:cNvSpPr>
          <p:nvPr>
            <p:ph type="subTitle" idx="1"/>
          </p:nvPr>
        </p:nvSpPr>
        <p:spPr>
          <a:xfrm>
            <a:off x="841248" y="663960"/>
            <a:ext cx="9456049" cy="1027113"/>
          </a:xfrm>
        </p:spPr>
        <p:txBody>
          <a:bodyPr anchor="t">
            <a:noAutofit/>
          </a:bodyPr>
          <a:lstStyle/>
          <a:p>
            <a:r>
              <a:rPr lang="en-US" sz="5400" dirty="0">
                <a:solidFill>
                  <a:srgbClr val="FFFFFF"/>
                </a:solidFill>
                <a:latin typeface="+mj-lt"/>
                <a:ea typeface="+mj-ea"/>
                <a:cs typeface="+mj-cs"/>
              </a:rPr>
              <a:t>Probability</a:t>
            </a:r>
          </a:p>
        </p:txBody>
      </p:sp>
      <p:cxnSp>
        <p:nvCxnSpPr>
          <p:cNvPr id="15" name="Main Horizontal Connector">
            <a:extLst>
              <a:ext uri="{FF2B5EF4-FFF2-40B4-BE49-F238E27FC236}">
                <a16:creationId xmlns:a16="http://schemas.microsoft.com/office/drawing/2014/main" id="{4D594499-F983-4364-8ABC-5BCDC2E906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060" y="6047437"/>
            <a:ext cx="10375638"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Main Vertical Connector">
            <a:extLst>
              <a:ext uri="{FF2B5EF4-FFF2-40B4-BE49-F238E27FC236}">
                <a16:creationId xmlns:a16="http://schemas.microsoft.com/office/drawing/2014/main" id="{6D4C177C-581F-4CC8-A686-0B6D25DC6A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48698" y="334928"/>
            <a:ext cx="0" cy="6188146"/>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34320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E83B7-E97D-779A-F162-4514BA5202A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5718836-2219-7B6B-F3C3-39D5AE9AC27A}"/>
              </a:ext>
            </a:extLst>
          </p:cNvPr>
          <p:cNvSpPr>
            <a:spLocks noGrp="1"/>
          </p:cNvSpPr>
          <p:nvPr>
            <p:ph idx="1"/>
          </p:nvPr>
        </p:nvSpPr>
        <p:spPr/>
        <p:txBody>
          <a:bodyPr>
            <a:normAutofit/>
          </a:bodyPr>
          <a:lstStyle/>
          <a:p>
            <a:r>
              <a:rPr lang="en-US" sz="2400" b="0" i="0" dirty="0">
                <a:solidFill>
                  <a:srgbClr val="444444"/>
                </a:solidFill>
                <a:effectLst/>
                <a:highlight>
                  <a:srgbClr val="FFFFFF"/>
                </a:highlight>
                <a:latin typeface="Poppins" panose="020B0502040204020203" pitchFamily="2" charset="0"/>
              </a:rPr>
              <a:t>Probability is a measure of the likelihood of an event to occur. Many events </a:t>
            </a:r>
            <a:r>
              <a:rPr lang="en-US" sz="2400" b="0" i="0" dirty="0" err="1">
                <a:solidFill>
                  <a:srgbClr val="444444"/>
                </a:solidFill>
                <a:effectLst/>
                <a:highlight>
                  <a:srgbClr val="FFFFFF"/>
                </a:highlight>
                <a:latin typeface="Poppins" panose="020B0502040204020203" pitchFamily="2" charset="0"/>
              </a:rPr>
              <a:t>canno</a:t>
            </a:r>
            <a:endParaRPr lang="en-US" sz="2400" b="0" i="0" dirty="0">
              <a:solidFill>
                <a:srgbClr val="444444"/>
              </a:solidFill>
              <a:effectLst/>
              <a:highlight>
                <a:srgbClr val="FFFFFF"/>
              </a:highlight>
              <a:latin typeface="Poppins" panose="020B0502040204020203" pitchFamily="2" charset="0"/>
            </a:endParaRPr>
          </a:p>
          <a:p>
            <a:r>
              <a:rPr lang="en-US" sz="2400" b="1" i="0" dirty="0">
                <a:solidFill>
                  <a:srgbClr val="444444"/>
                </a:solidFill>
                <a:effectLst/>
                <a:highlight>
                  <a:srgbClr val="FFFFFF"/>
                </a:highlight>
                <a:latin typeface="Poppins" panose="00000500000000000000" pitchFamily="2" charset="0"/>
              </a:rPr>
              <a:t>For example</a:t>
            </a:r>
            <a:r>
              <a:rPr lang="en-US" sz="2400" b="0" i="0" dirty="0">
                <a:solidFill>
                  <a:srgbClr val="444444"/>
                </a:solidFill>
                <a:effectLst/>
                <a:highlight>
                  <a:srgbClr val="FFFFFF"/>
                </a:highlight>
                <a:latin typeface="Poppins" panose="00000500000000000000" pitchFamily="2" charset="0"/>
              </a:rPr>
              <a:t>, when we toss a coin, either we get Head OR Tail, only two possible outcomes are possible (H, T). But when two coins are tossed then there will be four possible outcomes,  </a:t>
            </a:r>
          </a:p>
          <a:p>
            <a:r>
              <a:rPr lang="en-US" sz="2400" b="0" i="0" dirty="0" err="1">
                <a:solidFill>
                  <a:srgbClr val="444444"/>
                </a:solidFill>
                <a:effectLst/>
                <a:highlight>
                  <a:srgbClr val="FFFFFF"/>
                </a:highlight>
                <a:latin typeface="Poppins" panose="00000500000000000000" pitchFamily="2" charset="0"/>
              </a:rPr>
              <a:t>i.e</a:t>
            </a:r>
            <a:r>
              <a:rPr lang="en-US" sz="2400" b="0" i="0" dirty="0">
                <a:solidFill>
                  <a:srgbClr val="444444"/>
                </a:solidFill>
                <a:effectLst/>
                <a:highlight>
                  <a:srgbClr val="FFFFFF"/>
                </a:highlight>
                <a:latin typeface="Poppins" panose="00000500000000000000" pitchFamily="2" charset="0"/>
              </a:rPr>
              <a:t> {(H, H), (H, T), (T, H), (T, T)}</a:t>
            </a:r>
            <a:r>
              <a:rPr lang="en-US" sz="2400" b="0" i="0" dirty="0">
                <a:solidFill>
                  <a:srgbClr val="444444"/>
                </a:solidFill>
                <a:effectLst/>
                <a:highlight>
                  <a:srgbClr val="FFFFFF"/>
                </a:highlight>
                <a:latin typeface="Poppins" panose="020B0502040204020203" pitchFamily="2" charset="0"/>
              </a:rPr>
              <a:t> </a:t>
            </a:r>
            <a:endParaRPr lang="en-US" sz="2400" dirty="0"/>
          </a:p>
        </p:txBody>
      </p:sp>
    </p:spTree>
    <p:extLst>
      <p:ext uri="{BB962C8B-B14F-4D97-AF65-F5344CB8AC3E}">
        <p14:creationId xmlns:p14="http://schemas.microsoft.com/office/powerpoint/2010/main" val="94579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A3895-2258-4C45-7010-2AED5254CE65}"/>
              </a:ext>
            </a:extLst>
          </p:cNvPr>
          <p:cNvSpPr>
            <a:spLocks noGrp="1"/>
          </p:cNvSpPr>
          <p:nvPr>
            <p:ph type="title"/>
          </p:nvPr>
        </p:nvSpPr>
        <p:spPr/>
        <p:txBody>
          <a:bodyPr/>
          <a:lstStyle/>
          <a:p>
            <a:r>
              <a:rPr lang="en-US" b="1" i="0" dirty="0">
                <a:solidFill>
                  <a:srgbClr val="444444"/>
                </a:solidFill>
                <a:effectLst/>
                <a:highlight>
                  <a:srgbClr val="FFFFFF"/>
                </a:highlight>
                <a:latin typeface="Poppins" panose="00000500000000000000" pitchFamily="2" charset="0"/>
              </a:rPr>
              <a:t>Formula for Probability</a:t>
            </a:r>
            <a:endParaRPr lang="en-US" dirty="0"/>
          </a:p>
        </p:txBody>
      </p:sp>
      <p:sp>
        <p:nvSpPr>
          <p:cNvPr id="3" name="Content Placeholder 2">
            <a:extLst>
              <a:ext uri="{FF2B5EF4-FFF2-40B4-BE49-F238E27FC236}">
                <a16:creationId xmlns:a16="http://schemas.microsoft.com/office/drawing/2014/main" id="{2952FDD2-E61E-EFE2-0D85-16D5A97D7404}"/>
              </a:ext>
            </a:extLst>
          </p:cNvPr>
          <p:cNvSpPr>
            <a:spLocks noGrp="1"/>
          </p:cNvSpPr>
          <p:nvPr>
            <p:ph idx="1"/>
          </p:nvPr>
        </p:nvSpPr>
        <p:spPr>
          <a:xfrm>
            <a:off x="841248" y="2096199"/>
            <a:ext cx="9489000" cy="1430772"/>
          </a:xfrm>
        </p:spPr>
        <p:txBody>
          <a:bodyPr/>
          <a:lstStyle/>
          <a:p>
            <a:r>
              <a:rPr lang="en-US" b="0" i="0" dirty="0">
                <a:solidFill>
                  <a:srgbClr val="444444"/>
                </a:solidFill>
                <a:effectLst/>
                <a:highlight>
                  <a:srgbClr val="FFFFFF"/>
                </a:highlight>
                <a:latin typeface="Poppins" panose="00000500000000000000" pitchFamily="2" charset="0"/>
              </a:rPr>
              <a:t>The probability formula is defined as the possibility of an event to happen is equal to the ratio of the number of </a:t>
            </a:r>
            <a:r>
              <a:rPr lang="en-US" b="0" i="0" dirty="0" err="1">
                <a:solidFill>
                  <a:srgbClr val="444444"/>
                </a:solidFill>
                <a:effectLst/>
                <a:highlight>
                  <a:srgbClr val="FFFFFF"/>
                </a:highlight>
                <a:latin typeface="Poppins" panose="00000500000000000000" pitchFamily="2" charset="0"/>
              </a:rPr>
              <a:t>favourable</a:t>
            </a:r>
            <a:r>
              <a:rPr lang="en-US" b="0" i="0" dirty="0">
                <a:solidFill>
                  <a:srgbClr val="444444"/>
                </a:solidFill>
                <a:effectLst/>
                <a:highlight>
                  <a:srgbClr val="FFFFFF"/>
                </a:highlight>
                <a:latin typeface="Poppins" panose="00000500000000000000" pitchFamily="2" charset="0"/>
              </a:rPr>
              <a:t> outcomes and the total number of outcomes.</a:t>
            </a:r>
            <a:endParaRPr lang="en-US" dirty="0"/>
          </a:p>
        </p:txBody>
      </p:sp>
      <p:pic>
        <p:nvPicPr>
          <p:cNvPr id="5" name="Picture 4">
            <a:extLst>
              <a:ext uri="{FF2B5EF4-FFF2-40B4-BE49-F238E27FC236}">
                <a16:creationId xmlns:a16="http://schemas.microsoft.com/office/drawing/2014/main" id="{D0AA1F1E-0939-C2CC-8EA5-9B7228CD3D30}"/>
              </a:ext>
            </a:extLst>
          </p:cNvPr>
          <p:cNvPicPr>
            <a:picLocks noChangeAspect="1"/>
          </p:cNvPicPr>
          <p:nvPr/>
        </p:nvPicPr>
        <p:blipFill>
          <a:blip r:embed="rId2"/>
          <a:stretch>
            <a:fillRect/>
          </a:stretch>
        </p:blipFill>
        <p:spPr>
          <a:xfrm>
            <a:off x="1112391" y="4036549"/>
            <a:ext cx="9640645" cy="943107"/>
          </a:xfrm>
          <a:prstGeom prst="rect">
            <a:avLst/>
          </a:prstGeom>
        </p:spPr>
      </p:pic>
    </p:spTree>
    <p:extLst>
      <p:ext uri="{BB962C8B-B14F-4D97-AF65-F5344CB8AC3E}">
        <p14:creationId xmlns:p14="http://schemas.microsoft.com/office/powerpoint/2010/main" val="2356667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CE73-2A4D-D46C-AE70-03BB7237CCA0}"/>
              </a:ext>
            </a:extLst>
          </p:cNvPr>
          <p:cNvSpPr>
            <a:spLocks noGrp="1"/>
          </p:cNvSpPr>
          <p:nvPr>
            <p:ph type="title"/>
          </p:nvPr>
        </p:nvSpPr>
        <p:spPr/>
        <p:txBody>
          <a:bodyPr/>
          <a:lstStyle/>
          <a:p>
            <a:r>
              <a:rPr lang="en-US" dirty="0"/>
              <a:t>Question 1 </a:t>
            </a:r>
          </a:p>
        </p:txBody>
      </p:sp>
      <p:sp>
        <p:nvSpPr>
          <p:cNvPr id="3" name="Content Placeholder 2">
            <a:extLst>
              <a:ext uri="{FF2B5EF4-FFF2-40B4-BE49-F238E27FC236}">
                <a16:creationId xmlns:a16="http://schemas.microsoft.com/office/drawing/2014/main" id="{1FFC6BE1-30AC-67D7-C237-00A89E538870}"/>
              </a:ext>
            </a:extLst>
          </p:cNvPr>
          <p:cNvSpPr>
            <a:spLocks noGrp="1"/>
          </p:cNvSpPr>
          <p:nvPr>
            <p:ph idx="1"/>
          </p:nvPr>
        </p:nvSpPr>
        <p:spPr>
          <a:xfrm>
            <a:off x="841248" y="2096199"/>
            <a:ext cx="9489000" cy="875601"/>
          </a:xfrm>
        </p:spPr>
        <p:txBody>
          <a:bodyPr>
            <a:noAutofit/>
          </a:bodyPr>
          <a:lstStyle/>
          <a:p>
            <a:pPr marL="0" indent="0">
              <a:buNone/>
            </a:pPr>
            <a:r>
              <a:rPr lang="en-US" sz="3000" b="1" i="0" dirty="0">
                <a:solidFill>
                  <a:srgbClr val="444444"/>
                </a:solidFill>
                <a:effectLst/>
                <a:highlight>
                  <a:srgbClr val="FFFFFF"/>
                </a:highlight>
                <a:latin typeface="Poppins" panose="00000500000000000000" pitchFamily="2" charset="0"/>
              </a:rPr>
              <a:t>1) There are 6 pillows in a bed, 3 are red, 2 are yellow and 1 is blue. What is the probability of picking a yellow pillow?</a:t>
            </a:r>
          </a:p>
          <a:p>
            <a:pPr marL="0" indent="0">
              <a:buNone/>
            </a:pPr>
            <a:endParaRPr lang="en-US" sz="3000" dirty="0"/>
          </a:p>
        </p:txBody>
      </p:sp>
      <p:sp>
        <p:nvSpPr>
          <p:cNvPr id="5" name="TextBox 4">
            <a:extLst>
              <a:ext uri="{FF2B5EF4-FFF2-40B4-BE49-F238E27FC236}">
                <a16:creationId xmlns:a16="http://schemas.microsoft.com/office/drawing/2014/main" id="{B424CA73-B57D-AD9A-E379-E033F53F454A}"/>
              </a:ext>
            </a:extLst>
          </p:cNvPr>
          <p:cNvSpPr txBox="1"/>
          <p:nvPr/>
        </p:nvSpPr>
        <p:spPr>
          <a:xfrm>
            <a:off x="841248" y="4441375"/>
            <a:ext cx="9652581" cy="830997"/>
          </a:xfrm>
          <a:prstGeom prst="rect">
            <a:avLst/>
          </a:prstGeom>
          <a:noFill/>
        </p:spPr>
        <p:txBody>
          <a:bodyPr wrap="square">
            <a:spAutoFit/>
          </a:bodyPr>
          <a:lstStyle/>
          <a:p>
            <a:r>
              <a:rPr lang="en-US" sz="2400" b="0" i="0" dirty="0">
                <a:solidFill>
                  <a:srgbClr val="444444"/>
                </a:solidFill>
                <a:effectLst/>
                <a:highlight>
                  <a:srgbClr val="FFFFFF"/>
                </a:highlight>
                <a:latin typeface="Poppins" panose="00000500000000000000" pitchFamily="2" charset="0"/>
              </a:rPr>
              <a:t>Ans: The probability is equal to the number of yellow pillows in the bed divided by the total number of pillows, i.e. 2/6 = 1/3.</a:t>
            </a:r>
            <a:endParaRPr lang="en-US" sz="2400" dirty="0"/>
          </a:p>
        </p:txBody>
      </p:sp>
    </p:spTree>
    <p:extLst>
      <p:ext uri="{BB962C8B-B14F-4D97-AF65-F5344CB8AC3E}">
        <p14:creationId xmlns:p14="http://schemas.microsoft.com/office/powerpoint/2010/main" val="150927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E64E-716D-EBBB-3630-C74E18A93C86}"/>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44FA8A4D-48E9-127A-D659-E29D0E853863}"/>
              </a:ext>
            </a:extLst>
          </p:cNvPr>
          <p:cNvSpPr>
            <a:spLocks noGrp="1"/>
          </p:cNvSpPr>
          <p:nvPr>
            <p:ph idx="1"/>
          </p:nvPr>
        </p:nvSpPr>
        <p:spPr/>
        <p:txBody>
          <a:bodyPr/>
          <a:lstStyle/>
          <a:p>
            <a:pPr marL="0" indent="0">
              <a:buNone/>
            </a:pPr>
            <a:r>
              <a:rPr lang="en-US" b="1" i="0" dirty="0">
                <a:solidFill>
                  <a:srgbClr val="444444"/>
                </a:solidFill>
                <a:effectLst/>
                <a:highlight>
                  <a:srgbClr val="FFFFFF"/>
                </a:highlight>
                <a:latin typeface="Poppins" panose="00000500000000000000" pitchFamily="2" charset="0"/>
              </a:rPr>
              <a:t>2) There is a container full of </a:t>
            </a:r>
            <a:r>
              <a:rPr lang="en-US" b="1" i="0" dirty="0" err="1">
                <a:solidFill>
                  <a:srgbClr val="444444"/>
                </a:solidFill>
                <a:effectLst/>
                <a:highlight>
                  <a:srgbClr val="FFFFFF"/>
                </a:highlight>
                <a:latin typeface="Poppins" panose="00000500000000000000" pitchFamily="2" charset="0"/>
              </a:rPr>
              <a:t>coloured</a:t>
            </a:r>
            <a:r>
              <a:rPr lang="en-US" b="1" i="0" dirty="0">
                <a:solidFill>
                  <a:srgbClr val="444444"/>
                </a:solidFill>
                <a:effectLst/>
                <a:highlight>
                  <a:srgbClr val="FFFFFF"/>
                </a:highlight>
                <a:latin typeface="Poppins" panose="00000500000000000000" pitchFamily="2" charset="0"/>
              </a:rPr>
              <a:t> bottles, red, blue, green and orange. Some of the bottles are picked out and displaced. Sumit did this 1000 times and got the following results:</a:t>
            </a:r>
          </a:p>
          <a:p>
            <a:pPr algn="l">
              <a:buFont typeface="Arial" panose="020B0604020202020204" pitchFamily="34" charset="0"/>
              <a:buChar char="•"/>
            </a:pPr>
            <a:r>
              <a:rPr lang="en-US" b="0" i="0" dirty="0">
                <a:solidFill>
                  <a:srgbClr val="444444"/>
                </a:solidFill>
                <a:effectLst/>
                <a:highlight>
                  <a:srgbClr val="FFFFFF"/>
                </a:highlight>
                <a:latin typeface="Poppins" panose="00000500000000000000" pitchFamily="2" charset="0"/>
              </a:rPr>
              <a:t>No. of blue bottles picked out: 300</a:t>
            </a:r>
          </a:p>
          <a:p>
            <a:pPr algn="l">
              <a:buFont typeface="Arial" panose="020B0604020202020204" pitchFamily="34" charset="0"/>
              <a:buChar char="•"/>
            </a:pPr>
            <a:r>
              <a:rPr lang="en-US" b="0" i="0" dirty="0">
                <a:solidFill>
                  <a:srgbClr val="444444"/>
                </a:solidFill>
                <a:effectLst/>
                <a:highlight>
                  <a:srgbClr val="FFFFFF"/>
                </a:highlight>
                <a:latin typeface="Poppins" panose="00000500000000000000" pitchFamily="2" charset="0"/>
              </a:rPr>
              <a:t>No. of red bottles: 200</a:t>
            </a:r>
          </a:p>
          <a:p>
            <a:pPr algn="l">
              <a:buFont typeface="Arial" panose="020B0604020202020204" pitchFamily="34" charset="0"/>
              <a:buChar char="•"/>
            </a:pPr>
            <a:r>
              <a:rPr lang="en-US" b="0" i="0" dirty="0">
                <a:solidFill>
                  <a:srgbClr val="444444"/>
                </a:solidFill>
                <a:effectLst/>
                <a:highlight>
                  <a:srgbClr val="FFFFFF"/>
                </a:highlight>
                <a:latin typeface="Poppins" panose="00000500000000000000" pitchFamily="2" charset="0"/>
              </a:rPr>
              <a:t>No. of green bottles: 450</a:t>
            </a:r>
          </a:p>
          <a:p>
            <a:pPr algn="l">
              <a:buFont typeface="Arial" panose="020B0604020202020204" pitchFamily="34" charset="0"/>
              <a:buChar char="•"/>
            </a:pPr>
            <a:r>
              <a:rPr lang="en-US" b="0" i="0" dirty="0">
                <a:solidFill>
                  <a:srgbClr val="444444"/>
                </a:solidFill>
                <a:effectLst/>
                <a:highlight>
                  <a:srgbClr val="FFFFFF"/>
                </a:highlight>
                <a:latin typeface="Poppins" panose="00000500000000000000" pitchFamily="2" charset="0"/>
              </a:rPr>
              <a:t>No. of orange bottles: 50</a:t>
            </a:r>
          </a:p>
          <a:p>
            <a:pPr marL="0" indent="0">
              <a:buNone/>
            </a:pPr>
            <a:endParaRPr lang="en-US" dirty="0"/>
          </a:p>
        </p:txBody>
      </p:sp>
    </p:spTree>
    <p:extLst>
      <p:ext uri="{BB962C8B-B14F-4D97-AF65-F5344CB8AC3E}">
        <p14:creationId xmlns:p14="http://schemas.microsoft.com/office/powerpoint/2010/main" val="43222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C9CC-2DD3-F4B6-4C8F-5D80567F13EF}"/>
              </a:ext>
            </a:extLst>
          </p:cNvPr>
          <p:cNvSpPr>
            <a:spLocks noGrp="1"/>
          </p:cNvSpPr>
          <p:nvPr>
            <p:ph type="title"/>
          </p:nvPr>
        </p:nvSpPr>
        <p:spPr/>
        <p:txBody>
          <a:bodyPr/>
          <a:lstStyle/>
          <a:p>
            <a:r>
              <a:rPr lang="en-US" b="1" i="0" dirty="0">
                <a:solidFill>
                  <a:srgbClr val="444444"/>
                </a:solidFill>
                <a:effectLst/>
                <a:highlight>
                  <a:srgbClr val="FFFFFF"/>
                </a:highlight>
                <a:latin typeface="Poppins" panose="00000500000000000000" pitchFamily="2" charset="0"/>
              </a:rPr>
              <a:t>a) What is the probability that Sumit will pick a green bottle?</a:t>
            </a:r>
            <a:endParaRPr lang="en-US" dirty="0"/>
          </a:p>
        </p:txBody>
      </p:sp>
      <p:sp>
        <p:nvSpPr>
          <p:cNvPr id="3" name="Content Placeholder 2">
            <a:extLst>
              <a:ext uri="{FF2B5EF4-FFF2-40B4-BE49-F238E27FC236}">
                <a16:creationId xmlns:a16="http://schemas.microsoft.com/office/drawing/2014/main" id="{3C9B7BC1-4622-D5DF-FEF1-7844CC1AC918}"/>
              </a:ext>
            </a:extLst>
          </p:cNvPr>
          <p:cNvSpPr>
            <a:spLocks noGrp="1"/>
          </p:cNvSpPr>
          <p:nvPr>
            <p:ph idx="1"/>
          </p:nvPr>
        </p:nvSpPr>
        <p:spPr>
          <a:xfrm>
            <a:off x="841248" y="3086799"/>
            <a:ext cx="9489000" cy="1539630"/>
          </a:xfrm>
        </p:spPr>
        <p:txBody>
          <a:bodyPr/>
          <a:lstStyle/>
          <a:p>
            <a:pPr marL="0" indent="0" algn="l">
              <a:buNone/>
            </a:pPr>
            <a:r>
              <a:rPr lang="en-US" b="0" i="0" dirty="0">
                <a:solidFill>
                  <a:srgbClr val="444444"/>
                </a:solidFill>
                <a:effectLst/>
                <a:highlight>
                  <a:srgbClr val="FFFFFF"/>
                </a:highlight>
                <a:latin typeface="Poppins" panose="00000500000000000000" pitchFamily="2" charset="0"/>
              </a:rPr>
              <a:t>Ans: For every 1000 bottles picked out, 450 are green.</a:t>
            </a:r>
          </a:p>
          <a:p>
            <a:pPr marL="0" indent="0" algn="l">
              <a:buNone/>
            </a:pPr>
            <a:r>
              <a:rPr lang="en-US" b="0" i="0" dirty="0">
                <a:solidFill>
                  <a:srgbClr val="444444"/>
                </a:solidFill>
                <a:effectLst/>
                <a:highlight>
                  <a:srgbClr val="FFFFFF"/>
                </a:highlight>
                <a:latin typeface="Poppins" panose="00000500000000000000" pitchFamily="2" charset="0"/>
              </a:rPr>
              <a:t>Therefore, P(green) = 450/1000 = 0.45</a:t>
            </a:r>
          </a:p>
          <a:p>
            <a:endParaRPr lang="en-US" dirty="0"/>
          </a:p>
        </p:txBody>
      </p:sp>
    </p:spTree>
    <p:extLst>
      <p:ext uri="{BB962C8B-B14F-4D97-AF65-F5344CB8AC3E}">
        <p14:creationId xmlns:p14="http://schemas.microsoft.com/office/powerpoint/2010/main" val="335476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03E5-ECD4-7131-C13F-5CE726B6CDEB}"/>
              </a:ext>
            </a:extLst>
          </p:cNvPr>
          <p:cNvSpPr>
            <a:spLocks noGrp="1"/>
          </p:cNvSpPr>
          <p:nvPr>
            <p:ph type="title"/>
          </p:nvPr>
        </p:nvSpPr>
        <p:spPr>
          <a:xfrm>
            <a:off x="544285" y="552782"/>
            <a:ext cx="10297885" cy="1325563"/>
          </a:xfrm>
        </p:spPr>
        <p:txBody>
          <a:bodyPr>
            <a:normAutofit/>
          </a:bodyPr>
          <a:lstStyle/>
          <a:p>
            <a:r>
              <a:rPr lang="en-US" sz="3600" b="1" i="0" dirty="0">
                <a:solidFill>
                  <a:srgbClr val="444444"/>
                </a:solidFill>
                <a:effectLst/>
                <a:highlight>
                  <a:srgbClr val="FFFFFF"/>
                </a:highlight>
                <a:latin typeface="Poppins" panose="00000500000000000000" pitchFamily="2" charset="0"/>
              </a:rPr>
              <a:t>b) If there are 100 bottles in the container, how many of them are likely to be green?</a:t>
            </a:r>
            <a:endParaRPr lang="en-US" sz="3600" dirty="0"/>
          </a:p>
        </p:txBody>
      </p:sp>
      <p:sp>
        <p:nvSpPr>
          <p:cNvPr id="3" name="Content Placeholder 2">
            <a:extLst>
              <a:ext uri="{FF2B5EF4-FFF2-40B4-BE49-F238E27FC236}">
                <a16:creationId xmlns:a16="http://schemas.microsoft.com/office/drawing/2014/main" id="{2003DD30-4C41-E9BF-45B9-97AFD36961EE}"/>
              </a:ext>
            </a:extLst>
          </p:cNvPr>
          <p:cNvSpPr>
            <a:spLocks noGrp="1"/>
          </p:cNvSpPr>
          <p:nvPr>
            <p:ph idx="1"/>
          </p:nvPr>
        </p:nvSpPr>
        <p:spPr>
          <a:xfrm>
            <a:off x="841248" y="2645229"/>
            <a:ext cx="9489000" cy="3198354"/>
          </a:xfrm>
        </p:spPr>
        <p:txBody>
          <a:bodyPr/>
          <a:lstStyle/>
          <a:p>
            <a:pPr marL="0" indent="0" algn="l">
              <a:buNone/>
            </a:pPr>
            <a:r>
              <a:rPr lang="en-US" sz="3400" b="0" i="0" dirty="0">
                <a:solidFill>
                  <a:srgbClr val="444444"/>
                </a:solidFill>
                <a:effectLst/>
                <a:highlight>
                  <a:srgbClr val="FFFFFF"/>
                </a:highlight>
                <a:latin typeface="Poppins" panose="00000500000000000000" pitchFamily="2" charset="0"/>
              </a:rPr>
              <a:t>Ans: The experiment implies that 450 out of 1000 bottles are green.</a:t>
            </a:r>
          </a:p>
          <a:p>
            <a:pPr marL="0" indent="0" algn="l">
              <a:buNone/>
            </a:pPr>
            <a:r>
              <a:rPr lang="en-US" sz="3400" b="0" i="0" dirty="0">
                <a:solidFill>
                  <a:srgbClr val="444444"/>
                </a:solidFill>
                <a:effectLst/>
                <a:highlight>
                  <a:srgbClr val="FFFFFF"/>
                </a:highlight>
                <a:latin typeface="Poppins" panose="00000500000000000000" pitchFamily="2" charset="0"/>
              </a:rPr>
              <a:t>Therefore, out of 100 bottles, 45 are green.</a:t>
            </a:r>
          </a:p>
          <a:p>
            <a:endParaRPr lang="en-US" dirty="0"/>
          </a:p>
        </p:txBody>
      </p:sp>
    </p:spTree>
    <p:extLst>
      <p:ext uri="{BB962C8B-B14F-4D97-AF65-F5344CB8AC3E}">
        <p14:creationId xmlns:p14="http://schemas.microsoft.com/office/powerpoint/2010/main" val="220818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7B8C-8F87-6749-DAF5-4E76F2A812DB}"/>
              </a:ext>
            </a:extLst>
          </p:cNvPr>
          <p:cNvSpPr>
            <a:spLocks noGrp="1"/>
          </p:cNvSpPr>
          <p:nvPr>
            <p:ph type="title"/>
          </p:nvPr>
        </p:nvSpPr>
        <p:spPr/>
        <p:txBody>
          <a:bodyPr/>
          <a:lstStyle/>
          <a:p>
            <a:r>
              <a:rPr lang="en-US" dirty="0"/>
              <a:t>Question </a:t>
            </a:r>
          </a:p>
        </p:txBody>
      </p:sp>
      <p:sp>
        <p:nvSpPr>
          <p:cNvPr id="3" name="Content Placeholder 2">
            <a:extLst>
              <a:ext uri="{FF2B5EF4-FFF2-40B4-BE49-F238E27FC236}">
                <a16:creationId xmlns:a16="http://schemas.microsoft.com/office/drawing/2014/main" id="{83EAEE4B-CACA-B867-7F8C-D26BF7BDACC6}"/>
              </a:ext>
            </a:extLst>
          </p:cNvPr>
          <p:cNvSpPr>
            <a:spLocks noGrp="1"/>
          </p:cNvSpPr>
          <p:nvPr>
            <p:ph idx="1"/>
          </p:nvPr>
        </p:nvSpPr>
        <p:spPr>
          <a:xfrm>
            <a:off x="841248" y="1830601"/>
            <a:ext cx="9489000" cy="842944"/>
          </a:xfrm>
        </p:spPr>
        <p:txBody>
          <a:bodyPr>
            <a:normAutofit/>
          </a:bodyPr>
          <a:lstStyle/>
          <a:p>
            <a:r>
              <a:rPr lang="en-US" sz="2400" b="0" i="0" dirty="0">
                <a:solidFill>
                  <a:srgbClr val="4C4C4C"/>
                </a:solidFill>
                <a:effectLst/>
                <a:highlight>
                  <a:srgbClr val="FFFFFF"/>
                </a:highlight>
                <a:latin typeface="Open Sans" panose="020F0502020204030204" pitchFamily="34" charset="0"/>
              </a:rPr>
              <a:t>What is the probability of drawing a heart from a deck of cards?</a:t>
            </a:r>
          </a:p>
          <a:p>
            <a:endParaRPr lang="en-US" sz="2400" dirty="0">
              <a:solidFill>
                <a:srgbClr val="4C4C4C"/>
              </a:solidFill>
              <a:highlight>
                <a:srgbClr val="FFFFFF"/>
              </a:highlight>
              <a:latin typeface="Open Sans" panose="020F0502020204030204" pitchFamily="34" charset="0"/>
            </a:endParaRPr>
          </a:p>
          <a:p>
            <a:endParaRPr lang="en-US" sz="2400" dirty="0"/>
          </a:p>
        </p:txBody>
      </p:sp>
      <p:pic>
        <p:nvPicPr>
          <p:cNvPr id="3074" name="Picture 2" descr="Favourable outcomes">
            <a:extLst>
              <a:ext uri="{FF2B5EF4-FFF2-40B4-BE49-F238E27FC236}">
                <a16:creationId xmlns:a16="http://schemas.microsoft.com/office/drawing/2014/main" id="{CF3D10B7-8DF0-247C-5BAF-CFCC25F44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146" y="4302625"/>
            <a:ext cx="7766887" cy="11650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293FB2D-6E75-E0A0-7D05-339884C06E6B}"/>
              </a:ext>
            </a:extLst>
          </p:cNvPr>
          <p:cNvSpPr txBox="1"/>
          <p:nvPr/>
        </p:nvSpPr>
        <p:spPr>
          <a:xfrm>
            <a:off x="841248" y="2935590"/>
            <a:ext cx="9803606" cy="156966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solidFill>
                  <a:srgbClr val="4C4C4C"/>
                </a:solidFill>
                <a:latin typeface="Open Sans" panose="020B0606030504020204" pitchFamily="34" charset="0"/>
                <a:cs typeface="Open Sans" panose="020B0606030504020204" pitchFamily="34" charset="0"/>
              </a:rPr>
              <a:t>Answer - </a:t>
            </a:r>
            <a:r>
              <a:rPr kumimoji="0" lang="en-US" altLang="en-US" sz="2400" b="0" i="0" u="none" strike="noStrike" cap="none" normalizeH="0" baseline="0" dirty="0">
                <a:ln>
                  <a:noFill/>
                </a:ln>
                <a:solidFill>
                  <a:srgbClr val="4C4C4C"/>
                </a:solidFill>
                <a:effectLst/>
                <a:latin typeface="Open Sans" panose="020B0606030504020204" pitchFamily="34" charset="0"/>
                <a:cs typeface="Open Sans" panose="020B0606030504020204" pitchFamily="34" charset="0"/>
              </a:rPr>
              <a:t>there are total 52 cards in a deck out of which 13 cards are of heart.</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4C4C4C"/>
                </a:solidFill>
                <a:effectLst/>
                <a:latin typeface="Open Sans" panose="020B0606030504020204" pitchFamily="34" charset="0"/>
                <a:cs typeface="Open Sans" panose="020B0606030504020204" pitchFamily="34" charset="0"/>
              </a:rPr>
              <a:t>So the </a:t>
            </a:r>
            <a:r>
              <a:rPr kumimoji="0" lang="en-US" altLang="en-US" sz="2400" b="0" i="0" u="none" strike="noStrike" cap="none" normalizeH="0" baseline="0" dirty="0" err="1">
                <a:ln>
                  <a:noFill/>
                </a:ln>
                <a:solidFill>
                  <a:srgbClr val="4C4C4C"/>
                </a:solidFill>
                <a:effectLst/>
                <a:latin typeface="Open Sans" panose="020B0606030504020204" pitchFamily="34" charset="0"/>
                <a:cs typeface="Open Sans" panose="020B0606030504020204" pitchFamily="34" charset="0"/>
              </a:rPr>
              <a:t>favourable</a:t>
            </a:r>
            <a:r>
              <a:rPr kumimoji="0" lang="en-US" altLang="en-US" sz="2400" b="0" i="0" u="none" strike="noStrike" cap="none" normalizeH="0" baseline="0" dirty="0">
                <a:ln>
                  <a:noFill/>
                </a:ln>
                <a:solidFill>
                  <a:srgbClr val="4C4C4C"/>
                </a:solidFill>
                <a:effectLst/>
                <a:latin typeface="Open Sans" panose="020B0606030504020204" pitchFamily="34" charset="0"/>
                <a:cs typeface="Open Sans" panose="020B0606030504020204" pitchFamily="34" charset="0"/>
              </a:rPr>
              <a:t> outcomes are 13 and the total no. of events is 52.</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4C4C4C"/>
                </a:solidFill>
                <a:effectLst/>
                <a:latin typeface="Open Sans" panose="020B0606030504020204" pitchFamily="34" charset="0"/>
                <a:cs typeface="Open Sans" panose="020B0606030504020204" pitchFamily="34"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60F7EE2F-E49C-A964-23CF-1B8122A47170}"/>
              </a:ext>
            </a:extLst>
          </p:cNvPr>
          <p:cNvSpPr txBox="1"/>
          <p:nvPr/>
        </p:nvSpPr>
        <p:spPr>
          <a:xfrm>
            <a:off x="1382485" y="5562495"/>
            <a:ext cx="6096000" cy="369332"/>
          </a:xfrm>
          <a:prstGeom prst="rect">
            <a:avLst/>
          </a:prstGeom>
          <a:noFill/>
        </p:spPr>
        <p:txBody>
          <a:bodyPr wrap="square">
            <a:spAutoFit/>
          </a:bodyPr>
          <a:lstStyle/>
          <a:p>
            <a:r>
              <a:rPr lang="en-US" b="0" i="0" dirty="0">
                <a:solidFill>
                  <a:srgbClr val="4C4C4C"/>
                </a:solidFill>
                <a:effectLst/>
                <a:highlight>
                  <a:srgbClr val="FFFFFF"/>
                </a:highlight>
                <a:latin typeface="Open Sans" panose="020B0606030504020204" pitchFamily="34" charset="0"/>
              </a:rPr>
              <a:t>= 13/52 = 1/4</a:t>
            </a:r>
            <a:endParaRPr lang="en-US" dirty="0"/>
          </a:p>
        </p:txBody>
      </p:sp>
    </p:spTree>
    <p:extLst>
      <p:ext uri="{BB962C8B-B14F-4D97-AF65-F5344CB8AC3E}">
        <p14:creationId xmlns:p14="http://schemas.microsoft.com/office/powerpoint/2010/main" val="337689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52C68-1040-C052-2702-28679E7C0517}"/>
              </a:ext>
            </a:extLst>
          </p:cNvPr>
          <p:cNvSpPr>
            <a:spLocks noGrp="1"/>
          </p:cNvSpPr>
          <p:nvPr>
            <p:ph type="title"/>
          </p:nvPr>
        </p:nvSpPr>
        <p:spPr/>
        <p:txBody>
          <a:bodyPr>
            <a:normAutofit/>
          </a:bodyPr>
          <a:lstStyle/>
          <a:p>
            <a:r>
              <a:rPr lang="en-US" sz="3400" b="0" i="0" dirty="0">
                <a:solidFill>
                  <a:srgbClr val="4C4C4C"/>
                </a:solidFill>
                <a:effectLst/>
                <a:highlight>
                  <a:srgbClr val="FFFFFF"/>
                </a:highlight>
                <a:latin typeface="Open Sans" panose="020B0606030504020204" pitchFamily="34" charset="0"/>
              </a:rPr>
              <a:t>If we toss two coins together, then what is the probability of getting at least one tail?</a:t>
            </a:r>
            <a:endParaRPr lang="en-US" sz="3400" dirty="0"/>
          </a:p>
        </p:txBody>
      </p:sp>
      <p:pic>
        <p:nvPicPr>
          <p:cNvPr id="4098" name="Picture 2" descr="Total outcomes">
            <a:extLst>
              <a:ext uri="{FF2B5EF4-FFF2-40B4-BE49-F238E27FC236}">
                <a16:creationId xmlns:a16="http://schemas.microsoft.com/office/drawing/2014/main" id="{4CBA3112-AD70-CDB0-1116-217CA2A05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0074" y="2070266"/>
            <a:ext cx="8351382" cy="2943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43DDA35-4661-7CE4-D796-4602F30B51D3}"/>
              </a:ext>
            </a:extLst>
          </p:cNvPr>
          <p:cNvSpPr txBox="1"/>
          <p:nvPr/>
        </p:nvSpPr>
        <p:spPr>
          <a:xfrm>
            <a:off x="1130074" y="4979656"/>
            <a:ext cx="8786811" cy="923330"/>
          </a:xfrm>
          <a:prstGeom prst="rect">
            <a:avLst/>
          </a:prstGeom>
          <a:noFill/>
        </p:spPr>
        <p:txBody>
          <a:bodyPr wrap="square">
            <a:spAutoFit/>
          </a:bodyPr>
          <a:lstStyle/>
          <a:p>
            <a:pPr algn="l"/>
            <a:r>
              <a:rPr lang="en-US" b="0" i="0" dirty="0">
                <a:solidFill>
                  <a:srgbClr val="4C4C4C"/>
                </a:solidFill>
                <a:effectLst/>
                <a:highlight>
                  <a:srgbClr val="FFFFFF"/>
                </a:highlight>
                <a:latin typeface="Open Sans" panose="020B0606030504020204" pitchFamily="34" charset="0"/>
              </a:rPr>
              <a:t>The favorable outcomes for at least one head will be</a:t>
            </a:r>
          </a:p>
          <a:p>
            <a:pPr algn="l"/>
            <a:r>
              <a:rPr lang="en-US" b="0" i="0" dirty="0">
                <a:solidFill>
                  <a:srgbClr val="4C4C4C"/>
                </a:solidFill>
                <a:effectLst/>
                <a:highlight>
                  <a:srgbClr val="FFFFFF"/>
                </a:highlight>
                <a:latin typeface="Open Sans" panose="020B0606030504020204" pitchFamily="34" charset="0"/>
              </a:rPr>
              <a:t>{HH}, {HT}, {TH} = 3</a:t>
            </a:r>
          </a:p>
          <a:p>
            <a:pPr algn="l"/>
            <a:r>
              <a:rPr lang="en-US" b="0" i="0" dirty="0">
                <a:solidFill>
                  <a:srgbClr val="4C4C4C"/>
                </a:solidFill>
                <a:effectLst/>
                <a:highlight>
                  <a:srgbClr val="FFFFFF"/>
                </a:highlight>
                <a:latin typeface="Open Sans" panose="020B0606030504020204" pitchFamily="34" charset="0"/>
              </a:rPr>
              <a:t>P (for at least one head) = 3/4</a:t>
            </a:r>
          </a:p>
        </p:txBody>
      </p:sp>
    </p:spTree>
    <p:extLst>
      <p:ext uri="{BB962C8B-B14F-4D97-AF65-F5344CB8AC3E}">
        <p14:creationId xmlns:p14="http://schemas.microsoft.com/office/powerpoint/2010/main" val="357493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23D8-E30A-6AA6-AC51-DF7D4E2928A4}"/>
              </a:ext>
            </a:extLst>
          </p:cNvPr>
          <p:cNvSpPr>
            <a:spLocks noGrp="1"/>
          </p:cNvSpPr>
          <p:nvPr>
            <p:ph type="title"/>
          </p:nvPr>
        </p:nvSpPr>
        <p:spPr>
          <a:xfrm>
            <a:off x="841248" y="552783"/>
            <a:ext cx="9489000" cy="818818"/>
          </a:xfrm>
        </p:spPr>
        <p:txBody>
          <a:bodyPr/>
          <a:lstStyle/>
          <a:p>
            <a:r>
              <a:rPr lang="en-US" b="1" i="0" dirty="0">
                <a:solidFill>
                  <a:srgbClr val="273239"/>
                </a:solidFill>
                <a:effectLst/>
                <a:highlight>
                  <a:srgbClr val="FFFFFF"/>
                </a:highlight>
                <a:latin typeface="Nunito" pitchFamily="2" charset="0"/>
              </a:rPr>
              <a:t>Tossing 3 Coin Probability</a:t>
            </a:r>
            <a:endParaRPr lang="en-US" dirty="0"/>
          </a:p>
        </p:txBody>
      </p:sp>
      <p:sp>
        <p:nvSpPr>
          <p:cNvPr id="3" name="Content Placeholder 2">
            <a:extLst>
              <a:ext uri="{FF2B5EF4-FFF2-40B4-BE49-F238E27FC236}">
                <a16:creationId xmlns:a16="http://schemas.microsoft.com/office/drawing/2014/main" id="{32E9E317-CA1B-159D-9C45-7B2398C3A7A9}"/>
              </a:ext>
            </a:extLst>
          </p:cNvPr>
          <p:cNvSpPr>
            <a:spLocks noGrp="1"/>
          </p:cNvSpPr>
          <p:nvPr>
            <p:ph idx="1"/>
          </p:nvPr>
        </p:nvSpPr>
        <p:spPr>
          <a:xfrm>
            <a:off x="841248" y="1251857"/>
            <a:ext cx="9489000" cy="1589314"/>
          </a:xfrm>
        </p:spPr>
        <p:txBody>
          <a:bodyPr>
            <a:normAutofit fontScale="92500"/>
          </a:bodyPr>
          <a:lstStyle/>
          <a:p>
            <a:pPr marL="0" indent="0">
              <a:buNone/>
            </a:pPr>
            <a:r>
              <a:rPr lang="en-US" dirty="0"/>
              <a:t>Sample space </a:t>
            </a:r>
          </a:p>
          <a:p>
            <a:pPr marL="0" indent="0">
              <a:buNone/>
            </a:pPr>
            <a:r>
              <a:rPr lang="en-US" b="1" i="1" dirty="0">
                <a:solidFill>
                  <a:srgbClr val="273239"/>
                </a:solidFill>
                <a:effectLst/>
                <a:highlight>
                  <a:srgbClr val="F9F9F9"/>
                </a:highlight>
                <a:latin typeface="Nunito" pitchFamily="2" charset="0"/>
              </a:rPr>
              <a:t>S = {(H, H, H), (H, H, T), (H, T, H), (H, T, T), (T, T, H), (T, T, T), (T, H, H), (T, H, T)}</a:t>
            </a:r>
          </a:p>
          <a:p>
            <a:pPr marL="0" indent="0">
              <a:buNone/>
            </a:pPr>
            <a:r>
              <a:rPr lang="en-US" b="1" i="0" dirty="0">
                <a:solidFill>
                  <a:srgbClr val="273239"/>
                </a:solidFill>
                <a:effectLst/>
                <a:highlight>
                  <a:srgbClr val="FFFFFF"/>
                </a:highlight>
                <a:latin typeface="Nunito" pitchFamily="2" charset="0"/>
              </a:rPr>
              <a:t>Find the probability of getting exactly two heads when we toss three coins</a:t>
            </a:r>
          </a:p>
          <a:p>
            <a:pPr marL="0" indent="0">
              <a:buNone/>
            </a:pPr>
            <a:endParaRPr lang="en-US" dirty="0"/>
          </a:p>
        </p:txBody>
      </p:sp>
      <p:sp>
        <p:nvSpPr>
          <p:cNvPr id="5" name="TextBox 4">
            <a:extLst>
              <a:ext uri="{FF2B5EF4-FFF2-40B4-BE49-F238E27FC236}">
                <a16:creationId xmlns:a16="http://schemas.microsoft.com/office/drawing/2014/main" id="{EAC00BF9-83E3-50EC-EC71-E401001566DE}"/>
              </a:ext>
            </a:extLst>
          </p:cNvPr>
          <p:cNvSpPr txBox="1"/>
          <p:nvPr/>
        </p:nvSpPr>
        <p:spPr>
          <a:xfrm>
            <a:off x="692619" y="2982134"/>
            <a:ext cx="9764487" cy="2862322"/>
          </a:xfrm>
          <a:prstGeom prst="rect">
            <a:avLst/>
          </a:prstGeom>
          <a:noFill/>
        </p:spPr>
        <p:txBody>
          <a:bodyPr wrap="square">
            <a:spAutoFit/>
          </a:bodyPr>
          <a:lstStyle/>
          <a:p>
            <a:pPr marL="0" indent="0" algn="l" rtl="0" fontAlgn="base">
              <a:buNone/>
            </a:pPr>
            <a:r>
              <a:rPr lang="en-US" sz="2000" b="0" i="1" dirty="0">
                <a:solidFill>
                  <a:srgbClr val="273239"/>
                </a:solidFill>
                <a:effectLst/>
                <a:latin typeface="Nunito" pitchFamily="2" charset="0"/>
              </a:rPr>
              <a:t>Answer - The required case in two coin toss is,</a:t>
            </a:r>
          </a:p>
          <a:p>
            <a:pPr marL="0" indent="0" algn="l" rtl="0" fontAlgn="base">
              <a:buNone/>
            </a:pPr>
            <a:r>
              <a:rPr lang="en-US" sz="2000" b="0" i="1" dirty="0">
                <a:solidFill>
                  <a:srgbClr val="273239"/>
                </a:solidFill>
                <a:effectLst/>
                <a:latin typeface="Nunito" pitchFamily="2" charset="0"/>
              </a:rPr>
              <a:t>A = {(H, H, T), (H, T, H), (T, H, H)}</a:t>
            </a:r>
          </a:p>
          <a:p>
            <a:pPr marL="0" indent="0" algn="l" rtl="0" fontAlgn="base">
              <a:buNone/>
            </a:pPr>
            <a:r>
              <a:rPr lang="en-US" sz="2000" b="0" i="1" dirty="0">
                <a:solidFill>
                  <a:srgbClr val="273239"/>
                </a:solidFill>
                <a:effectLst/>
                <a:latin typeface="Nunito" pitchFamily="2" charset="0"/>
              </a:rPr>
              <a:t>=&gt; n(A) = 3</a:t>
            </a:r>
          </a:p>
          <a:p>
            <a:pPr marL="0" indent="0" algn="l" rtl="0" fontAlgn="base">
              <a:buNone/>
            </a:pPr>
            <a:r>
              <a:rPr lang="en-US" sz="2000" b="0" i="1" dirty="0">
                <a:solidFill>
                  <a:srgbClr val="273239"/>
                </a:solidFill>
                <a:effectLst/>
                <a:latin typeface="Nunito" pitchFamily="2" charset="0"/>
              </a:rPr>
              <a:t>Total sample space “S” = {(H, H, H), (H, H, T), (H, T, H), (H, T, T), (T, T, H), (T, T, T), (T, H, H), (T, H, T)}</a:t>
            </a:r>
          </a:p>
          <a:p>
            <a:pPr marL="0" indent="0" algn="l" rtl="0" fontAlgn="base">
              <a:buNone/>
            </a:pPr>
            <a:r>
              <a:rPr lang="en-US" sz="2000" b="0" i="1" dirty="0">
                <a:solidFill>
                  <a:srgbClr val="273239"/>
                </a:solidFill>
                <a:effectLst/>
                <a:latin typeface="Nunito" pitchFamily="2" charset="0"/>
              </a:rPr>
              <a:t>=&gt; n(s) =  8</a:t>
            </a:r>
          </a:p>
          <a:p>
            <a:pPr marL="0" indent="0" algn="l" rtl="0" fontAlgn="base">
              <a:buNone/>
            </a:pPr>
            <a:r>
              <a:rPr lang="en-US" sz="2000" b="0" i="1" dirty="0">
                <a:solidFill>
                  <a:srgbClr val="273239"/>
                </a:solidFill>
                <a:effectLst/>
                <a:latin typeface="Nunito" pitchFamily="2" charset="0"/>
              </a:rPr>
              <a:t>Probability of getting exactly two heads =</a:t>
            </a:r>
            <a:r>
              <a:rPr lang="en-US" sz="2000" b="1" i="1" dirty="0">
                <a:solidFill>
                  <a:srgbClr val="273239"/>
                </a:solidFill>
                <a:effectLst/>
                <a:latin typeface="Nunito" pitchFamily="2" charset="0"/>
              </a:rPr>
              <a:t> P(A) = (</a:t>
            </a:r>
            <a:r>
              <a:rPr lang="en-US" sz="2000" b="1" i="1" dirty="0" err="1">
                <a:solidFill>
                  <a:srgbClr val="273239"/>
                </a:solidFill>
                <a:effectLst/>
                <a:latin typeface="Nunito" pitchFamily="2" charset="0"/>
              </a:rPr>
              <a:t>Favourable</a:t>
            </a:r>
            <a:r>
              <a:rPr lang="en-US" sz="2000" b="1" i="1" dirty="0">
                <a:solidFill>
                  <a:srgbClr val="273239"/>
                </a:solidFill>
                <a:effectLst/>
                <a:latin typeface="Nunito" pitchFamily="2" charset="0"/>
              </a:rPr>
              <a:t> Case)/(Total Case)</a:t>
            </a:r>
            <a:endParaRPr lang="en-US" sz="2000" b="0" i="1" dirty="0">
              <a:solidFill>
                <a:srgbClr val="273239"/>
              </a:solidFill>
              <a:effectLst/>
              <a:latin typeface="Nunito" pitchFamily="2" charset="0"/>
            </a:endParaRPr>
          </a:p>
          <a:p>
            <a:pPr marL="0" indent="0" algn="l" rtl="0" fontAlgn="base">
              <a:buNone/>
            </a:pPr>
            <a:r>
              <a:rPr lang="en-US" sz="2000" b="0" i="1" dirty="0">
                <a:solidFill>
                  <a:srgbClr val="273239"/>
                </a:solidFill>
                <a:effectLst/>
                <a:latin typeface="Nunito" pitchFamily="2" charset="0"/>
              </a:rPr>
              <a:t> P(A) = 3/8</a:t>
            </a:r>
          </a:p>
          <a:p>
            <a:pPr marL="0" indent="0" algn="l" rtl="0" fontAlgn="base">
              <a:buNone/>
            </a:pPr>
            <a:r>
              <a:rPr lang="en-US" sz="2000" b="0" i="1" dirty="0">
                <a:solidFill>
                  <a:srgbClr val="273239"/>
                </a:solidFill>
                <a:effectLst/>
                <a:latin typeface="Nunito" pitchFamily="2" charset="0"/>
              </a:rPr>
              <a:t>Thus, the probability of getting two heads in three coin toss is 3/8.</a:t>
            </a:r>
          </a:p>
        </p:txBody>
      </p:sp>
    </p:spTree>
    <p:extLst>
      <p:ext uri="{BB962C8B-B14F-4D97-AF65-F5344CB8AC3E}">
        <p14:creationId xmlns:p14="http://schemas.microsoft.com/office/powerpoint/2010/main" val="3298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D334-3A7F-1A33-F56E-1293DBD65D58}"/>
              </a:ext>
            </a:extLst>
          </p:cNvPr>
          <p:cNvSpPr>
            <a:spLocks noGrp="1"/>
          </p:cNvSpPr>
          <p:nvPr>
            <p:ph type="title"/>
          </p:nvPr>
        </p:nvSpPr>
        <p:spPr>
          <a:xfrm>
            <a:off x="939220" y="371362"/>
            <a:ext cx="9489000" cy="1325563"/>
          </a:xfrm>
        </p:spPr>
        <p:txBody>
          <a:bodyPr/>
          <a:lstStyle/>
          <a:p>
            <a:r>
              <a:rPr lang="en-US" b="1" i="0" dirty="0">
                <a:solidFill>
                  <a:srgbClr val="444444"/>
                </a:solidFill>
                <a:effectLst/>
                <a:highlight>
                  <a:srgbClr val="FFFFFF"/>
                </a:highlight>
                <a:latin typeface="Poppins" panose="00000500000000000000" pitchFamily="2" charset="0"/>
              </a:rPr>
              <a:t>Probability Tree</a:t>
            </a:r>
            <a:endParaRPr lang="en-US" dirty="0"/>
          </a:p>
        </p:txBody>
      </p:sp>
      <p:pic>
        <p:nvPicPr>
          <p:cNvPr id="1026" name="Picture 2" descr="Probability Tree">
            <a:extLst>
              <a:ext uri="{FF2B5EF4-FFF2-40B4-BE49-F238E27FC236}">
                <a16:creationId xmlns:a16="http://schemas.microsoft.com/office/drawing/2014/main" id="{D1227ED5-7B18-F88F-FEC8-BF5A2C2127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30" r="16715"/>
          <a:stretch/>
        </p:blipFill>
        <p:spPr bwMode="auto">
          <a:xfrm>
            <a:off x="1556657" y="1544409"/>
            <a:ext cx="7511143" cy="427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42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91A17-E98E-BD30-7BB2-5F040BDB0986}"/>
              </a:ext>
            </a:extLst>
          </p:cNvPr>
          <p:cNvSpPr>
            <a:spLocks noGrp="1"/>
          </p:cNvSpPr>
          <p:nvPr>
            <p:ph type="ctrTitle"/>
          </p:nvPr>
        </p:nvSpPr>
        <p:spPr/>
        <p:txBody>
          <a:bodyPr/>
          <a:lstStyle/>
          <a:p>
            <a:r>
              <a:rPr lang="en-US" dirty="0"/>
              <a:t>Types of Probability</a:t>
            </a:r>
          </a:p>
        </p:txBody>
      </p:sp>
      <p:sp>
        <p:nvSpPr>
          <p:cNvPr id="3" name="Subtitle 2">
            <a:extLst>
              <a:ext uri="{FF2B5EF4-FFF2-40B4-BE49-F238E27FC236}">
                <a16:creationId xmlns:a16="http://schemas.microsoft.com/office/drawing/2014/main" id="{B8B96A29-7A2C-B21E-4DDD-17197E160B6A}"/>
              </a:ext>
            </a:extLst>
          </p:cNvPr>
          <p:cNvSpPr>
            <a:spLocks noGrp="1"/>
          </p:cNvSpPr>
          <p:nvPr>
            <p:ph type="subTitle" idx="1"/>
          </p:nvPr>
        </p:nvSpPr>
        <p:spPr/>
        <p:txBody>
          <a:bodyPr/>
          <a:lstStyle/>
          <a:p>
            <a:r>
              <a:rPr lang="en-US" dirty="0"/>
              <a:t>Dr. Rakhee Chhibber</a:t>
            </a:r>
          </a:p>
        </p:txBody>
      </p:sp>
    </p:spTree>
    <p:extLst>
      <p:ext uri="{BB962C8B-B14F-4D97-AF65-F5344CB8AC3E}">
        <p14:creationId xmlns:p14="http://schemas.microsoft.com/office/powerpoint/2010/main" val="3624464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ADF-B9C4-0BE7-C180-091C81FD3A16}"/>
              </a:ext>
            </a:extLst>
          </p:cNvPr>
          <p:cNvSpPr>
            <a:spLocks noGrp="1"/>
          </p:cNvSpPr>
          <p:nvPr>
            <p:ph type="title"/>
          </p:nvPr>
        </p:nvSpPr>
        <p:spPr/>
        <p:txBody>
          <a:bodyPr/>
          <a:lstStyle/>
          <a:p>
            <a:r>
              <a:rPr lang="en-US" dirty="0"/>
              <a:t>2 types </a:t>
            </a:r>
          </a:p>
        </p:txBody>
      </p:sp>
      <p:sp>
        <p:nvSpPr>
          <p:cNvPr id="3" name="Content Placeholder 2">
            <a:extLst>
              <a:ext uri="{FF2B5EF4-FFF2-40B4-BE49-F238E27FC236}">
                <a16:creationId xmlns:a16="http://schemas.microsoft.com/office/drawing/2014/main" id="{A44F9148-7EC5-C722-DCEC-4B91C4C0D8C4}"/>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Experimental Probability</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Theoretical Probability</a:t>
            </a:r>
          </a:p>
          <a:p>
            <a:endParaRPr lang="en-US" dirty="0"/>
          </a:p>
        </p:txBody>
      </p:sp>
    </p:spTree>
    <p:extLst>
      <p:ext uri="{BB962C8B-B14F-4D97-AF65-F5344CB8AC3E}">
        <p14:creationId xmlns:p14="http://schemas.microsoft.com/office/powerpoint/2010/main" val="1022875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9982-FA30-30D4-F366-ACEA772B507E}"/>
              </a:ext>
            </a:extLst>
          </p:cNvPr>
          <p:cNvSpPr>
            <a:spLocks noGrp="1"/>
          </p:cNvSpPr>
          <p:nvPr>
            <p:ph type="title"/>
          </p:nvPr>
        </p:nvSpPr>
        <p:spPr/>
        <p:txBody>
          <a:bodyPr>
            <a:normAutofit/>
          </a:bodyPr>
          <a:lstStyle/>
          <a:p>
            <a:pPr fontAlgn="base"/>
            <a:r>
              <a:rPr lang="en-US" b="1" i="0" dirty="0">
                <a:solidFill>
                  <a:srgbClr val="273239"/>
                </a:solidFill>
                <a:effectLst/>
                <a:highlight>
                  <a:srgbClr val="FFFFFF"/>
                </a:highlight>
                <a:latin typeface="Nunito" pitchFamily="2" charset="0"/>
              </a:rPr>
              <a:t>Experimental Probability</a:t>
            </a:r>
            <a:endParaRPr lang="en-US" dirty="0"/>
          </a:p>
        </p:txBody>
      </p:sp>
      <p:sp>
        <p:nvSpPr>
          <p:cNvPr id="3" name="Content Placeholder 2">
            <a:extLst>
              <a:ext uri="{FF2B5EF4-FFF2-40B4-BE49-F238E27FC236}">
                <a16:creationId xmlns:a16="http://schemas.microsoft.com/office/drawing/2014/main" id="{AA9B7162-CCA1-0E9E-0B70-E088382D55AD}"/>
              </a:ext>
            </a:extLst>
          </p:cNvPr>
          <p:cNvSpPr>
            <a:spLocks noGrp="1"/>
          </p:cNvSpPr>
          <p:nvPr>
            <p:ph idx="1"/>
          </p:nvPr>
        </p:nvSpPr>
        <p:spPr/>
        <p:txBody>
          <a:bodyPr>
            <a:normAutofit lnSpcReduction="10000"/>
          </a:bodyPr>
          <a:lstStyle/>
          <a:p>
            <a:pPr marL="0" indent="0">
              <a:buNone/>
            </a:pPr>
            <a:r>
              <a:rPr lang="en-US" b="0" i="0" u="sng" dirty="0">
                <a:effectLst/>
                <a:highlight>
                  <a:srgbClr val="FFFFFF"/>
                </a:highlight>
                <a:latin typeface="Nunito" pitchFamily="2" charset="0"/>
                <a:hlinkClick r:id="rId2"/>
              </a:rPr>
              <a:t>Experimental probability</a:t>
            </a:r>
            <a:r>
              <a:rPr lang="en-US" b="0" i="0" dirty="0">
                <a:solidFill>
                  <a:srgbClr val="273239"/>
                </a:solidFill>
                <a:effectLst/>
                <a:highlight>
                  <a:srgbClr val="FFFFFF"/>
                </a:highlight>
                <a:latin typeface="Nunito" pitchFamily="2" charset="0"/>
              </a:rPr>
              <a:t> is the probability, which tells the possible outcomes, after performing an experiment. For example, if you toss a coin 50 times, then we could have different outcomes, in repeating experiments i.e. for experiment 1, the number of heads = 23, and the number of tails = 27, for experiment 2, the number of heads = 26, and a number of tails = 24, and so on… Here, if we find the probability of getting a head, it will be nearer to 0.5, but not exactly will be equal to 0.5.  Formula</a:t>
            </a:r>
          </a:p>
          <a:p>
            <a:pPr marL="0" indent="0">
              <a:buNone/>
            </a:pPr>
            <a:r>
              <a:rPr lang="en-US" b="0" i="1" dirty="0" err="1">
                <a:solidFill>
                  <a:srgbClr val="273239"/>
                </a:solidFill>
                <a:effectLst/>
                <a:highlight>
                  <a:srgbClr val="F9F9F9"/>
                </a:highlight>
                <a:latin typeface="Nunito" pitchFamily="2" charset="0"/>
              </a:rPr>
              <a:t>Probabitlity</a:t>
            </a:r>
            <a:r>
              <a:rPr lang="en-US" b="0" i="1" dirty="0">
                <a:solidFill>
                  <a:srgbClr val="273239"/>
                </a:solidFill>
                <a:effectLst/>
                <a:highlight>
                  <a:srgbClr val="F9F9F9"/>
                </a:highlight>
                <a:latin typeface="Nunito" pitchFamily="2" charset="0"/>
              </a:rPr>
              <a:t> = number of required outcomes after performing an experiment / total number of times experiment performed</a:t>
            </a:r>
            <a:endParaRPr lang="en-US" dirty="0"/>
          </a:p>
        </p:txBody>
      </p:sp>
    </p:spTree>
    <p:extLst>
      <p:ext uri="{BB962C8B-B14F-4D97-AF65-F5344CB8AC3E}">
        <p14:creationId xmlns:p14="http://schemas.microsoft.com/office/powerpoint/2010/main" val="94677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663C-2CB8-41BE-8CDB-CC5E116D7BF6}"/>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Theoretical Probability </a:t>
            </a:r>
            <a:endParaRPr lang="en-US" dirty="0"/>
          </a:p>
        </p:txBody>
      </p:sp>
      <p:sp>
        <p:nvSpPr>
          <p:cNvPr id="3" name="Content Placeholder 2">
            <a:extLst>
              <a:ext uri="{FF2B5EF4-FFF2-40B4-BE49-F238E27FC236}">
                <a16:creationId xmlns:a16="http://schemas.microsoft.com/office/drawing/2014/main" id="{08EE6DA9-1AFB-12F2-58B1-2587E794E9BC}"/>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Theoretical probability, tells how likely an event is going to occur, and in these events, we will only be assuming what can be the possible outcomes, but will not be performing experiments. For example, as we have seen above in the coin example, the experimental probability of getting a head/tail is near 0.5, but not exactly equal to 0.5, but theoretical probability, says that the probability of getting a head/tail is equal to 0.5, as head and tail are equally likely outcomes. Theoretical probability is also called classical probability.  Formula</a:t>
            </a:r>
          </a:p>
          <a:p>
            <a:pPr marL="0" indent="0">
              <a:buNone/>
            </a:pPr>
            <a:r>
              <a:rPr lang="en-US" b="0" i="1" dirty="0">
                <a:solidFill>
                  <a:srgbClr val="273239"/>
                </a:solidFill>
                <a:effectLst/>
                <a:highlight>
                  <a:srgbClr val="F9F9F9"/>
                </a:highlight>
                <a:latin typeface="Nunito" pitchFamily="2" charset="0"/>
              </a:rPr>
              <a:t>P(E) = Number of trials in which an event </a:t>
            </a:r>
            <a:r>
              <a:rPr lang="en-US" b="0" i="1" dirty="0" err="1">
                <a:solidFill>
                  <a:srgbClr val="273239"/>
                </a:solidFill>
                <a:effectLst/>
                <a:highlight>
                  <a:srgbClr val="F9F9F9"/>
                </a:highlight>
                <a:latin typeface="Nunito" pitchFamily="2" charset="0"/>
              </a:rPr>
              <a:t>occured</a:t>
            </a:r>
            <a:r>
              <a:rPr lang="en-US" b="0" i="1" dirty="0">
                <a:solidFill>
                  <a:srgbClr val="273239"/>
                </a:solidFill>
                <a:effectLst/>
                <a:highlight>
                  <a:srgbClr val="F9F9F9"/>
                </a:highlight>
                <a:latin typeface="Nunito" pitchFamily="2" charset="0"/>
              </a:rPr>
              <a:t>/ total number of trials</a:t>
            </a:r>
            <a:endParaRPr lang="en-US" dirty="0"/>
          </a:p>
        </p:txBody>
      </p:sp>
    </p:spTree>
    <p:extLst>
      <p:ext uri="{BB962C8B-B14F-4D97-AF65-F5344CB8AC3E}">
        <p14:creationId xmlns:p14="http://schemas.microsoft.com/office/powerpoint/2010/main" val="1176690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DDD2-1825-B790-4777-976F68F70119}"/>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Events and Outcomes</a:t>
            </a:r>
            <a:endParaRPr lang="en-US" dirty="0"/>
          </a:p>
        </p:txBody>
      </p:sp>
      <p:sp>
        <p:nvSpPr>
          <p:cNvPr id="3" name="Content Placeholder 2">
            <a:extLst>
              <a:ext uri="{FF2B5EF4-FFF2-40B4-BE49-F238E27FC236}">
                <a16:creationId xmlns:a16="http://schemas.microsoft.com/office/drawing/2014/main" id="{70981949-AA6A-4A1D-583F-C1466B68D9F6}"/>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Before moving on to probability, we need to understand what are events and outcomes. An outcome is the result of an experiment, and this experiment is called an </a:t>
            </a:r>
            <a:r>
              <a:rPr lang="en-US" b="0" i="0" u="sng" dirty="0">
                <a:effectLst/>
                <a:highlight>
                  <a:srgbClr val="FFFFFF"/>
                </a:highlight>
                <a:latin typeface="Nunito" pitchFamily="2" charset="0"/>
                <a:hlinkClick r:id="rId2"/>
              </a:rPr>
              <a:t>event</a:t>
            </a:r>
            <a:r>
              <a:rPr lang="en-US" b="0" i="0" dirty="0">
                <a:solidFill>
                  <a:srgbClr val="273239"/>
                </a:solidFill>
                <a:effectLst/>
                <a:highlight>
                  <a:srgbClr val="FFFFFF"/>
                </a:highlight>
                <a:latin typeface="Nunito" pitchFamily="2" charset="0"/>
              </a:rPr>
              <a:t> that has possible outcomes. For example, choosing an Ace from a deck of 52 cards, is an event, with outcomes, diamond Ace, spade Ace, club Ace, and heart Ace. Now, we have different types of events and outcomes. </a:t>
            </a:r>
            <a:endParaRPr lang="en-US" dirty="0"/>
          </a:p>
        </p:txBody>
      </p:sp>
    </p:spTree>
    <p:extLst>
      <p:ext uri="{BB962C8B-B14F-4D97-AF65-F5344CB8AC3E}">
        <p14:creationId xmlns:p14="http://schemas.microsoft.com/office/powerpoint/2010/main" val="220447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7DBF-EBEC-6BF5-60A9-CF1C1C44E66A}"/>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Types of Events</a:t>
            </a:r>
            <a:endParaRPr lang="en-US" dirty="0"/>
          </a:p>
        </p:txBody>
      </p:sp>
      <p:sp>
        <p:nvSpPr>
          <p:cNvPr id="3" name="Content Placeholder 2">
            <a:extLst>
              <a:ext uri="{FF2B5EF4-FFF2-40B4-BE49-F238E27FC236}">
                <a16:creationId xmlns:a16="http://schemas.microsoft.com/office/drawing/2014/main" id="{668D1A03-7C13-B20D-9D98-5A44C245A085}"/>
              </a:ext>
            </a:extLst>
          </p:cNvPr>
          <p:cNvSpPr>
            <a:spLocks noGrp="1"/>
          </p:cNvSpPr>
          <p:nvPr>
            <p:ph idx="1"/>
          </p:nvPr>
        </p:nvSpPr>
        <p:spPr/>
        <p:txBody>
          <a:bodyPr>
            <a:normAutofit/>
          </a:bodyPr>
          <a:lstStyle/>
          <a:p>
            <a:pPr marL="0" indent="0">
              <a:buNone/>
            </a:pPr>
            <a:r>
              <a:rPr lang="en-US" sz="2400" b="0" i="0" dirty="0">
                <a:solidFill>
                  <a:srgbClr val="273239"/>
                </a:solidFill>
                <a:effectLst/>
                <a:highlight>
                  <a:srgbClr val="FFFFFF"/>
                </a:highlight>
                <a:latin typeface="Nunito" pitchFamily="2" charset="0"/>
              </a:rPr>
              <a:t>There are 5 different </a:t>
            </a:r>
            <a:r>
              <a:rPr lang="en-US" sz="2400" b="0" i="0" u="sng" dirty="0">
                <a:effectLst/>
                <a:highlight>
                  <a:srgbClr val="FFFFFF"/>
                </a:highlight>
                <a:latin typeface="Nunito" pitchFamily="2" charset="0"/>
                <a:hlinkClick r:id="rId2"/>
              </a:rPr>
              <a:t>types of events</a:t>
            </a:r>
            <a:r>
              <a:rPr lang="en-US" sz="2400" b="0" i="0" dirty="0">
                <a:solidFill>
                  <a:srgbClr val="273239"/>
                </a:solidFill>
                <a:effectLst/>
                <a:highlight>
                  <a:srgbClr val="FFFFFF"/>
                </a:highlight>
                <a:latin typeface="Nunito" pitchFamily="2" charset="0"/>
              </a:rPr>
              <a:t> i.e. </a:t>
            </a:r>
          </a:p>
          <a:p>
            <a:r>
              <a:rPr lang="en-US" sz="2400" b="0" i="0" dirty="0">
                <a:solidFill>
                  <a:srgbClr val="273239"/>
                </a:solidFill>
                <a:effectLst/>
                <a:highlight>
                  <a:srgbClr val="FFFFFF"/>
                </a:highlight>
                <a:latin typeface="Nunito" pitchFamily="2" charset="0"/>
              </a:rPr>
              <a:t>sure events, </a:t>
            </a:r>
          </a:p>
          <a:p>
            <a:r>
              <a:rPr lang="en-US" sz="2400" b="0" i="0" dirty="0">
                <a:solidFill>
                  <a:srgbClr val="273239"/>
                </a:solidFill>
                <a:effectLst/>
                <a:highlight>
                  <a:srgbClr val="FFFFFF"/>
                </a:highlight>
                <a:latin typeface="Nunito" pitchFamily="2" charset="0"/>
              </a:rPr>
              <a:t>impossible events, </a:t>
            </a:r>
          </a:p>
          <a:p>
            <a:r>
              <a:rPr lang="en-US" sz="2400" b="0" i="0" dirty="0">
                <a:solidFill>
                  <a:srgbClr val="273239"/>
                </a:solidFill>
                <a:effectLst/>
                <a:highlight>
                  <a:srgbClr val="FFFFFF"/>
                </a:highlight>
                <a:latin typeface="Nunito" pitchFamily="2" charset="0"/>
              </a:rPr>
              <a:t>normal events, </a:t>
            </a:r>
          </a:p>
          <a:p>
            <a:r>
              <a:rPr lang="en-US" sz="2400" b="0" i="0" dirty="0">
                <a:solidFill>
                  <a:srgbClr val="273239"/>
                </a:solidFill>
                <a:effectLst/>
                <a:highlight>
                  <a:srgbClr val="FFFFFF"/>
                </a:highlight>
                <a:latin typeface="Nunito" pitchFamily="2" charset="0"/>
              </a:rPr>
              <a:t>complementary events, and </a:t>
            </a:r>
          </a:p>
          <a:p>
            <a:r>
              <a:rPr lang="en-US" sz="2400" b="0" i="0" dirty="0">
                <a:solidFill>
                  <a:srgbClr val="273239"/>
                </a:solidFill>
                <a:effectLst/>
                <a:highlight>
                  <a:srgbClr val="FFFFFF"/>
                </a:highlight>
                <a:latin typeface="Nunito" pitchFamily="2" charset="0"/>
              </a:rPr>
              <a:t>elementary events. </a:t>
            </a:r>
            <a:endParaRPr lang="en-US" sz="2400" dirty="0"/>
          </a:p>
        </p:txBody>
      </p:sp>
    </p:spTree>
    <p:extLst>
      <p:ext uri="{BB962C8B-B14F-4D97-AF65-F5344CB8AC3E}">
        <p14:creationId xmlns:p14="http://schemas.microsoft.com/office/powerpoint/2010/main" val="283518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C6AD-7EE6-88A6-2DD4-2D43D2A255C0}"/>
              </a:ext>
            </a:extLst>
          </p:cNvPr>
          <p:cNvSpPr>
            <a:spLocks noGrp="1"/>
          </p:cNvSpPr>
          <p:nvPr>
            <p:ph type="title"/>
          </p:nvPr>
        </p:nvSpPr>
        <p:spPr/>
        <p:txBody>
          <a:bodyPr/>
          <a:lstStyle/>
          <a:p>
            <a:endParaRPr lang="en-US"/>
          </a:p>
        </p:txBody>
      </p:sp>
      <p:pic>
        <p:nvPicPr>
          <p:cNvPr id="2050" name="Picture 2" descr="Sure or Certain Event">
            <a:extLst>
              <a:ext uri="{FF2B5EF4-FFF2-40B4-BE49-F238E27FC236}">
                <a16:creationId xmlns:a16="http://schemas.microsoft.com/office/drawing/2014/main" id="{639DC95F-EEFD-0B7F-EF4C-498FB2683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4" y="2094138"/>
            <a:ext cx="9488999" cy="3644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10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11F95-8092-84BD-5B9B-2D4287E49FD4}"/>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Sure Events</a:t>
            </a:r>
            <a:endParaRPr lang="en-US" dirty="0"/>
          </a:p>
        </p:txBody>
      </p:sp>
      <p:sp>
        <p:nvSpPr>
          <p:cNvPr id="3" name="Content Placeholder 2">
            <a:extLst>
              <a:ext uri="{FF2B5EF4-FFF2-40B4-BE49-F238E27FC236}">
                <a16:creationId xmlns:a16="http://schemas.microsoft.com/office/drawing/2014/main" id="{8112DE18-6562-D9B2-A149-2246A089FA6D}"/>
              </a:ext>
            </a:extLst>
          </p:cNvPr>
          <p:cNvSpPr>
            <a:spLocks noGrp="1"/>
          </p:cNvSpPr>
          <p:nvPr>
            <p:ph idx="1"/>
          </p:nvPr>
        </p:nvSpPr>
        <p:spPr/>
        <p:txBody>
          <a:bodyPr/>
          <a:lstStyle/>
          <a:p>
            <a:pPr marL="0" indent="0">
              <a:buNone/>
            </a:pPr>
            <a:r>
              <a:rPr lang="en-US" b="0" i="0" dirty="0">
                <a:solidFill>
                  <a:srgbClr val="273239"/>
                </a:solidFill>
                <a:effectLst/>
                <a:highlight>
                  <a:srgbClr val="FFFFFF"/>
                </a:highlight>
                <a:latin typeface="Nunito" pitchFamily="2" charset="0"/>
              </a:rPr>
              <a:t>A sure event is an event that will always occur, irrespective of the other factors. For example, the probability of getting a number between 1 and 6, is 1. Hence, the probability of a sure event is always equal to 1. </a:t>
            </a:r>
          </a:p>
          <a:p>
            <a:pPr marL="0" indent="0">
              <a:buNone/>
            </a:pPr>
            <a:endParaRPr lang="en-US" dirty="0">
              <a:solidFill>
                <a:srgbClr val="273239"/>
              </a:solidFill>
              <a:highlight>
                <a:srgbClr val="FFFFFF"/>
              </a:highlight>
              <a:latin typeface="Nunito" pitchFamily="2" charset="0"/>
            </a:endParaRPr>
          </a:p>
          <a:p>
            <a:pPr marL="0" indent="0">
              <a:buNone/>
            </a:pPr>
            <a:r>
              <a:rPr lang="en-US" b="0" i="1" dirty="0">
                <a:solidFill>
                  <a:srgbClr val="273239"/>
                </a:solidFill>
                <a:effectLst/>
                <a:highlight>
                  <a:srgbClr val="F9F9F9"/>
                </a:highlight>
                <a:latin typeface="Nunito" pitchFamily="2" charset="0"/>
              </a:rPr>
              <a:t>P(Sure Event) = 1</a:t>
            </a:r>
            <a:endParaRPr lang="en-US" dirty="0"/>
          </a:p>
        </p:txBody>
      </p:sp>
    </p:spTree>
    <p:extLst>
      <p:ext uri="{BB962C8B-B14F-4D97-AF65-F5344CB8AC3E}">
        <p14:creationId xmlns:p14="http://schemas.microsoft.com/office/powerpoint/2010/main" val="2380815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CCA04-115E-ECAA-A069-F1E30B46E5A0}"/>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Impossible Events</a:t>
            </a:r>
            <a:endParaRPr lang="en-US" dirty="0"/>
          </a:p>
        </p:txBody>
      </p:sp>
      <p:sp>
        <p:nvSpPr>
          <p:cNvPr id="3" name="Content Placeholder 2">
            <a:extLst>
              <a:ext uri="{FF2B5EF4-FFF2-40B4-BE49-F238E27FC236}">
                <a16:creationId xmlns:a16="http://schemas.microsoft.com/office/drawing/2014/main" id="{2ED69308-2EF9-23F6-5582-5BCEBA782033}"/>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An impossible event is an event that can never happen. For example, the probability of getting a number greater than 6, is 0. Hence, the probability of an impossible event is always equal to 0. </a:t>
            </a:r>
          </a:p>
          <a:p>
            <a:endParaRPr lang="en-US" dirty="0">
              <a:solidFill>
                <a:srgbClr val="273239"/>
              </a:solidFill>
              <a:highlight>
                <a:srgbClr val="FFFFFF"/>
              </a:highlight>
              <a:latin typeface="Nunito" pitchFamily="2" charset="0"/>
            </a:endParaRPr>
          </a:p>
          <a:p>
            <a:r>
              <a:rPr lang="en-US" b="0" i="1" dirty="0">
                <a:solidFill>
                  <a:srgbClr val="273239"/>
                </a:solidFill>
                <a:effectLst/>
                <a:highlight>
                  <a:srgbClr val="F9F9F9"/>
                </a:highlight>
                <a:latin typeface="Nunito" pitchFamily="2" charset="0"/>
              </a:rPr>
              <a:t>P(Impossible Event) = 0</a:t>
            </a:r>
            <a:endParaRPr lang="en-US" dirty="0"/>
          </a:p>
        </p:txBody>
      </p:sp>
    </p:spTree>
    <p:extLst>
      <p:ext uri="{BB962C8B-B14F-4D97-AF65-F5344CB8AC3E}">
        <p14:creationId xmlns:p14="http://schemas.microsoft.com/office/powerpoint/2010/main" val="183944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0702-8E36-60FF-C7D1-8A0DB11BB485}"/>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Normal Events</a:t>
            </a:r>
            <a:endParaRPr lang="en-US" b="1" dirty="0"/>
          </a:p>
        </p:txBody>
      </p:sp>
      <p:sp>
        <p:nvSpPr>
          <p:cNvPr id="3" name="Content Placeholder 2">
            <a:extLst>
              <a:ext uri="{FF2B5EF4-FFF2-40B4-BE49-F238E27FC236}">
                <a16:creationId xmlns:a16="http://schemas.microsoft.com/office/drawing/2014/main" id="{7177A322-0ADC-FF80-00F2-D0130C2D5E77}"/>
              </a:ext>
            </a:extLst>
          </p:cNvPr>
          <p:cNvSpPr>
            <a:spLocks noGrp="1"/>
          </p:cNvSpPr>
          <p:nvPr>
            <p:ph idx="1"/>
          </p:nvPr>
        </p:nvSpPr>
        <p:spPr/>
        <p:txBody>
          <a:bodyPr/>
          <a:lstStyle/>
          <a:p>
            <a:r>
              <a:rPr lang="en-US" b="0" i="0" dirty="0">
                <a:solidFill>
                  <a:srgbClr val="273239"/>
                </a:solidFill>
                <a:effectLst/>
                <a:highlight>
                  <a:srgbClr val="FFFFFF"/>
                </a:highlight>
                <a:latin typeface="Nunito" pitchFamily="2" charset="0"/>
              </a:rPr>
              <a:t>A normal event is an event, that can have any probability, i.e. between 0 and 1 inclusive. A sure event and an impossible event, are also normal events. For example, the probability of getting 1 on a die is 1/6.  </a:t>
            </a:r>
          </a:p>
          <a:p>
            <a:endParaRPr lang="en-US" dirty="0">
              <a:solidFill>
                <a:srgbClr val="273239"/>
              </a:solidFill>
              <a:highlight>
                <a:srgbClr val="FFFFFF"/>
              </a:highlight>
              <a:latin typeface="Nunito" pitchFamily="2" charset="0"/>
            </a:endParaRPr>
          </a:p>
          <a:p>
            <a:r>
              <a:rPr lang="en-US" b="0" i="1" dirty="0">
                <a:solidFill>
                  <a:srgbClr val="273239"/>
                </a:solidFill>
                <a:effectLst/>
                <a:highlight>
                  <a:srgbClr val="F9F9F9"/>
                </a:highlight>
                <a:latin typeface="Nunito" pitchFamily="2" charset="0"/>
              </a:rPr>
              <a:t>0 &lt;= P(E) &lt;= 1</a:t>
            </a:r>
            <a:endParaRPr lang="en-US" dirty="0"/>
          </a:p>
        </p:txBody>
      </p:sp>
    </p:spTree>
    <p:extLst>
      <p:ext uri="{BB962C8B-B14F-4D97-AF65-F5344CB8AC3E}">
        <p14:creationId xmlns:p14="http://schemas.microsoft.com/office/powerpoint/2010/main" val="716335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1CD32-76D9-64B1-0AA7-EDCE26571704}"/>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Complementary Events</a:t>
            </a:r>
            <a:endParaRPr lang="en-US" dirty="0"/>
          </a:p>
        </p:txBody>
      </p:sp>
      <p:sp>
        <p:nvSpPr>
          <p:cNvPr id="3" name="Content Placeholder 2">
            <a:extLst>
              <a:ext uri="{FF2B5EF4-FFF2-40B4-BE49-F238E27FC236}">
                <a16:creationId xmlns:a16="http://schemas.microsoft.com/office/drawing/2014/main" id="{6CCABAD5-4F09-693B-018A-0FE54A64AC86}"/>
              </a:ext>
            </a:extLst>
          </p:cNvPr>
          <p:cNvSpPr>
            <a:spLocks noGrp="1"/>
          </p:cNvSpPr>
          <p:nvPr>
            <p:ph idx="1"/>
          </p:nvPr>
        </p:nvSpPr>
        <p:spPr>
          <a:xfrm>
            <a:off x="841248" y="1850583"/>
            <a:ext cx="9489000" cy="2318646"/>
          </a:xfrm>
        </p:spPr>
        <p:txBody>
          <a:bodyPr/>
          <a:lstStyle/>
          <a:p>
            <a:r>
              <a:rPr lang="en-US" b="0" i="0" dirty="0">
                <a:solidFill>
                  <a:srgbClr val="273239"/>
                </a:solidFill>
                <a:effectLst/>
                <a:highlight>
                  <a:srgbClr val="FFFFFF"/>
                </a:highlight>
                <a:latin typeface="Nunito" pitchFamily="2" charset="0"/>
              </a:rPr>
              <a:t>A complementary event is an event, such that the sum of the probability of occurring an event and the probability of not occurring an event is equal to 1. For example, the probability of getting a number less than 3 on a die is, 2/6, and then the probability of not getting a number less than 3 is 4/6. Hence, the sum of their probabilities is equal to 1. </a:t>
            </a:r>
          </a:p>
          <a:p>
            <a:endParaRPr lang="en-US" dirty="0">
              <a:solidFill>
                <a:srgbClr val="273239"/>
              </a:solidFill>
              <a:highlight>
                <a:srgbClr val="FFFFFF"/>
              </a:highlight>
              <a:latin typeface="Nunito" pitchFamily="2" charset="0"/>
            </a:endParaRPr>
          </a:p>
          <a:p>
            <a:endParaRPr lang="en-US" dirty="0"/>
          </a:p>
        </p:txBody>
      </p:sp>
      <p:sp>
        <p:nvSpPr>
          <p:cNvPr id="4" name="AutoShape 2" descr="P(E) + P(\overline{E}) = 1  ">
            <a:extLst>
              <a:ext uri="{FF2B5EF4-FFF2-40B4-BE49-F238E27FC236}">
                <a16:creationId xmlns:a16="http://schemas.microsoft.com/office/drawing/2014/main" id="{F1589D90-C9E0-66EC-4882-A52C67A19CFD}"/>
              </a:ext>
            </a:extLst>
          </p:cNvPr>
          <p:cNvSpPr>
            <a:spLocks noChangeAspect="1" noChangeArrowheads="1"/>
          </p:cNvSpPr>
          <p:nvPr/>
        </p:nvSpPr>
        <p:spPr bwMode="auto">
          <a:xfrm>
            <a:off x="5133975" y="3286125"/>
            <a:ext cx="1924050" cy="285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P(E) + P(\overline{E}) = 1  ">
            <a:extLst>
              <a:ext uri="{FF2B5EF4-FFF2-40B4-BE49-F238E27FC236}">
                <a16:creationId xmlns:a16="http://schemas.microsoft.com/office/drawing/2014/main" id="{259FAAB5-6740-2173-8A57-225C67ABC393}"/>
              </a:ext>
            </a:extLst>
          </p:cNvPr>
          <p:cNvSpPr>
            <a:spLocks noChangeAspect="1" noChangeArrowheads="1"/>
          </p:cNvSpPr>
          <p:nvPr/>
        </p:nvSpPr>
        <p:spPr bwMode="auto">
          <a:xfrm>
            <a:off x="5286375" y="3438525"/>
            <a:ext cx="1924050" cy="2857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descr="P(E) + P(\overline{E}) = 1  ">
            <a:extLst>
              <a:ext uri="{FF2B5EF4-FFF2-40B4-BE49-F238E27FC236}">
                <a16:creationId xmlns:a16="http://schemas.microsoft.com/office/drawing/2014/main" id="{953F6876-10CE-8335-C3DA-B04856C76A46}"/>
              </a:ext>
            </a:extLst>
          </p:cNvPr>
          <p:cNvSpPr>
            <a:spLocks noChangeAspect="1" noChangeArrowheads="1"/>
          </p:cNvSpPr>
          <p:nvPr/>
        </p:nvSpPr>
        <p:spPr bwMode="auto">
          <a:xfrm>
            <a:off x="5259177" y="415970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22786362-7638-BB72-2C08-6EEBD37D1E24}"/>
              </a:ext>
            </a:extLst>
          </p:cNvPr>
          <p:cNvPicPr>
            <a:picLocks noChangeAspect="1"/>
          </p:cNvPicPr>
          <p:nvPr/>
        </p:nvPicPr>
        <p:blipFill>
          <a:blip r:embed="rId2"/>
          <a:stretch>
            <a:fillRect/>
          </a:stretch>
        </p:blipFill>
        <p:spPr>
          <a:xfrm>
            <a:off x="3041133" y="4234544"/>
            <a:ext cx="4016892" cy="840269"/>
          </a:xfrm>
          <a:prstGeom prst="rect">
            <a:avLst/>
          </a:prstGeom>
        </p:spPr>
      </p:pic>
    </p:spTree>
    <p:extLst>
      <p:ext uri="{BB962C8B-B14F-4D97-AF65-F5344CB8AC3E}">
        <p14:creationId xmlns:p14="http://schemas.microsoft.com/office/powerpoint/2010/main" val="365754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11AF8-C0C9-6DA3-3C47-E03427AE08D8}"/>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Elementary Events </a:t>
            </a:r>
            <a:endParaRPr lang="en-US" dirty="0"/>
          </a:p>
        </p:txBody>
      </p:sp>
      <p:sp>
        <p:nvSpPr>
          <p:cNvPr id="3" name="Content Placeholder 2">
            <a:extLst>
              <a:ext uri="{FF2B5EF4-FFF2-40B4-BE49-F238E27FC236}">
                <a16:creationId xmlns:a16="http://schemas.microsoft.com/office/drawing/2014/main" id="{80805119-53A3-9330-B412-54DB22C976B0}"/>
              </a:ext>
            </a:extLst>
          </p:cNvPr>
          <p:cNvSpPr>
            <a:spLocks noGrp="1"/>
          </p:cNvSpPr>
          <p:nvPr>
            <p:ph idx="1"/>
          </p:nvPr>
        </p:nvSpPr>
        <p:spPr>
          <a:xfrm>
            <a:off x="841248" y="2096199"/>
            <a:ext cx="9489000" cy="1964172"/>
          </a:xfrm>
        </p:spPr>
        <p:txBody>
          <a:bodyPr/>
          <a:lstStyle/>
          <a:p>
            <a:r>
              <a:rPr lang="en-US" b="0" i="0" dirty="0">
                <a:solidFill>
                  <a:srgbClr val="273239"/>
                </a:solidFill>
                <a:effectLst/>
                <a:highlight>
                  <a:srgbClr val="FFFFFF"/>
                </a:highlight>
                <a:latin typeface="Nunito" pitchFamily="2" charset="0"/>
              </a:rPr>
              <a:t>An elementary event is an event, which has only one outcome. For example, the probability of getting the number 2 on a die is, 1/6, similarly, the probability of getting the number 1 on a die is 1/6, and similar for all the rest numbers….. The sum of probabilities of all elementary events is equal to 1.</a:t>
            </a:r>
            <a:endParaRPr lang="en-US" dirty="0"/>
          </a:p>
        </p:txBody>
      </p:sp>
      <p:pic>
        <p:nvPicPr>
          <p:cNvPr id="5" name="Picture 4">
            <a:extLst>
              <a:ext uri="{FF2B5EF4-FFF2-40B4-BE49-F238E27FC236}">
                <a16:creationId xmlns:a16="http://schemas.microsoft.com/office/drawing/2014/main" id="{B2BBFA38-20ED-F35C-255B-061DBF3A07EC}"/>
              </a:ext>
            </a:extLst>
          </p:cNvPr>
          <p:cNvPicPr>
            <a:picLocks noChangeAspect="1"/>
          </p:cNvPicPr>
          <p:nvPr/>
        </p:nvPicPr>
        <p:blipFill>
          <a:blip r:embed="rId2"/>
          <a:stretch>
            <a:fillRect/>
          </a:stretch>
        </p:blipFill>
        <p:spPr>
          <a:xfrm>
            <a:off x="2029260" y="4136709"/>
            <a:ext cx="6113840" cy="816289"/>
          </a:xfrm>
          <a:prstGeom prst="rect">
            <a:avLst/>
          </a:prstGeom>
        </p:spPr>
      </p:pic>
    </p:spTree>
    <p:extLst>
      <p:ext uri="{BB962C8B-B14F-4D97-AF65-F5344CB8AC3E}">
        <p14:creationId xmlns:p14="http://schemas.microsoft.com/office/powerpoint/2010/main" val="3033204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EFCD-EB3A-9843-EB03-A1CC74EE0C77}"/>
              </a:ext>
            </a:extLst>
          </p:cNvPr>
          <p:cNvSpPr>
            <a:spLocks noGrp="1"/>
          </p:cNvSpPr>
          <p:nvPr>
            <p:ph type="title"/>
          </p:nvPr>
        </p:nvSpPr>
        <p:spPr>
          <a:xfrm>
            <a:off x="841248" y="552783"/>
            <a:ext cx="9489000" cy="731732"/>
          </a:xfrm>
        </p:spPr>
        <p:txBody>
          <a:bodyPr/>
          <a:lstStyle/>
          <a:p>
            <a:r>
              <a:rPr lang="en-US" b="1" i="0" dirty="0">
                <a:solidFill>
                  <a:srgbClr val="273239"/>
                </a:solidFill>
                <a:effectLst/>
                <a:highlight>
                  <a:srgbClr val="FFFFFF"/>
                </a:highlight>
                <a:latin typeface="Nunito" pitchFamily="2" charset="0"/>
              </a:rPr>
              <a:t>Types of Outcomes </a:t>
            </a:r>
            <a:endParaRPr lang="en-US" dirty="0"/>
          </a:p>
        </p:txBody>
      </p:sp>
      <p:sp>
        <p:nvSpPr>
          <p:cNvPr id="3" name="Content Placeholder 2">
            <a:extLst>
              <a:ext uri="{FF2B5EF4-FFF2-40B4-BE49-F238E27FC236}">
                <a16:creationId xmlns:a16="http://schemas.microsoft.com/office/drawing/2014/main" id="{D0E65292-AE99-34BA-4164-8DA0C5EBB7E5}"/>
              </a:ext>
            </a:extLst>
          </p:cNvPr>
          <p:cNvSpPr>
            <a:spLocks noGrp="1"/>
          </p:cNvSpPr>
          <p:nvPr>
            <p:ph idx="1"/>
          </p:nvPr>
        </p:nvSpPr>
        <p:spPr>
          <a:xfrm>
            <a:off x="841248" y="1600200"/>
            <a:ext cx="9587266" cy="4243383"/>
          </a:xfrm>
        </p:spPr>
        <p:txBody>
          <a:bodyPr>
            <a:normAutofit fontScale="85000" lnSpcReduction="20000"/>
          </a:bodyPr>
          <a:lstStyle/>
          <a:p>
            <a:pPr marL="0" indent="0">
              <a:buNone/>
            </a:pPr>
            <a:r>
              <a:rPr lang="en-US" b="0" i="0" dirty="0">
                <a:solidFill>
                  <a:srgbClr val="273239"/>
                </a:solidFill>
                <a:effectLst/>
                <a:highlight>
                  <a:srgbClr val="FFFFFF"/>
                </a:highlight>
                <a:latin typeface="Nunito" pitchFamily="2" charset="0"/>
              </a:rPr>
              <a:t>There are two different types of outcomes i.e. equal likely outcome, and non-equally likely outcome.</a:t>
            </a:r>
          </a:p>
          <a:p>
            <a:pPr algn="l" fontAlgn="base"/>
            <a:r>
              <a:rPr lang="en-US" b="1" i="0" dirty="0">
                <a:solidFill>
                  <a:srgbClr val="273239"/>
                </a:solidFill>
                <a:effectLst/>
                <a:highlight>
                  <a:srgbClr val="FFFFFF"/>
                </a:highlight>
                <a:latin typeface="Nunito" pitchFamily="2" charset="0"/>
              </a:rPr>
              <a:t>Equally likely outcome </a:t>
            </a:r>
          </a:p>
          <a:p>
            <a:pPr marL="0" indent="0" algn="l" rtl="0" fontAlgn="base">
              <a:buNone/>
            </a:pPr>
            <a:r>
              <a:rPr lang="en-US" b="0" i="0" dirty="0">
                <a:solidFill>
                  <a:srgbClr val="273239"/>
                </a:solidFill>
                <a:effectLst/>
                <a:highlight>
                  <a:srgbClr val="FFFFFF"/>
                </a:highlight>
                <a:latin typeface="Nunito" pitchFamily="2" charset="0"/>
              </a:rPr>
              <a:t>An equally likely outcome is the outcome that has, the same output and probability. For example, tossing a coin will give an equally likely outcome, i.e. head or tail, hence the probability of each of them is 1/2, rolling a die, will give an equally likely outcome i.e. 1, 2, 3, 4, 5, 6, hence the probability of each of them is 1/6. </a:t>
            </a:r>
          </a:p>
          <a:p>
            <a:pPr algn="l" fontAlgn="base"/>
            <a:r>
              <a:rPr lang="en-US" b="1" i="0" dirty="0">
                <a:solidFill>
                  <a:srgbClr val="273239"/>
                </a:solidFill>
                <a:effectLst/>
                <a:highlight>
                  <a:srgbClr val="FFFFFF"/>
                </a:highlight>
                <a:latin typeface="Nunito" pitchFamily="2" charset="0"/>
              </a:rPr>
              <a:t>Non-Equally likely outcome </a:t>
            </a:r>
          </a:p>
          <a:p>
            <a:pPr marL="0" indent="0" algn="l" rtl="0" fontAlgn="base">
              <a:buNone/>
            </a:pPr>
            <a:r>
              <a:rPr lang="en-US" b="0" i="0" dirty="0">
                <a:solidFill>
                  <a:srgbClr val="273239"/>
                </a:solidFill>
                <a:effectLst/>
                <a:highlight>
                  <a:srgbClr val="FFFFFF"/>
                </a:highlight>
                <a:latin typeface="Nunito" pitchFamily="2" charset="0"/>
              </a:rPr>
              <a:t>A non-equally likely outcome is an outcome, that has uncertainty in its outcomes and also depends on the various other factors. For example, starting a car, and the car starts or does not start, this gives a non-equally likely outcome, because the car will always start unless it needs maintenance/service. </a:t>
            </a:r>
          </a:p>
          <a:p>
            <a:pPr marL="0" indent="0">
              <a:buNone/>
            </a:pPr>
            <a:endParaRPr lang="en-US" dirty="0"/>
          </a:p>
        </p:txBody>
      </p:sp>
    </p:spTree>
    <p:extLst>
      <p:ext uri="{BB962C8B-B14F-4D97-AF65-F5344CB8AC3E}">
        <p14:creationId xmlns:p14="http://schemas.microsoft.com/office/powerpoint/2010/main" val="2682878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16D3-2D09-224E-9428-17C9127903B2}"/>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Cards Probability</a:t>
            </a:r>
            <a:endParaRPr lang="en-US" dirty="0"/>
          </a:p>
        </p:txBody>
      </p:sp>
      <p:sp>
        <p:nvSpPr>
          <p:cNvPr id="3" name="Content Placeholder 2">
            <a:extLst>
              <a:ext uri="{FF2B5EF4-FFF2-40B4-BE49-F238E27FC236}">
                <a16:creationId xmlns:a16="http://schemas.microsoft.com/office/drawing/2014/main" id="{A5D2A9AB-133F-5ECD-ADCD-48D76668FCF0}"/>
              </a:ext>
            </a:extLst>
          </p:cNvPr>
          <p:cNvSpPr>
            <a:spLocks noGrp="1"/>
          </p:cNvSpPr>
          <p:nvPr>
            <p:ph idx="1"/>
          </p:nvPr>
        </p:nvSpPr>
        <p:spPr>
          <a:xfrm>
            <a:off x="645304" y="1758740"/>
            <a:ext cx="9935609" cy="4250173"/>
          </a:xfrm>
        </p:spPr>
        <p:txBody>
          <a:bodyPr>
            <a:normAutofit lnSpcReduction="10000"/>
          </a:bodyPr>
          <a:lstStyle/>
          <a:p>
            <a:pPr marL="0" indent="0" algn="l" rtl="0" fontAlgn="base">
              <a:buNone/>
            </a:pPr>
            <a:r>
              <a:rPr lang="en-US" b="0" i="0" dirty="0">
                <a:solidFill>
                  <a:srgbClr val="273239"/>
                </a:solidFill>
                <a:effectLst/>
                <a:highlight>
                  <a:srgbClr val="FFFFFF"/>
                </a:highlight>
                <a:latin typeface="Nunito" pitchFamily="2" charset="0"/>
              </a:rPr>
              <a:t>The 52 playing cards in a deck are separated into four suits of hearts, diamonds, clubs, and spades.</a:t>
            </a:r>
          </a:p>
          <a:p>
            <a:pPr marL="0" indent="0" algn="l" rtl="0" fontAlgn="base">
              <a:buNone/>
            </a:pPr>
            <a:r>
              <a:rPr lang="en-US" b="0" i="0" dirty="0">
                <a:solidFill>
                  <a:srgbClr val="273239"/>
                </a:solidFill>
                <a:effectLst/>
                <a:highlight>
                  <a:srgbClr val="FFFFFF"/>
                </a:highlight>
                <a:latin typeface="Nunito" pitchFamily="2" charset="0"/>
              </a:rPr>
              <a:t>Specific symbols are used to represent the four suits:</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Hearts: </a:t>
            </a:r>
            <a:r>
              <a:rPr lang="en-US" b="0" i="0" dirty="0">
                <a:solidFill>
                  <a:srgbClr val="273239"/>
                </a:solidFill>
                <a:effectLst/>
                <a:highlight>
                  <a:srgbClr val="FFFFFF"/>
                </a:highlight>
                <a:latin typeface="Nunito" pitchFamily="2" charset="0"/>
              </a:rPr>
              <a:t>A red heart symbol (♥) represents the heart suit.</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Diamonds: </a:t>
            </a:r>
            <a:r>
              <a:rPr lang="en-US" b="0" i="0" dirty="0">
                <a:solidFill>
                  <a:srgbClr val="273239"/>
                </a:solidFill>
                <a:effectLst/>
                <a:highlight>
                  <a:srgbClr val="FFFFFF"/>
                </a:highlight>
                <a:latin typeface="Nunito" pitchFamily="2" charset="0"/>
              </a:rPr>
              <a:t>A red diamond symbol (♦) represents the diamond suit.</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Clubs:</a:t>
            </a:r>
            <a:r>
              <a:rPr lang="en-US" b="0" i="0" dirty="0">
                <a:solidFill>
                  <a:srgbClr val="273239"/>
                </a:solidFill>
                <a:effectLst/>
                <a:highlight>
                  <a:srgbClr val="FFFFFF"/>
                </a:highlight>
                <a:latin typeface="Nunito" pitchFamily="2" charset="0"/>
              </a:rPr>
              <a:t> A black club symbol (♣) represents the club suit.</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Spades:</a:t>
            </a:r>
            <a:r>
              <a:rPr lang="en-US" b="0" i="0" dirty="0">
                <a:solidFill>
                  <a:srgbClr val="273239"/>
                </a:solidFill>
                <a:effectLst/>
                <a:highlight>
                  <a:srgbClr val="FFFFFF"/>
                </a:highlight>
                <a:latin typeface="Nunito" pitchFamily="2" charset="0"/>
              </a:rPr>
              <a:t> A black spade symbol (♠) represents the spade suit.</a:t>
            </a:r>
          </a:p>
          <a:p>
            <a:pPr marL="0" indent="0" algn="l" rtl="0" fontAlgn="base">
              <a:buNone/>
            </a:pPr>
            <a:r>
              <a:rPr lang="en-US" b="1" i="0" dirty="0">
                <a:solidFill>
                  <a:srgbClr val="273239"/>
                </a:solidFill>
                <a:effectLst/>
                <a:highlight>
                  <a:srgbClr val="FFFFFF"/>
                </a:highlight>
                <a:latin typeface="Nunito" pitchFamily="2" charset="0"/>
              </a:rPr>
              <a:t>Ace, 2, 3, 4, 5, 6, 7, 8, 9, 10, Jack, Queen,</a:t>
            </a:r>
            <a:r>
              <a:rPr lang="en-US" b="0" i="0" dirty="0">
                <a:solidFill>
                  <a:srgbClr val="273239"/>
                </a:solidFill>
                <a:effectLst/>
                <a:highlight>
                  <a:srgbClr val="FFFFFF"/>
                </a:highlight>
                <a:latin typeface="Nunito" pitchFamily="2" charset="0"/>
              </a:rPr>
              <a:t> and</a:t>
            </a:r>
            <a:r>
              <a:rPr lang="en-US" b="1" i="0" dirty="0">
                <a:solidFill>
                  <a:srgbClr val="273239"/>
                </a:solidFill>
                <a:effectLst/>
                <a:highlight>
                  <a:srgbClr val="FFFFFF"/>
                </a:highlight>
                <a:latin typeface="Nunito" pitchFamily="2" charset="0"/>
              </a:rPr>
              <a:t> King </a:t>
            </a:r>
            <a:r>
              <a:rPr lang="en-US" b="0" i="0" dirty="0">
                <a:solidFill>
                  <a:srgbClr val="273239"/>
                </a:solidFill>
                <a:effectLst/>
                <a:highlight>
                  <a:srgbClr val="FFFFFF"/>
                </a:highlight>
                <a:latin typeface="Nunito" pitchFamily="2" charset="0"/>
              </a:rPr>
              <a:t>are the 13 cards that make up each suit.</a:t>
            </a:r>
          </a:p>
          <a:p>
            <a:pPr marL="0" indent="0">
              <a:buNone/>
            </a:pPr>
            <a:endParaRPr lang="en-US" dirty="0"/>
          </a:p>
        </p:txBody>
      </p:sp>
    </p:spTree>
    <p:extLst>
      <p:ext uri="{BB962C8B-B14F-4D97-AF65-F5344CB8AC3E}">
        <p14:creationId xmlns:p14="http://schemas.microsoft.com/office/powerpoint/2010/main" val="2263914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00A23-F756-8B45-1D94-C7AD94035827}"/>
              </a:ext>
            </a:extLst>
          </p:cNvPr>
          <p:cNvSpPr>
            <a:spLocks noGrp="1"/>
          </p:cNvSpPr>
          <p:nvPr>
            <p:ph type="title"/>
          </p:nvPr>
        </p:nvSpPr>
        <p:spPr/>
        <p:txBody>
          <a:bodyPr/>
          <a:lstStyle/>
          <a:p>
            <a:r>
              <a:rPr lang="en-US" dirty="0"/>
              <a:t>Card probability</a:t>
            </a:r>
          </a:p>
        </p:txBody>
      </p:sp>
      <p:sp>
        <p:nvSpPr>
          <p:cNvPr id="3" name="Content Placeholder 2">
            <a:extLst>
              <a:ext uri="{FF2B5EF4-FFF2-40B4-BE49-F238E27FC236}">
                <a16:creationId xmlns:a16="http://schemas.microsoft.com/office/drawing/2014/main" id="{626FF077-A173-ABFD-4A47-B869F8529331}"/>
              </a:ext>
            </a:extLst>
          </p:cNvPr>
          <p:cNvSpPr>
            <a:spLocks noGrp="1"/>
          </p:cNvSpPr>
          <p:nvPr>
            <p:ph idx="1"/>
          </p:nvPr>
        </p:nvSpPr>
        <p:spPr>
          <a:xfrm>
            <a:off x="841247" y="1730828"/>
            <a:ext cx="9935609" cy="4574389"/>
          </a:xfrm>
        </p:spPr>
        <p:txBody>
          <a:bodyPr>
            <a:normAutofit fontScale="92500" lnSpcReduction="10000"/>
          </a:bodyPr>
          <a:lstStyle/>
          <a:p>
            <a:pPr algn="l" rtl="0" fontAlgn="base"/>
            <a:r>
              <a:rPr lang="en-US" b="0" i="0" dirty="0">
                <a:solidFill>
                  <a:srgbClr val="273239"/>
                </a:solidFill>
                <a:effectLst/>
                <a:highlight>
                  <a:srgbClr val="FFFFFF"/>
                </a:highlight>
                <a:latin typeface="Nunito" pitchFamily="2" charset="0"/>
              </a:rPr>
              <a:t>If we draw a card from a properly shuffled deck, it may happen in one of several ways:</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Drawing a specific card: </a:t>
            </a:r>
            <a:r>
              <a:rPr lang="en-US" b="0" i="0" dirty="0">
                <a:solidFill>
                  <a:srgbClr val="273239"/>
                </a:solidFill>
                <a:effectLst/>
                <a:highlight>
                  <a:srgbClr val="FFFFFF"/>
                </a:highlight>
                <a:latin typeface="Nunito" pitchFamily="2" charset="0"/>
              </a:rPr>
              <a:t>In this case, a specific card, such as the Ace of Spades or the Queen of Hearts, is drawn from the deck. (P = 1/52)</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Drawing a card from a certain suit:</a:t>
            </a:r>
            <a:r>
              <a:rPr lang="en-US" b="0" i="0" dirty="0">
                <a:solidFill>
                  <a:srgbClr val="273239"/>
                </a:solidFill>
                <a:effectLst/>
                <a:highlight>
                  <a:srgbClr val="FFFFFF"/>
                </a:highlight>
                <a:latin typeface="Nunito" pitchFamily="2" charset="0"/>
              </a:rPr>
              <a:t> In this scenario, a card from a particular suit, such as a heart or a diamond, is drawn. (P = 1/13)</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Drawing a card of a particular rank:</a:t>
            </a:r>
            <a:r>
              <a:rPr lang="en-US" b="0" i="0" dirty="0">
                <a:solidFill>
                  <a:srgbClr val="273239"/>
                </a:solidFill>
                <a:effectLst/>
                <a:highlight>
                  <a:srgbClr val="FFFFFF"/>
                </a:highlight>
                <a:latin typeface="Nunito" pitchFamily="2" charset="0"/>
              </a:rPr>
              <a:t> The emphasis of this event is on drawing a card of a particular rank, such as a King or a 7. (P = 1/13)</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Drawing a face card: </a:t>
            </a:r>
            <a:r>
              <a:rPr lang="en-US" b="0" i="0" dirty="0">
                <a:solidFill>
                  <a:srgbClr val="273239"/>
                </a:solidFill>
                <a:effectLst/>
                <a:highlight>
                  <a:srgbClr val="FFFFFF"/>
                </a:highlight>
                <a:latin typeface="Nunito" pitchFamily="2" charset="0"/>
              </a:rPr>
              <a:t>In this case, the King, Queen, and Jack of each suit are included in the face card. (P = 3/13)</a:t>
            </a: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Drawing a red or black card: </a:t>
            </a:r>
            <a:r>
              <a:rPr lang="en-US" b="0" i="0" dirty="0">
                <a:solidFill>
                  <a:srgbClr val="273239"/>
                </a:solidFill>
                <a:effectLst/>
                <a:highlight>
                  <a:srgbClr val="FFFFFF"/>
                </a:highlight>
                <a:latin typeface="Nunito" pitchFamily="2" charset="0"/>
              </a:rPr>
              <a:t>This event refers to drawing a card that is either red (hearts or diamonds) or black (clubs or spades). (P = 1/2)</a:t>
            </a:r>
          </a:p>
          <a:p>
            <a:endParaRPr lang="en-US" dirty="0"/>
          </a:p>
        </p:txBody>
      </p:sp>
    </p:spTree>
    <p:extLst>
      <p:ext uri="{BB962C8B-B14F-4D97-AF65-F5344CB8AC3E}">
        <p14:creationId xmlns:p14="http://schemas.microsoft.com/office/powerpoint/2010/main" val="1253173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B388-9E2E-BB03-89CA-6A9A74BCC53A}"/>
              </a:ext>
            </a:extLst>
          </p:cNvPr>
          <p:cNvSpPr>
            <a:spLocks noGrp="1"/>
          </p:cNvSpPr>
          <p:nvPr>
            <p:ph type="title"/>
          </p:nvPr>
        </p:nvSpPr>
        <p:spPr>
          <a:xfrm>
            <a:off x="841248" y="417167"/>
            <a:ext cx="9489000" cy="797047"/>
          </a:xfrm>
        </p:spPr>
        <p:txBody>
          <a:bodyPr/>
          <a:lstStyle/>
          <a:p>
            <a:r>
              <a:rPr lang="en-US" dirty="0"/>
              <a:t>Question</a:t>
            </a:r>
          </a:p>
        </p:txBody>
      </p:sp>
      <p:sp>
        <p:nvSpPr>
          <p:cNvPr id="3" name="Content Placeholder 2">
            <a:extLst>
              <a:ext uri="{FF2B5EF4-FFF2-40B4-BE49-F238E27FC236}">
                <a16:creationId xmlns:a16="http://schemas.microsoft.com/office/drawing/2014/main" id="{EDFE590B-D8D4-C947-CD65-DCC9F1E668AB}"/>
              </a:ext>
            </a:extLst>
          </p:cNvPr>
          <p:cNvSpPr>
            <a:spLocks noGrp="1"/>
          </p:cNvSpPr>
          <p:nvPr>
            <p:ph idx="1"/>
          </p:nvPr>
        </p:nvSpPr>
        <p:spPr>
          <a:xfrm>
            <a:off x="841247" y="1214214"/>
            <a:ext cx="9870295" cy="968828"/>
          </a:xfrm>
        </p:spPr>
        <p:txBody>
          <a:bodyPr/>
          <a:lstStyle/>
          <a:p>
            <a:pPr marL="0" indent="0">
              <a:buNone/>
            </a:pPr>
            <a:r>
              <a:rPr lang="en-US" b="1" i="0" dirty="0">
                <a:solidFill>
                  <a:srgbClr val="273239"/>
                </a:solidFill>
                <a:effectLst/>
                <a:highlight>
                  <a:srgbClr val="FFFFFF"/>
                </a:highlight>
                <a:latin typeface="Nunito" pitchFamily="2" charset="0"/>
              </a:rPr>
              <a:t>A bag contains 1 red ball, 2 green balls, and 2 white balls. What is the probability of not getting a white ball? </a:t>
            </a:r>
          </a:p>
          <a:p>
            <a:pPr marL="0" indent="0">
              <a:buNone/>
            </a:pPr>
            <a:endParaRPr lang="en-US" dirty="0"/>
          </a:p>
        </p:txBody>
      </p:sp>
      <p:pic>
        <p:nvPicPr>
          <p:cNvPr id="7" name="Picture 6">
            <a:extLst>
              <a:ext uri="{FF2B5EF4-FFF2-40B4-BE49-F238E27FC236}">
                <a16:creationId xmlns:a16="http://schemas.microsoft.com/office/drawing/2014/main" id="{E248B4C9-0939-17AF-12BA-EE70B7D2D6BB}"/>
              </a:ext>
            </a:extLst>
          </p:cNvPr>
          <p:cNvPicPr>
            <a:picLocks noChangeAspect="1"/>
          </p:cNvPicPr>
          <p:nvPr/>
        </p:nvPicPr>
        <p:blipFill>
          <a:blip r:embed="rId2"/>
          <a:stretch>
            <a:fillRect/>
          </a:stretch>
        </p:blipFill>
        <p:spPr>
          <a:xfrm>
            <a:off x="841247" y="2183042"/>
            <a:ext cx="9402209" cy="4141558"/>
          </a:xfrm>
          <a:prstGeom prst="rect">
            <a:avLst/>
          </a:prstGeom>
        </p:spPr>
      </p:pic>
    </p:spTree>
    <p:extLst>
      <p:ext uri="{BB962C8B-B14F-4D97-AF65-F5344CB8AC3E}">
        <p14:creationId xmlns:p14="http://schemas.microsoft.com/office/powerpoint/2010/main" val="266656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194AEDE-F25F-43E6-A2C4-7FFF41074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744" y="334928"/>
            <a:ext cx="11456511" cy="61881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4C793C08-EF4C-422B-A728-6C717C47D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48698" y="334928"/>
            <a:ext cx="0" cy="61881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825BC6-56A8-46DE-8037-A9A577624B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060" y="6047437"/>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EED8031-DD67-43C6-94A0-646636C955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0154" y="4495800"/>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Main Frame">
            <a:extLst>
              <a:ext uri="{FF2B5EF4-FFF2-40B4-BE49-F238E27FC236}">
                <a16:creationId xmlns:a16="http://schemas.microsoft.com/office/drawing/2014/main" id="{9502469D-C562-48E3-ABA2-3CFA55C52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744" y="334928"/>
            <a:ext cx="11456511" cy="61881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960221-7497-6700-F16B-93AE4A923560}"/>
              </a:ext>
            </a:extLst>
          </p:cNvPr>
          <p:cNvSpPr>
            <a:spLocks noGrp="1"/>
          </p:cNvSpPr>
          <p:nvPr>
            <p:ph type="title"/>
          </p:nvPr>
        </p:nvSpPr>
        <p:spPr>
          <a:xfrm>
            <a:off x="609600" y="669856"/>
            <a:ext cx="6325675" cy="1040655"/>
          </a:xfrm>
        </p:spPr>
        <p:txBody>
          <a:bodyPr vert="horz" lIns="91440" tIns="45720" rIns="91440" bIns="45720" rtlCol="0" anchor="ctr">
            <a:normAutofit/>
          </a:bodyPr>
          <a:lstStyle/>
          <a:p>
            <a:r>
              <a:rPr lang="en-US" sz="2100" dirty="0"/>
              <a:t>Question - </a:t>
            </a:r>
            <a:r>
              <a:rPr lang="en-US" sz="2100" b="1" i="0" dirty="0">
                <a:effectLst/>
                <a:highlight>
                  <a:srgbClr val="FFFFFF"/>
                </a:highlight>
              </a:rPr>
              <a:t>Given a deck of 52 cards. Find the probability of getting a red Ace. </a:t>
            </a:r>
            <a:endParaRPr lang="en-US" sz="2100" dirty="0"/>
          </a:p>
        </p:txBody>
      </p:sp>
      <p:cxnSp>
        <p:nvCxnSpPr>
          <p:cNvPr id="24" name="Main Horizontal Connector">
            <a:extLst>
              <a:ext uri="{FF2B5EF4-FFF2-40B4-BE49-F238E27FC236}">
                <a16:creationId xmlns:a16="http://schemas.microsoft.com/office/drawing/2014/main" id="{4D594499-F983-4364-8ABC-5BCDC2E906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060" y="6047437"/>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Main Vertical Connector">
            <a:extLst>
              <a:ext uri="{FF2B5EF4-FFF2-40B4-BE49-F238E27FC236}">
                <a16:creationId xmlns:a16="http://schemas.microsoft.com/office/drawing/2014/main" id="{6D4C177C-581F-4CC8-A686-0B6D25DC6A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48698" y="334928"/>
            <a:ext cx="0" cy="61881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BDB03F3-936C-4FC9-8A4E-9ADA66A980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7744" y="1886564"/>
            <a:ext cx="1038095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6464E26-578B-6A29-344E-254C7A686DF4}"/>
              </a:ext>
            </a:extLst>
          </p:cNvPr>
          <p:cNvPicPr>
            <a:picLocks noChangeAspect="1"/>
          </p:cNvPicPr>
          <p:nvPr/>
        </p:nvPicPr>
        <p:blipFill>
          <a:blip r:embed="rId2"/>
          <a:stretch>
            <a:fillRect/>
          </a:stretch>
        </p:blipFill>
        <p:spPr>
          <a:xfrm>
            <a:off x="489858" y="2221486"/>
            <a:ext cx="6694711" cy="3350313"/>
          </a:xfrm>
          <a:prstGeom prst="rect">
            <a:avLst/>
          </a:prstGeom>
        </p:spPr>
      </p:pic>
      <p:cxnSp>
        <p:nvCxnSpPr>
          <p:cNvPr id="30" name="Straight Connector 29">
            <a:extLst>
              <a:ext uri="{FF2B5EF4-FFF2-40B4-BE49-F238E27FC236}">
                <a16:creationId xmlns:a16="http://schemas.microsoft.com/office/drawing/2014/main" id="{22FCAA1B-E660-4FFE-8F82-F41F369BDB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4510" y="334926"/>
            <a:ext cx="0" cy="57125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BCE70E0-7404-295E-FBB3-264F70CE39B6}"/>
              </a:ext>
            </a:extLst>
          </p:cNvPr>
          <p:cNvPicPr>
            <a:picLocks noChangeAspect="1"/>
          </p:cNvPicPr>
          <p:nvPr/>
        </p:nvPicPr>
        <p:blipFill>
          <a:blip r:embed="rId3"/>
          <a:stretch>
            <a:fillRect/>
          </a:stretch>
        </p:blipFill>
        <p:spPr>
          <a:xfrm>
            <a:off x="7364452" y="2062617"/>
            <a:ext cx="3096718" cy="3649889"/>
          </a:xfrm>
          <a:prstGeom prst="rect">
            <a:avLst/>
          </a:prstGeom>
        </p:spPr>
      </p:pic>
    </p:spTree>
    <p:extLst>
      <p:ext uri="{BB962C8B-B14F-4D97-AF65-F5344CB8AC3E}">
        <p14:creationId xmlns:p14="http://schemas.microsoft.com/office/powerpoint/2010/main" val="184672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194AEDE-F25F-43E6-A2C4-7FFF41074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744" y="334928"/>
            <a:ext cx="11456511" cy="61881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C793C08-EF4C-422B-A728-6C717C47DF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48698" y="334928"/>
            <a:ext cx="0" cy="61881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E825BC6-56A8-46DE-8037-A9A577624B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060" y="6047437"/>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EED8031-DD67-43C6-94A0-646636C955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0154" y="4495800"/>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C0C44-8B76-68F6-A521-C0621E714AE2}"/>
              </a:ext>
            </a:extLst>
          </p:cNvPr>
          <p:cNvSpPr>
            <a:spLocks noGrp="1"/>
          </p:cNvSpPr>
          <p:nvPr>
            <p:ph type="title"/>
          </p:nvPr>
        </p:nvSpPr>
        <p:spPr>
          <a:xfrm>
            <a:off x="841249" y="663960"/>
            <a:ext cx="2656818" cy="3310164"/>
          </a:xfrm>
        </p:spPr>
        <p:txBody>
          <a:bodyPr vert="horz" lIns="91440" tIns="45720" rIns="91440" bIns="45720" rtlCol="0" anchor="t">
            <a:normAutofit/>
          </a:bodyPr>
          <a:lstStyle/>
          <a:p>
            <a:r>
              <a:rPr lang="en-US" sz="2100"/>
              <a:t>Question - </a:t>
            </a:r>
            <a:r>
              <a:rPr lang="en-US" sz="2100" b="1" i="0">
                <a:effectLst/>
                <a:highlight>
                  <a:srgbClr val="FFFFFF"/>
                </a:highlight>
              </a:rPr>
              <a:t>A die is rolled. What is the probability of getting a number less than 7? Also, find the complimentary probability of it. </a:t>
            </a:r>
            <a:endParaRPr lang="en-US" sz="2100"/>
          </a:p>
        </p:txBody>
      </p:sp>
      <p:pic>
        <p:nvPicPr>
          <p:cNvPr id="5" name="Picture 4">
            <a:extLst>
              <a:ext uri="{FF2B5EF4-FFF2-40B4-BE49-F238E27FC236}">
                <a16:creationId xmlns:a16="http://schemas.microsoft.com/office/drawing/2014/main" id="{CB3C93FD-5AF8-804B-D077-04FEA0986BBA}"/>
              </a:ext>
            </a:extLst>
          </p:cNvPr>
          <p:cNvPicPr>
            <a:picLocks noChangeAspect="1"/>
          </p:cNvPicPr>
          <p:nvPr/>
        </p:nvPicPr>
        <p:blipFill>
          <a:blip r:embed="rId2"/>
          <a:stretch>
            <a:fillRect/>
          </a:stretch>
        </p:blipFill>
        <p:spPr>
          <a:xfrm>
            <a:off x="3971572" y="437548"/>
            <a:ext cx="6764220" cy="5442425"/>
          </a:xfrm>
          <a:prstGeom prst="rect">
            <a:avLst/>
          </a:prstGeom>
        </p:spPr>
      </p:pic>
      <p:sp>
        <p:nvSpPr>
          <p:cNvPr id="20" name="Main Frame">
            <a:extLst>
              <a:ext uri="{FF2B5EF4-FFF2-40B4-BE49-F238E27FC236}">
                <a16:creationId xmlns:a16="http://schemas.microsoft.com/office/drawing/2014/main" id="{9502469D-C562-48E3-ABA2-3CFA55C52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744" y="334928"/>
            <a:ext cx="11456511" cy="61881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Main Horizontal Connector">
            <a:extLst>
              <a:ext uri="{FF2B5EF4-FFF2-40B4-BE49-F238E27FC236}">
                <a16:creationId xmlns:a16="http://schemas.microsoft.com/office/drawing/2014/main" id="{4D594499-F983-4364-8ABC-5BCDC2E906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060" y="6047437"/>
            <a:ext cx="10375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A37E3E-52D3-44C9-B418-2D26B214CB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848100" y="334928"/>
            <a:ext cx="0" cy="57125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A74BE92-BA24-4F82-94AC-ED4A58B227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7744" y="4502926"/>
            <a:ext cx="3480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Main Vertical Connector">
            <a:extLst>
              <a:ext uri="{FF2B5EF4-FFF2-40B4-BE49-F238E27FC236}">
                <a16:creationId xmlns:a16="http://schemas.microsoft.com/office/drawing/2014/main" id="{6D4C177C-581F-4CC8-A686-0B6D25DC6A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48698" y="334928"/>
            <a:ext cx="0" cy="61881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165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987C3F-6601-C06A-B507-DA370A3E38F8}"/>
              </a:ext>
            </a:extLst>
          </p:cNvPr>
          <p:cNvPicPr>
            <a:picLocks noChangeAspect="1"/>
          </p:cNvPicPr>
          <p:nvPr/>
        </p:nvPicPr>
        <p:blipFill>
          <a:blip r:embed="rId2"/>
          <a:stretch>
            <a:fillRect/>
          </a:stretch>
        </p:blipFill>
        <p:spPr>
          <a:xfrm>
            <a:off x="493929" y="714713"/>
            <a:ext cx="9897856" cy="4906060"/>
          </a:xfrm>
          <a:prstGeom prst="rect">
            <a:avLst/>
          </a:prstGeom>
        </p:spPr>
      </p:pic>
    </p:spTree>
    <p:extLst>
      <p:ext uri="{BB962C8B-B14F-4D97-AF65-F5344CB8AC3E}">
        <p14:creationId xmlns:p14="http://schemas.microsoft.com/office/powerpoint/2010/main" val="164748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460E5E-3762-CAAF-59BE-98CA2DBF2683}"/>
              </a:ext>
            </a:extLst>
          </p:cNvPr>
          <p:cNvPicPr>
            <a:picLocks noChangeAspect="1"/>
          </p:cNvPicPr>
          <p:nvPr/>
        </p:nvPicPr>
        <p:blipFill>
          <a:blip r:embed="rId2"/>
          <a:stretch>
            <a:fillRect/>
          </a:stretch>
        </p:blipFill>
        <p:spPr>
          <a:xfrm>
            <a:off x="393924" y="343356"/>
            <a:ext cx="10600647" cy="6171287"/>
          </a:xfrm>
          <a:prstGeom prst="rect">
            <a:avLst/>
          </a:prstGeom>
        </p:spPr>
      </p:pic>
    </p:spTree>
    <p:extLst>
      <p:ext uri="{BB962C8B-B14F-4D97-AF65-F5344CB8AC3E}">
        <p14:creationId xmlns:p14="http://schemas.microsoft.com/office/powerpoint/2010/main" val="51395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A9776-2509-1C62-E078-44DB6E750EBE}"/>
              </a:ext>
            </a:extLst>
          </p:cNvPr>
          <p:cNvSpPr>
            <a:spLocks noGrp="1"/>
          </p:cNvSpPr>
          <p:nvPr>
            <p:ph type="title"/>
          </p:nvPr>
        </p:nvSpPr>
        <p:spPr/>
        <p:txBody>
          <a:bodyPr/>
          <a:lstStyle/>
          <a:p>
            <a:r>
              <a:rPr lang="en-US" b="1" dirty="0"/>
              <a:t>Question:</a:t>
            </a:r>
            <a:endParaRPr lang="en-US" dirty="0"/>
          </a:p>
        </p:txBody>
      </p:sp>
      <p:sp>
        <p:nvSpPr>
          <p:cNvPr id="3" name="Content Placeholder 2">
            <a:extLst>
              <a:ext uri="{FF2B5EF4-FFF2-40B4-BE49-F238E27FC236}">
                <a16:creationId xmlns:a16="http://schemas.microsoft.com/office/drawing/2014/main" id="{41035482-DFA5-C4E0-7B53-F9CE9E8FEC73}"/>
              </a:ext>
            </a:extLst>
          </p:cNvPr>
          <p:cNvSpPr>
            <a:spLocks noGrp="1"/>
          </p:cNvSpPr>
          <p:nvPr>
            <p:ph idx="1"/>
          </p:nvPr>
        </p:nvSpPr>
        <p:spPr>
          <a:xfrm>
            <a:off x="841248" y="2096199"/>
            <a:ext cx="9489000" cy="1012761"/>
          </a:xfrm>
        </p:spPr>
        <p:txBody>
          <a:bodyPr/>
          <a:lstStyle/>
          <a:p>
            <a:r>
              <a:rPr lang="en-US" dirty="0"/>
              <a:t>Two cards are drawn </a:t>
            </a:r>
            <a:r>
              <a:rPr lang="en-US" b="1" dirty="0"/>
              <a:t>one after another without replacement</a:t>
            </a:r>
            <a:r>
              <a:rPr lang="en-US" dirty="0"/>
              <a:t> from a standard deck of 52 cards. What is the probability that </a:t>
            </a:r>
            <a:r>
              <a:rPr lang="en-US" b="1" dirty="0"/>
              <a:t>both cards are Kings</a:t>
            </a:r>
            <a:r>
              <a:rPr lang="en-US" dirty="0"/>
              <a:t>?</a:t>
            </a:r>
          </a:p>
          <a:p>
            <a:endParaRPr lang="en-US" dirty="0"/>
          </a:p>
        </p:txBody>
      </p:sp>
      <p:pic>
        <p:nvPicPr>
          <p:cNvPr id="5" name="Picture 4">
            <a:extLst>
              <a:ext uri="{FF2B5EF4-FFF2-40B4-BE49-F238E27FC236}">
                <a16:creationId xmlns:a16="http://schemas.microsoft.com/office/drawing/2014/main" id="{D20DB58C-677A-F718-0FCD-4BFA53687D18}"/>
              </a:ext>
            </a:extLst>
          </p:cNvPr>
          <p:cNvPicPr>
            <a:picLocks noChangeAspect="1"/>
          </p:cNvPicPr>
          <p:nvPr/>
        </p:nvPicPr>
        <p:blipFill>
          <a:blip r:embed="rId2"/>
          <a:stretch>
            <a:fillRect/>
          </a:stretch>
        </p:blipFill>
        <p:spPr>
          <a:xfrm>
            <a:off x="1264407" y="3326814"/>
            <a:ext cx="7354326" cy="2124371"/>
          </a:xfrm>
          <a:prstGeom prst="rect">
            <a:avLst/>
          </a:prstGeom>
        </p:spPr>
      </p:pic>
    </p:spTree>
    <p:extLst>
      <p:ext uri="{BB962C8B-B14F-4D97-AF65-F5344CB8AC3E}">
        <p14:creationId xmlns:p14="http://schemas.microsoft.com/office/powerpoint/2010/main" val="66440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D5DD-2B03-65FA-DC68-3D7A9005F13B}"/>
              </a:ext>
            </a:extLst>
          </p:cNvPr>
          <p:cNvSpPr>
            <a:spLocks noGrp="1"/>
          </p:cNvSpPr>
          <p:nvPr>
            <p:ph type="title"/>
          </p:nvPr>
        </p:nvSpPr>
        <p:spPr/>
        <p:txBody>
          <a:bodyPr/>
          <a:lstStyle/>
          <a:p>
            <a:r>
              <a:rPr lang="en-US" b="1" dirty="0"/>
              <a:t>Question:</a:t>
            </a:r>
            <a:endParaRPr lang="en-US" dirty="0"/>
          </a:p>
        </p:txBody>
      </p:sp>
      <p:sp>
        <p:nvSpPr>
          <p:cNvPr id="3" name="Content Placeholder 2">
            <a:extLst>
              <a:ext uri="{FF2B5EF4-FFF2-40B4-BE49-F238E27FC236}">
                <a16:creationId xmlns:a16="http://schemas.microsoft.com/office/drawing/2014/main" id="{BF013B14-FBE8-3C32-46CA-6A329595897B}"/>
              </a:ext>
            </a:extLst>
          </p:cNvPr>
          <p:cNvSpPr>
            <a:spLocks noGrp="1"/>
          </p:cNvSpPr>
          <p:nvPr>
            <p:ph idx="1"/>
          </p:nvPr>
        </p:nvSpPr>
        <p:spPr>
          <a:xfrm>
            <a:off x="841248" y="2096199"/>
            <a:ext cx="9489000" cy="635571"/>
          </a:xfrm>
        </p:spPr>
        <p:txBody>
          <a:bodyPr/>
          <a:lstStyle/>
          <a:p>
            <a:r>
              <a:rPr lang="en-US" dirty="0"/>
              <a:t>Three fair coins are tossed. What is the probability of getting </a:t>
            </a:r>
            <a:r>
              <a:rPr lang="en-US" b="1" dirty="0"/>
              <a:t>at least one Head</a:t>
            </a:r>
            <a:r>
              <a:rPr lang="en-US" dirty="0"/>
              <a:t>?</a:t>
            </a:r>
          </a:p>
          <a:p>
            <a:endParaRPr lang="en-US" dirty="0"/>
          </a:p>
        </p:txBody>
      </p:sp>
      <p:pic>
        <p:nvPicPr>
          <p:cNvPr id="5" name="Picture 4">
            <a:extLst>
              <a:ext uri="{FF2B5EF4-FFF2-40B4-BE49-F238E27FC236}">
                <a16:creationId xmlns:a16="http://schemas.microsoft.com/office/drawing/2014/main" id="{852DA018-3966-2D60-A16B-08288CEA04F5}"/>
              </a:ext>
            </a:extLst>
          </p:cNvPr>
          <p:cNvPicPr>
            <a:picLocks noChangeAspect="1"/>
          </p:cNvPicPr>
          <p:nvPr/>
        </p:nvPicPr>
        <p:blipFill>
          <a:blip r:embed="rId2"/>
          <a:stretch>
            <a:fillRect/>
          </a:stretch>
        </p:blipFill>
        <p:spPr>
          <a:xfrm>
            <a:off x="1068153" y="2873518"/>
            <a:ext cx="8544477" cy="2505425"/>
          </a:xfrm>
          <a:prstGeom prst="rect">
            <a:avLst/>
          </a:prstGeom>
        </p:spPr>
      </p:pic>
    </p:spTree>
    <p:extLst>
      <p:ext uri="{BB962C8B-B14F-4D97-AF65-F5344CB8AC3E}">
        <p14:creationId xmlns:p14="http://schemas.microsoft.com/office/powerpoint/2010/main" val="236871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95D9-6D7B-A1D1-82E8-CFCF823EAEFB}"/>
              </a:ext>
            </a:extLst>
          </p:cNvPr>
          <p:cNvSpPr>
            <a:spLocks noGrp="1"/>
          </p:cNvSpPr>
          <p:nvPr>
            <p:ph type="title"/>
          </p:nvPr>
        </p:nvSpPr>
        <p:spPr/>
        <p:txBody>
          <a:bodyPr/>
          <a:lstStyle/>
          <a:p>
            <a:r>
              <a:rPr lang="en-US" b="1" dirty="0"/>
              <a:t>Question:</a:t>
            </a:r>
            <a:endParaRPr lang="en-US" dirty="0"/>
          </a:p>
        </p:txBody>
      </p:sp>
      <p:sp>
        <p:nvSpPr>
          <p:cNvPr id="3" name="Content Placeholder 2">
            <a:extLst>
              <a:ext uri="{FF2B5EF4-FFF2-40B4-BE49-F238E27FC236}">
                <a16:creationId xmlns:a16="http://schemas.microsoft.com/office/drawing/2014/main" id="{9E349336-00DB-0F4D-FDDE-3159CD6CE835}"/>
              </a:ext>
            </a:extLst>
          </p:cNvPr>
          <p:cNvSpPr>
            <a:spLocks noGrp="1"/>
          </p:cNvSpPr>
          <p:nvPr>
            <p:ph idx="1"/>
          </p:nvPr>
        </p:nvSpPr>
        <p:spPr>
          <a:xfrm>
            <a:off x="841248" y="2096199"/>
            <a:ext cx="9489000" cy="1161351"/>
          </a:xfrm>
        </p:spPr>
        <p:txBody>
          <a:bodyPr>
            <a:normAutofit fontScale="92500"/>
          </a:bodyPr>
          <a:lstStyle/>
          <a:p>
            <a:r>
              <a:rPr lang="en-US" dirty="0"/>
              <a:t>A bag contains </a:t>
            </a:r>
            <a:r>
              <a:rPr lang="en-US" b="1" dirty="0"/>
              <a:t>5 red and 3 blue balls</a:t>
            </a:r>
            <a:r>
              <a:rPr lang="en-US" dirty="0"/>
              <a:t>. Two balls are drawn randomly without replacement. Given that the </a:t>
            </a:r>
            <a:r>
              <a:rPr lang="en-US" b="1" dirty="0"/>
              <a:t>first ball is red</a:t>
            </a:r>
            <a:r>
              <a:rPr lang="en-US" dirty="0"/>
              <a:t>, what is the probability that the </a:t>
            </a:r>
            <a:r>
              <a:rPr lang="en-US" b="1" dirty="0"/>
              <a:t>second ball is blue</a:t>
            </a:r>
            <a:r>
              <a:rPr lang="en-US" dirty="0"/>
              <a:t>?</a:t>
            </a:r>
          </a:p>
          <a:p>
            <a:endParaRPr lang="en-US" dirty="0"/>
          </a:p>
        </p:txBody>
      </p:sp>
      <p:pic>
        <p:nvPicPr>
          <p:cNvPr id="5" name="Picture 4">
            <a:extLst>
              <a:ext uri="{FF2B5EF4-FFF2-40B4-BE49-F238E27FC236}">
                <a16:creationId xmlns:a16="http://schemas.microsoft.com/office/drawing/2014/main" id="{ED319F18-13C7-E206-601D-98EBC16C4FB3}"/>
              </a:ext>
            </a:extLst>
          </p:cNvPr>
          <p:cNvPicPr>
            <a:picLocks noChangeAspect="1"/>
          </p:cNvPicPr>
          <p:nvPr/>
        </p:nvPicPr>
        <p:blipFill>
          <a:blip r:embed="rId2"/>
          <a:stretch>
            <a:fillRect/>
          </a:stretch>
        </p:blipFill>
        <p:spPr>
          <a:xfrm>
            <a:off x="713839" y="3095427"/>
            <a:ext cx="7678222" cy="2838846"/>
          </a:xfrm>
          <a:prstGeom prst="rect">
            <a:avLst/>
          </a:prstGeom>
        </p:spPr>
      </p:pic>
    </p:spTree>
    <p:extLst>
      <p:ext uri="{BB962C8B-B14F-4D97-AF65-F5344CB8AC3E}">
        <p14:creationId xmlns:p14="http://schemas.microsoft.com/office/powerpoint/2010/main" val="4082963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AB42D-9E39-AD08-8711-97235E7DD14D}"/>
              </a:ext>
            </a:extLst>
          </p:cNvPr>
          <p:cNvSpPr>
            <a:spLocks noGrp="1"/>
          </p:cNvSpPr>
          <p:nvPr>
            <p:ph type="title"/>
          </p:nvPr>
        </p:nvSpPr>
        <p:spPr/>
        <p:txBody>
          <a:bodyPr/>
          <a:lstStyle/>
          <a:p>
            <a:r>
              <a:rPr lang="en-US" dirty="0"/>
              <a:t>Question	</a:t>
            </a:r>
          </a:p>
        </p:txBody>
      </p:sp>
      <p:sp>
        <p:nvSpPr>
          <p:cNvPr id="3" name="Content Placeholder 2">
            <a:extLst>
              <a:ext uri="{FF2B5EF4-FFF2-40B4-BE49-F238E27FC236}">
                <a16:creationId xmlns:a16="http://schemas.microsoft.com/office/drawing/2014/main" id="{E7FDA39A-3339-077A-6684-6343F49CA66D}"/>
              </a:ext>
            </a:extLst>
          </p:cNvPr>
          <p:cNvSpPr>
            <a:spLocks noGrp="1"/>
          </p:cNvSpPr>
          <p:nvPr>
            <p:ph idx="1"/>
          </p:nvPr>
        </p:nvSpPr>
        <p:spPr>
          <a:xfrm>
            <a:off x="841248" y="2096199"/>
            <a:ext cx="9489000" cy="967041"/>
          </a:xfrm>
        </p:spPr>
        <p:txBody>
          <a:bodyPr/>
          <a:lstStyle/>
          <a:p>
            <a:r>
              <a:rPr lang="en-US" dirty="0"/>
              <a:t>A number is chosen randomly from the integers </a:t>
            </a:r>
            <a:r>
              <a:rPr lang="en-US" b="1" dirty="0"/>
              <a:t>1 to 100</a:t>
            </a:r>
            <a:r>
              <a:rPr lang="en-US" dirty="0"/>
              <a:t>. What is the probability that the number is </a:t>
            </a:r>
            <a:r>
              <a:rPr lang="en-US" b="1" dirty="0"/>
              <a:t>divisible by both 2 and 5</a:t>
            </a:r>
            <a:r>
              <a:rPr lang="en-US" dirty="0"/>
              <a:t>?</a:t>
            </a:r>
          </a:p>
        </p:txBody>
      </p:sp>
      <p:pic>
        <p:nvPicPr>
          <p:cNvPr id="5" name="Picture 4">
            <a:extLst>
              <a:ext uri="{FF2B5EF4-FFF2-40B4-BE49-F238E27FC236}">
                <a16:creationId xmlns:a16="http://schemas.microsoft.com/office/drawing/2014/main" id="{F6513E88-AD64-C59C-0CFB-B170429C1B25}"/>
              </a:ext>
            </a:extLst>
          </p:cNvPr>
          <p:cNvPicPr>
            <a:picLocks noChangeAspect="1"/>
          </p:cNvPicPr>
          <p:nvPr/>
        </p:nvPicPr>
        <p:blipFill>
          <a:blip r:embed="rId2"/>
          <a:stretch>
            <a:fillRect/>
          </a:stretch>
        </p:blipFill>
        <p:spPr>
          <a:xfrm>
            <a:off x="1106330" y="3063240"/>
            <a:ext cx="6801799" cy="2581635"/>
          </a:xfrm>
          <a:prstGeom prst="rect">
            <a:avLst/>
          </a:prstGeom>
        </p:spPr>
      </p:pic>
    </p:spTree>
    <p:extLst>
      <p:ext uri="{BB962C8B-B14F-4D97-AF65-F5344CB8AC3E}">
        <p14:creationId xmlns:p14="http://schemas.microsoft.com/office/powerpoint/2010/main" val="257385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8EBC3-CFC4-C0DF-5F91-83476D7A73F9}"/>
              </a:ext>
            </a:extLst>
          </p:cNvPr>
          <p:cNvSpPr>
            <a:spLocks noGrp="1"/>
          </p:cNvSpPr>
          <p:nvPr>
            <p:ph type="title"/>
          </p:nvPr>
        </p:nvSpPr>
        <p:spPr/>
        <p:txBody>
          <a:bodyPr/>
          <a:lstStyle/>
          <a:p>
            <a:r>
              <a:rPr lang="en-US" b="1" dirty="0"/>
              <a:t>Question:</a:t>
            </a:r>
            <a:endParaRPr lang="en-US" dirty="0"/>
          </a:p>
        </p:txBody>
      </p:sp>
      <p:sp>
        <p:nvSpPr>
          <p:cNvPr id="3" name="Content Placeholder 2">
            <a:extLst>
              <a:ext uri="{FF2B5EF4-FFF2-40B4-BE49-F238E27FC236}">
                <a16:creationId xmlns:a16="http://schemas.microsoft.com/office/drawing/2014/main" id="{8B59FF7D-A220-7A9A-3848-FB9EE42985E3}"/>
              </a:ext>
            </a:extLst>
          </p:cNvPr>
          <p:cNvSpPr>
            <a:spLocks noGrp="1"/>
          </p:cNvSpPr>
          <p:nvPr>
            <p:ph idx="1"/>
          </p:nvPr>
        </p:nvSpPr>
        <p:spPr>
          <a:xfrm>
            <a:off x="841248" y="2096199"/>
            <a:ext cx="9489000" cy="1047051"/>
          </a:xfrm>
        </p:spPr>
        <p:txBody>
          <a:bodyPr/>
          <a:lstStyle/>
          <a:p>
            <a:r>
              <a:rPr lang="en-US" dirty="0"/>
              <a:t>A box contains </a:t>
            </a:r>
            <a:r>
              <a:rPr lang="en-US" b="1" dirty="0"/>
              <a:t>5 red and 3 blue balls</a:t>
            </a:r>
            <a:r>
              <a:rPr lang="en-US" dirty="0"/>
              <a:t>. Two balls are drawn </a:t>
            </a:r>
            <a:r>
              <a:rPr lang="en-US" b="1" dirty="0"/>
              <a:t>one after another without replacement</a:t>
            </a:r>
            <a:r>
              <a:rPr lang="en-US" dirty="0"/>
              <a:t>. What is the probability that </a:t>
            </a:r>
            <a:r>
              <a:rPr lang="en-US" b="1" dirty="0"/>
              <a:t>both are red</a:t>
            </a:r>
            <a:r>
              <a:rPr lang="en-US" dirty="0"/>
              <a:t>?</a:t>
            </a:r>
          </a:p>
        </p:txBody>
      </p:sp>
      <p:pic>
        <p:nvPicPr>
          <p:cNvPr id="5" name="Picture 4">
            <a:extLst>
              <a:ext uri="{FF2B5EF4-FFF2-40B4-BE49-F238E27FC236}">
                <a16:creationId xmlns:a16="http://schemas.microsoft.com/office/drawing/2014/main" id="{A987DD1C-D483-F584-1D03-56C5E971362A}"/>
              </a:ext>
            </a:extLst>
          </p:cNvPr>
          <p:cNvPicPr>
            <a:picLocks noChangeAspect="1"/>
          </p:cNvPicPr>
          <p:nvPr/>
        </p:nvPicPr>
        <p:blipFill>
          <a:blip r:embed="rId2"/>
          <a:stretch>
            <a:fillRect/>
          </a:stretch>
        </p:blipFill>
        <p:spPr>
          <a:xfrm>
            <a:off x="928181" y="3252635"/>
            <a:ext cx="7249537" cy="2181529"/>
          </a:xfrm>
          <a:prstGeom prst="rect">
            <a:avLst/>
          </a:prstGeom>
        </p:spPr>
      </p:pic>
    </p:spTree>
    <p:extLst>
      <p:ext uri="{BB962C8B-B14F-4D97-AF65-F5344CB8AC3E}">
        <p14:creationId xmlns:p14="http://schemas.microsoft.com/office/powerpoint/2010/main" val="111292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71679-C810-30CC-F6D3-B10A61A168D3}"/>
              </a:ext>
            </a:extLst>
          </p:cNvPr>
          <p:cNvSpPr>
            <a:spLocks noGrp="1"/>
          </p:cNvSpPr>
          <p:nvPr>
            <p:ph type="title"/>
          </p:nvPr>
        </p:nvSpPr>
        <p:spPr/>
        <p:txBody>
          <a:bodyPr/>
          <a:lstStyle/>
          <a:p>
            <a:r>
              <a:rPr lang="en-US" b="1" dirty="0"/>
              <a:t>Question:</a:t>
            </a:r>
            <a:endParaRPr lang="en-US" dirty="0"/>
          </a:p>
        </p:txBody>
      </p:sp>
      <p:sp>
        <p:nvSpPr>
          <p:cNvPr id="3" name="Content Placeholder 2">
            <a:extLst>
              <a:ext uri="{FF2B5EF4-FFF2-40B4-BE49-F238E27FC236}">
                <a16:creationId xmlns:a16="http://schemas.microsoft.com/office/drawing/2014/main" id="{33BAF60D-CA2C-61E5-5D25-9542700B458E}"/>
              </a:ext>
            </a:extLst>
          </p:cNvPr>
          <p:cNvSpPr>
            <a:spLocks noGrp="1"/>
          </p:cNvSpPr>
          <p:nvPr>
            <p:ph idx="1"/>
          </p:nvPr>
        </p:nvSpPr>
        <p:spPr>
          <a:xfrm>
            <a:off x="841248" y="2096199"/>
            <a:ext cx="9489000" cy="944181"/>
          </a:xfrm>
        </p:spPr>
        <p:txBody>
          <a:bodyPr/>
          <a:lstStyle/>
          <a:p>
            <a:r>
              <a:rPr lang="en-US" dirty="0"/>
              <a:t>A bag has </a:t>
            </a:r>
            <a:r>
              <a:rPr lang="en-US" b="1" dirty="0"/>
              <a:t>4 white and 6 black balls</a:t>
            </a:r>
            <a:r>
              <a:rPr lang="en-US" dirty="0"/>
              <a:t>. Two balls are drawn </a:t>
            </a:r>
            <a:r>
              <a:rPr lang="en-US" b="1" dirty="0"/>
              <a:t>with replacement</a:t>
            </a:r>
            <a:r>
              <a:rPr lang="en-US" dirty="0"/>
              <a:t>. What is the probability that </a:t>
            </a:r>
            <a:r>
              <a:rPr lang="en-US" b="1" dirty="0"/>
              <a:t>both are black</a:t>
            </a:r>
            <a:r>
              <a:rPr lang="en-US" dirty="0"/>
              <a:t>?</a:t>
            </a:r>
          </a:p>
        </p:txBody>
      </p:sp>
      <p:pic>
        <p:nvPicPr>
          <p:cNvPr id="5" name="Picture 4">
            <a:extLst>
              <a:ext uri="{FF2B5EF4-FFF2-40B4-BE49-F238E27FC236}">
                <a16:creationId xmlns:a16="http://schemas.microsoft.com/office/drawing/2014/main" id="{238A0AB9-F650-B106-F422-E939DD15B5A5}"/>
              </a:ext>
            </a:extLst>
          </p:cNvPr>
          <p:cNvPicPr>
            <a:picLocks noChangeAspect="1"/>
          </p:cNvPicPr>
          <p:nvPr/>
        </p:nvPicPr>
        <p:blipFill>
          <a:blip r:embed="rId2"/>
          <a:stretch>
            <a:fillRect/>
          </a:stretch>
        </p:blipFill>
        <p:spPr>
          <a:xfrm>
            <a:off x="1047268" y="3429000"/>
            <a:ext cx="6897063" cy="2019582"/>
          </a:xfrm>
          <a:prstGeom prst="rect">
            <a:avLst/>
          </a:prstGeom>
        </p:spPr>
      </p:pic>
    </p:spTree>
    <p:extLst>
      <p:ext uri="{BB962C8B-B14F-4D97-AF65-F5344CB8AC3E}">
        <p14:creationId xmlns:p14="http://schemas.microsoft.com/office/powerpoint/2010/main" val="406320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imeoVTI">
  <a:themeElements>
    <a:clrScheme name="AnalogousFromLightSeedRightStep">
      <a:dk1>
        <a:srgbClr val="000000"/>
      </a:dk1>
      <a:lt1>
        <a:srgbClr val="FFFFFF"/>
      </a:lt1>
      <a:dk2>
        <a:srgbClr val="242A41"/>
      </a:dk2>
      <a:lt2>
        <a:srgbClr val="E8E4E2"/>
      </a:lt2>
      <a:accent1>
        <a:srgbClr val="82A6BC"/>
      </a:accent1>
      <a:accent2>
        <a:srgbClr val="7F8BBA"/>
      </a:accent2>
      <a:accent3>
        <a:srgbClr val="A096C6"/>
      </a:accent3>
      <a:accent4>
        <a:srgbClr val="A37FBA"/>
      </a:accent4>
      <a:accent5>
        <a:srgbClr val="C492C2"/>
      </a:accent5>
      <a:accent6>
        <a:srgbClr val="BA7F9F"/>
      </a:accent6>
      <a:hlink>
        <a:srgbClr val="A6775B"/>
      </a:hlink>
      <a:folHlink>
        <a:srgbClr val="7F7F7F"/>
      </a:folHlink>
    </a:clrScheme>
    <a:fontScheme name="Custom 3">
      <a:majorFont>
        <a:latin typeface="Elephant"/>
        <a:ea typeface=""/>
        <a:cs typeface=""/>
      </a:majorFont>
      <a:minorFont>
        <a:latin typeface="Univers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meoVTI" id="{63E3BFD8-7F9C-46D1-A4F3-04054403C108}" vid="{C505C190-EE38-45FD-8294-6454536D04BA}"/>
    </a:ext>
  </a:extLst>
</a:theme>
</file>

<file path=docProps/app.xml><?xml version="1.0" encoding="utf-8"?>
<Properties xmlns="http://schemas.openxmlformats.org/officeDocument/2006/extended-properties" xmlns:vt="http://schemas.openxmlformats.org/officeDocument/2006/docPropsVTypes">
  <TotalTime>325</TotalTime>
  <Words>2117</Words>
  <Application>Microsoft Office PowerPoint</Application>
  <PresentationFormat>Widescreen</PresentationFormat>
  <Paragraphs>119</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Elephant</vt:lpstr>
      <vt:lpstr>Nunito</vt:lpstr>
      <vt:lpstr>Open Sans</vt:lpstr>
      <vt:lpstr>Poppins</vt:lpstr>
      <vt:lpstr>Univers Condensed</vt:lpstr>
      <vt:lpstr>MimeoVTI</vt:lpstr>
      <vt:lpstr>Dr. Rakhee Chhibber</vt:lpstr>
      <vt:lpstr>Introduction</vt:lpstr>
      <vt:lpstr>Formula for Probability</vt:lpstr>
      <vt:lpstr>Question 1 </vt:lpstr>
      <vt:lpstr>Question 2</vt:lpstr>
      <vt:lpstr>a) What is the probability that Sumit will pick a green bottle?</vt:lpstr>
      <vt:lpstr>b) If there are 100 bottles in the container, how many of them are likely to be green?</vt:lpstr>
      <vt:lpstr>Question </vt:lpstr>
      <vt:lpstr>If we toss two coins together, then what is the probability of getting at least one tail?</vt:lpstr>
      <vt:lpstr>Tossing 3 Coin Probability</vt:lpstr>
      <vt:lpstr>Probability Tree</vt:lpstr>
      <vt:lpstr>Types of Probability</vt:lpstr>
      <vt:lpstr>2 types </vt:lpstr>
      <vt:lpstr>Experimental Probability</vt:lpstr>
      <vt:lpstr>Theoretical Probability </vt:lpstr>
      <vt:lpstr>Events and Outcomes</vt:lpstr>
      <vt:lpstr>Types of Events</vt:lpstr>
      <vt:lpstr>PowerPoint Presentation</vt:lpstr>
      <vt:lpstr>Sure Events</vt:lpstr>
      <vt:lpstr>Impossible Events</vt:lpstr>
      <vt:lpstr>Normal Events</vt:lpstr>
      <vt:lpstr>Complementary Events</vt:lpstr>
      <vt:lpstr>Elementary Events </vt:lpstr>
      <vt:lpstr>Types of Outcomes </vt:lpstr>
      <vt:lpstr>Cards Probability</vt:lpstr>
      <vt:lpstr>Card probability</vt:lpstr>
      <vt:lpstr>Question</vt:lpstr>
      <vt:lpstr>Question - Given a deck of 52 cards. Find the probability of getting a red Ace. </vt:lpstr>
      <vt:lpstr>Question - A die is rolled. What is the probability of getting a number less than 7? Also, find the complimentary probability of it. </vt:lpstr>
      <vt:lpstr>PowerPoint Presentation</vt:lpstr>
      <vt:lpstr>PowerPoint Presentation</vt:lpstr>
      <vt:lpstr>Question:</vt:lpstr>
      <vt:lpstr>Question:</vt:lpstr>
      <vt:lpstr>Question:</vt:lpstr>
      <vt:lpstr>Question </vt:lpstr>
      <vt:lpstr>Question:</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5</cp:revision>
  <dcterms:created xsi:type="dcterms:W3CDTF">2024-07-14T11:45:45Z</dcterms:created>
  <dcterms:modified xsi:type="dcterms:W3CDTF">2025-12-26T06:47:37Z</dcterms:modified>
</cp:coreProperties>
</file>