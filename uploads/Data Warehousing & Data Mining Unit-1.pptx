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0" r:id="rId1"/>
  </p:sldMasterIdLst>
  <p:notesMasterIdLst>
    <p:notesMasterId r:id="rId52"/>
  </p:notesMasterIdLst>
  <p:sldIdLst>
    <p:sldId id="257" r:id="rId2"/>
    <p:sldId id="266" r:id="rId3"/>
    <p:sldId id="258" r:id="rId4"/>
    <p:sldId id="260" r:id="rId5"/>
    <p:sldId id="261" r:id="rId6"/>
    <p:sldId id="267" r:id="rId7"/>
    <p:sldId id="268" r:id="rId8"/>
    <p:sldId id="269" r:id="rId9"/>
    <p:sldId id="270" r:id="rId10"/>
    <p:sldId id="271" r:id="rId11"/>
    <p:sldId id="263" r:id="rId12"/>
    <p:sldId id="272" r:id="rId13"/>
    <p:sldId id="275" r:id="rId14"/>
    <p:sldId id="276" r:id="rId15"/>
    <p:sldId id="274" r:id="rId16"/>
    <p:sldId id="278" r:id="rId17"/>
    <p:sldId id="280" r:id="rId18"/>
    <p:sldId id="277" r:id="rId19"/>
    <p:sldId id="284" r:id="rId20"/>
    <p:sldId id="285" r:id="rId21"/>
    <p:sldId id="289" r:id="rId22"/>
    <p:sldId id="293" r:id="rId23"/>
    <p:sldId id="287" r:id="rId24"/>
    <p:sldId id="290" r:id="rId25"/>
    <p:sldId id="291" r:id="rId26"/>
    <p:sldId id="294" r:id="rId27"/>
    <p:sldId id="295" r:id="rId28"/>
    <p:sldId id="296" r:id="rId29"/>
    <p:sldId id="297" r:id="rId30"/>
    <p:sldId id="311" r:id="rId31"/>
    <p:sldId id="304" r:id="rId32"/>
    <p:sldId id="305" r:id="rId33"/>
    <p:sldId id="312" r:id="rId34"/>
    <p:sldId id="313" r:id="rId35"/>
    <p:sldId id="306" r:id="rId36"/>
    <p:sldId id="307" r:id="rId37"/>
    <p:sldId id="314" r:id="rId38"/>
    <p:sldId id="315" r:id="rId39"/>
    <p:sldId id="316" r:id="rId40"/>
    <p:sldId id="308" r:id="rId41"/>
    <p:sldId id="309" r:id="rId42"/>
    <p:sldId id="310" r:id="rId43"/>
    <p:sldId id="299" r:id="rId44"/>
    <p:sldId id="303" r:id="rId45"/>
    <p:sldId id="317" r:id="rId46"/>
    <p:sldId id="318" r:id="rId47"/>
    <p:sldId id="319" r:id="rId48"/>
    <p:sldId id="282" r:id="rId49"/>
    <p:sldId id="281" r:id="rId50"/>
    <p:sldId id="283" r:id="rId5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ECA6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832" autoAdjust="0"/>
  </p:normalViewPr>
  <p:slideViewPr>
    <p:cSldViewPr>
      <p:cViewPr varScale="1">
        <p:scale>
          <a:sx n="69" d="100"/>
          <a:sy n="69" d="100"/>
        </p:scale>
        <p:origin x="1416"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D7792B-6606-406A-8D6D-7B7AEB38EFB0}" type="datetimeFigureOut">
              <a:rPr lang="en-US" smtClean="0"/>
              <a:pPr/>
              <a:t>12/21/2015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F566BD3-C88F-45A0-BE48-8EE47CF3A226}" type="slidenum">
              <a:rPr lang="en-US" smtClean="0"/>
              <a:pPr/>
              <a:t>‹#›</a:t>
            </a:fld>
            <a:endParaRPr lang="en-US"/>
          </a:p>
        </p:txBody>
      </p:sp>
    </p:spTree>
    <p:extLst>
      <p:ext uri="{BB962C8B-B14F-4D97-AF65-F5344CB8AC3E}">
        <p14:creationId xmlns:p14="http://schemas.microsoft.com/office/powerpoint/2010/main" val="38599092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68858D37-2D12-41C4-88AF-AA38F36FF293}" type="slidenum">
              <a:rPr lang="en-US" smtClean="0"/>
              <a:pPr/>
              <a:t>6</a:t>
            </a:fld>
            <a:endParaRPr lang="en-US" smtClean="0"/>
          </a:p>
        </p:txBody>
      </p:sp>
    </p:spTree>
    <p:extLst>
      <p:ext uri="{BB962C8B-B14F-4D97-AF65-F5344CB8AC3E}">
        <p14:creationId xmlns:p14="http://schemas.microsoft.com/office/powerpoint/2010/main" val="41882991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BB7DD2DF-39D1-4005-9F69-497DCD2C3355}" type="slidenum">
              <a:rPr lang="en-US" smtClean="0"/>
              <a:pPr/>
              <a:t>7</a:t>
            </a:fld>
            <a:endParaRPr lang="en-US" smtClean="0"/>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8492178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73E89E75-79BF-4550-8BEE-2372CCD1E647}" type="slidenum">
              <a:rPr lang="en-US" smtClean="0"/>
              <a:pPr/>
              <a:t>8</a:t>
            </a:fld>
            <a:endParaRPr lang="en-US" smtClean="0"/>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4047192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559A15C3-6E10-4801-8FC2-A50430A81455}" type="slidenum">
              <a:rPr lang="en-US" smtClean="0"/>
              <a:pPr/>
              <a:t>9</a:t>
            </a:fld>
            <a:endParaRPr lang="en-US" smtClean="0"/>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37853224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328B98BB-8645-4D32-9231-02D76EDAF1EE}" type="slidenum">
              <a:rPr lang="en-US" smtClean="0"/>
              <a:pPr/>
              <a:t>10</a:t>
            </a:fld>
            <a:endParaRPr lang="en-US" smtClean="0"/>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9534960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p>
            <a:fld id="{66559EE5-E7AF-415F-B4D8-C8B87BB3C8AD}" type="slidenum">
              <a:rPr lang="en-US" smtClean="0"/>
              <a:pPr/>
              <a:t>12</a:t>
            </a:fld>
            <a:endParaRPr lang="en-US" smtClean="0"/>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26961676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10B0E25D-FBD9-405E-88C6-3D446ECDB791}" type="slidenum">
              <a:rPr lang="en-US" smtClean="0"/>
              <a:pPr/>
              <a:t>14</a:t>
            </a:fld>
            <a:endParaRPr lang="en-US" smtClean="0"/>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27851445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C60E7BD3-D704-4212-8369-4E291CCCE42B}" type="slidenum">
              <a:rPr lang="en-US" smtClean="0"/>
              <a:pPr/>
              <a:t>17</a:t>
            </a:fld>
            <a:endParaRPr lang="en-US" smtClean="0"/>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endParaRPr lang="zh-CN" altLang="en-US" smtClean="0"/>
          </a:p>
        </p:txBody>
      </p:sp>
    </p:spTree>
    <p:extLst>
      <p:ext uri="{BB962C8B-B14F-4D97-AF65-F5344CB8AC3E}">
        <p14:creationId xmlns:p14="http://schemas.microsoft.com/office/powerpoint/2010/main" val="39376218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p>
            <a:fld id="{471904C5-5AF2-4BC9-A237-19A44F623A1E}" type="slidenum">
              <a:rPr lang="en-US" smtClean="0"/>
              <a:pPr/>
              <a:t>31</a:t>
            </a:fld>
            <a:endParaRPr lang="en-US" smtClean="0"/>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32534476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p>
            <a:fld id="{BB50100D-D1EE-44CC-A0B2-61A22AEFC421}" type="slidenum">
              <a:rPr lang="en-US" smtClean="0"/>
              <a:pPr/>
              <a:t>32</a:t>
            </a:fld>
            <a:endParaRPr lang="en-US" smtClean="0"/>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3446893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p:spPr>
        <p:txBody>
          <a:bodyPr/>
          <a:lstStyle/>
          <a:p>
            <a:fld id="{6F3A740F-66ED-4EEB-A0BA-B3ECA817F965}" type="slidenum">
              <a:rPr lang="en-US" smtClean="0"/>
              <a:pPr/>
              <a:t>35</a:t>
            </a:fld>
            <a:endParaRPr lang="en-US" smtClean="0"/>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41249709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3ACBDF6F-27FA-43F8-A89C-5AC4A76AABFE}" type="slidenum">
              <a:rPr lang="en-US" smtClean="0"/>
              <a:pPr/>
              <a:t>36</a:t>
            </a:fld>
            <a:endParaRPr lang="en-US" smtClean="0"/>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23145811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31E645C7-13D3-48D7-AD02-86E7C6F88F82}" type="slidenum">
              <a:rPr lang="en-US" smtClean="0"/>
              <a:pPr/>
              <a:t>40</a:t>
            </a:fld>
            <a:endParaRPr lang="en-US" dirty="0" smtClean="0"/>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p:spPr>
        <p:txBody>
          <a:bodyPr/>
          <a:lstStyle/>
          <a:p>
            <a:endParaRPr lang="en-US" dirty="0" smtClean="0"/>
          </a:p>
        </p:txBody>
      </p:sp>
    </p:spTree>
    <p:extLst>
      <p:ext uri="{BB962C8B-B14F-4D97-AF65-F5344CB8AC3E}">
        <p14:creationId xmlns:p14="http://schemas.microsoft.com/office/powerpoint/2010/main" val="32370726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5EBB5A27-ABF7-43E9-84D6-1C080E72F4FC}" type="slidenum">
              <a:rPr lang="en-US" smtClean="0"/>
              <a:pPr/>
              <a:t>41</a:t>
            </a:fld>
            <a:endParaRPr lang="en-US" dirty="0" smtClean="0"/>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p:spPr>
        <p:txBody>
          <a:bodyPr/>
          <a:lstStyle/>
          <a:p>
            <a:r>
              <a:rPr lang="en-US" dirty="0" smtClean="0"/>
              <a:t>MK 08.11.09 Former title: Data Warehouse Back-End Tools and Utilities</a:t>
            </a:r>
          </a:p>
        </p:txBody>
      </p:sp>
    </p:spTree>
    <p:extLst>
      <p:ext uri="{BB962C8B-B14F-4D97-AF65-F5344CB8AC3E}">
        <p14:creationId xmlns:p14="http://schemas.microsoft.com/office/powerpoint/2010/main" val="9442507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9475DE7F-58F0-4452-8687-631692B043E8}" type="slidenum">
              <a:rPr lang="en-US" smtClean="0"/>
              <a:pPr/>
              <a:t>42</a:t>
            </a:fld>
            <a:endParaRPr lang="en-US" smtClean="0"/>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18115494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79E34913-FB48-4466-97CB-7DDBC083969F}" type="datetimeFigureOut">
              <a:rPr lang="en-US" smtClean="0"/>
              <a:pPr/>
              <a:t>12/21/2015</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8E6D4583-B84D-4E8C-9202-341AF2CC2A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79E34913-FB48-4466-97CB-7DDBC083969F}" type="datetimeFigureOut">
              <a:rPr lang="en-US" smtClean="0"/>
              <a:pPr/>
              <a:t>12/21/2015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8E6D4583-B84D-4E8C-9202-341AF2CC2A34}"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79E34913-FB48-4466-97CB-7DDBC083969F}" type="datetimeFigureOut">
              <a:rPr lang="en-US" smtClean="0"/>
              <a:pPr/>
              <a:t>12/21/2015</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8E6D4583-B84D-4E8C-9202-341AF2CC2A34}"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79E34913-FB48-4466-97CB-7DDBC083969F}" type="datetimeFigureOut">
              <a:rPr lang="en-US" smtClean="0"/>
              <a:pPr/>
              <a:t>12/21/2015</a:t>
            </a:fld>
            <a:endParaRPr lang="en-US"/>
          </a:p>
        </p:txBody>
      </p:sp>
      <p:sp>
        <p:nvSpPr>
          <p:cNvPr id="10" name="Slide Number Placeholder 9"/>
          <p:cNvSpPr>
            <a:spLocks noGrp="1"/>
          </p:cNvSpPr>
          <p:nvPr>
            <p:ph type="sldNum" sz="quarter" idx="16"/>
          </p:nvPr>
        </p:nvSpPr>
        <p:spPr/>
        <p:txBody>
          <a:bodyPr rtlCol="0"/>
          <a:lstStyle/>
          <a:p>
            <a:fld id="{8E6D4583-B84D-4E8C-9202-341AF2CC2A34}"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79E34913-FB48-4466-97CB-7DDBC083969F}" type="datetimeFigureOut">
              <a:rPr lang="en-US" smtClean="0"/>
              <a:pPr/>
              <a:t>12/21/2015</a:t>
            </a:fld>
            <a:endParaRPr lang="en-US"/>
          </a:p>
        </p:txBody>
      </p:sp>
      <p:sp>
        <p:nvSpPr>
          <p:cNvPr id="12" name="Slide Number Placeholder 11"/>
          <p:cNvSpPr>
            <a:spLocks noGrp="1"/>
          </p:cNvSpPr>
          <p:nvPr>
            <p:ph type="sldNum" sz="quarter" idx="16"/>
          </p:nvPr>
        </p:nvSpPr>
        <p:spPr/>
        <p:txBody>
          <a:bodyPr rtlCol="0"/>
          <a:lstStyle/>
          <a:p>
            <a:fld id="{8E6D4583-B84D-4E8C-9202-341AF2CC2A34}"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79E34913-FB48-4466-97CB-7DDBC083969F}" type="datetimeFigureOut">
              <a:rPr lang="en-US" smtClean="0"/>
              <a:pPr/>
              <a:t>12/21/2015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8E6D4583-B84D-4E8C-9202-341AF2CC2A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E34913-FB48-4466-97CB-7DDBC083969F}" type="datetimeFigureOut">
              <a:rPr lang="en-US" smtClean="0"/>
              <a:pPr/>
              <a:t>12/21/2015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8E6D4583-B84D-4E8C-9202-341AF2CC2A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79E34913-FB48-4466-97CB-7DDBC083969F}" type="datetimeFigureOut">
              <a:rPr lang="en-US" smtClean="0"/>
              <a:pPr/>
              <a:t>12/21/2015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8E6D4583-B84D-4E8C-9202-341AF2CC2A34}"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79E34913-FB48-4466-97CB-7DDBC083969F}" type="datetimeFigureOut">
              <a:rPr lang="en-US" smtClean="0"/>
              <a:pPr/>
              <a:t>12/21/2015</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8E6D4583-B84D-4E8C-9202-341AF2CC2A34}"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9E34913-FB48-4466-97CB-7DDBC083969F}" type="datetimeFigureOut">
              <a:rPr lang="en-US" smtClean="0"/>
              <a:pPr/>
              <a:t>12/21/2015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6D4583-B84D-4E8C-9202-341AF2CC2A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79E34913-FB48-4466-97CB-7DDBC083969F}" type="datetimeFigureOut">
              <a:rPr lang="en-US" smtClean="0"/>
              <a:pPr/>
              <a:t>12/21/2015</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8E6D4583-B84D-4E8C-9202-341AF2CC2A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0"/>
            <a:ext cx="8382000" cy="6858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381000" y="1447800"/>
            <a:ext cx="8382000" cy="5029200"/>
          </a:xfrm>
        </p:spPr>
        <p:txBody>
          <a:bodyPr/>
          <a:lstStyle/>
          <a:p>
            <a:pPr lvl="0"/>
            <a:endParaRPr lang="en-US" noProof="0" smtClean="0"/>
          </a:p>
        </p:txBody>
      </p:sp>
      <p:sp>
        <p:nvSpPr>
          <p:cNvPr id="4" name="Rectangle 2059"/>
          <p:cNvSpPr>
            <a:spLocks noGrp="1" noChangeArrowheads="1"/>
          </p:cNvSpPr>
          <p:nvPr>
            <p:ph type="dt" sz="half" idx="10"/>
          </p:nvPr>
        </p:nvSpPr>
        <p:spPr>
          <a:ln/>
        </p:spPr>
        <p:txBody>
          <a:bodyPr/>
          <a:lstStyle>
            <a:lvl1pPr>
              <a:defRPr/>
            </a:lvl1pPr>
          </a:lstStyle>
          <a:p>
            <a:pPr>
              <a:defRPr/>
            </a:pPr>
            <a:fld id="{A1C9F23C-2E9A-4020-97F2-79682BD3C44C}" type="datetime4">
              <a:rPr lang="en-US"/>
              <a:pPr>
                <a:defRPr/>
              </a:pPr>
              <a:t>December 21, 2015</a:t>
            </a:fld>
            <a:endParaRPr lang="en-US"/>
          </a:p>
        </p:txBody>
      </p:sp>
      <p:sp>
        <p:nvSpPr>
          <p:cNvPr id="5" name="Rectangle 2060"/>
          <p:cNvSpPr>
            <a:spLocks noGrp="1" noChangeArrowheads="1"/>
          </p:cNvSpPr>
          <p:nvPr>
            <p:ph type="ftr" sz="quarter" idx="11"/>
          </p:nvPr>
        </p:nvSpPr>
        <p:spPr>
          <a:ln/>
        </p:spPr>
        <p:txBody>
          <a:bodyPr/>
          <a:lstStyle>
            <a:lvl1pPr>
              <a:defRPr/>
            </a:lvl1pPr>
          </a:lstStyle>
          <a:p>
            <a:pPr>
              <a:defRPr/>
            </a:pPr>
            <a:r>
              <a:rPr lang="en-US"/>
              <a:t>Data Mining: Concepts and Techniques</a:t>
            </a:r>
          </a:p>
        </p:txBody>
      </p:sp>
      <p:sp>
        <p:nvSpPr>
          <p:cNvPr id="6" name="Rectangle 2061"/>
          <p:cNvSpPr>
            <a:spLocks noGrp="1" noChangeArrowheads="1"/>
          </p:cNvSpPr>
          <p:nvPr>
            <p:ph type="sldNum" sz="quarter" idx="12"/>
          </p:nvPr>
        </p:nvSpPr>
        <p:spPr>
          <a:ln/>
        </p:spPr>
        <p:txBody>
          <a:bodyPr/>
          <a:lstStyle>
            <a:lvl1pPr>
              <a:defRPr/>
            </a:lvl1pPr>
          </a:lstStyle>
          <a:p>
            <a:pPr>
              <a:defRPr/>
            </a:pPr>
            <a:fld id="{96524132-1F81-4EE9-8A53-850E16A4DB1F}" type="slidenum">
              <a:rPr lang="en-US"/>
              <a:pPr>
                <a:defRPr/>
              </a:pPr>
              <a:t>‹#›</a:t>
            </a:fld>
            <a:endParaRPr lang="en-US"/>
          </a:p>
        </p:txBody>
      </p:sp>
    </p:spTree>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79E34913-FB48-4466-97CB-7DDBC083969F}" type="datetimeFigureOut">
              <a:rPr lang="en-US" smtClean="0"/>
              <a:pPr/>
              <a:t>12/21/2015</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8E6D4583-B84D-4E8C-9202-341AF2CC2A3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 id="2147483852" r:id="rId12"/>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hyperlink" Target="http://en.wikipedia.org/wiki/Bill_Inmon" TargetMode="Externa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3"/>
          <p:cNvSpPr>
            <a:spLocks noGrp="1"/>
          </p:cNvSpPr>
          <p:nvPr>
            <p:ph type="ctrTitle"/>
          </p:nvPr>
        </p:nvSpPr>
        <p:spPr>
          <a:xfrm>
            <a:off x="0" y="289560"/>
            <a:ext cx="9144000" cy="2301240"/>
          </a:xfrm>
        </p:spPr>
        <p:txBody>
          <a:bodyPr/>
          <a:lstStyle/>
          <a:p>
            <a:pPr algn="ctr"/>
            <a:r>
              <a:rPr lang="en-US" dirty="0" smtClean="0"/>
              <a:t>Data Warehousing &amp; Data Mining</a:t>
            </a:r>
            <a:endParaRPr lang="en-US" dirty="0"/>
          </a:p>
        </p:txBody>
      </p:sp>
      <p:sp>
        <p:nvSpPr>
          <p:cNvPr id="10" name="Subtitle 9"/>
          <p:cNvSpPr>
            <a:spLocks noGrp="1"/>
          </p:cNvSpPr>
          <p:nvPr>
            <p:ph type="subTitle" idx="1"/>
          </p:nvPr>
        </p:nvSpPr>
        <p:spPr>
          <a:xfrm>
            <a:off x="228600" y="3124200"/>
            <a:ext cx="8915400" cy="2819400"/>
          </a:xfrm>
        </p:spPr>
        <p:txBody>
          <a:bodyPr>
            <a:normAutofit lnSpcReduction="10000"/>
          </a:bodyPr>
          <a:lstStyle/>
          <a:p>
            <a:pPr algn="ctr"/>
            <a:r>
              <a:rPr lang="en-US" b="1" dirty="0" smtClean="0">
                <a:solidFill>
                  <a:srgbClr val="FF0000"/>
                </a:solidFill>
              </a:rPr>
              <a:t>Book1:</a:t>
            </a:r>
          </a:p>
          <a:p>
            <a:pPr algn="ctr"/>
            <a:r>
              <a:rPr lang="en-US" dirty="0" smtClean="0">
                <a:solidFill>
                  <a:srgbClr val="00B050"/>
                </a:solidFill>
              </a:rPr>
              <a:t>Data Mining Concepts &amp; Techniques:   </a:t>
            </a:r>
            <a:r>
              <a:rPr lang="en-US" dirty="0" err="1" smtClean="0">
                <a:solidFill>
                  <a:srgbClr val="C00000"/>
                </a:solidFill>
              </a:rPr>
              <a:t>Jiawei</a:t>
            </a:r>
            <a:r>
              <a:rPr lang="en-US" dirty="0" smtClean="0">
                <a:solidFill>
                  <a:srgbClr val="C00000"/>
                </a:solidFill>
              </a:rPr>
              <a:t> Han &amp; </a:t>
            </a:r>
            <a:r>
              <a:rPr lang="en-US" dirty="0" err="1" smtClean="0">
                <a:solidFill>
                  <a:srgbClr val="C00000"/>
                </a:solidFill>
              </a:rPr>
              <a:t>Micheline</a:t>
            </a:r>
            <a:r>
              <a:rPr lang="en-US" dirty="0" smtClean="0">
                <a:solidFill>
                  <a:srgbClr val="C00000"/>
                </a:solidFill>
              </a:rPr>
              <a:t>-Morgan Kauffman Publication</a:t>
            </a:r>
          </a:p>
          <a:p>
            <a:pPr algn="ctr"/>
            <a:endParaRPr lang="en-US" dirty="0" smtClean="0">
              <a:solidFill>
                <a:srgbClr val="00B050"/>
              </a:solidFill>
            </a:endParaRPr>
          </a:p>
          <a:p>
            <a:pPr algn="ctr"/>
            <a:r>
              <a:rPr lang="en-US" b="1" dirty="0" smtClean="0">
                <a:solidFill>
                  <a:srgbClr val="FF0000"/>
                </a:solidFill>
              </a:rPr>
              <a:t>Book2: </a:t>
            </a:r>
          </a:p>
          <a:p>
            <a:pPr algn="ctr"/>
            <a:r>
              <a:rPr lang="en-US" dirty="0" smtClean="0">
                <a:solidFill>
                  <a:srgbClr val="00B050"/>
                </a:solidFill>
              </a:rPr>
              <a:t>Data warehousing , Data mining &amp; OLAP By: </a:t>
            </a:r>
            <a:r>
              <a:rPr lang="en-US" dirty="0" err="1" smtClean="0">
                <a:solidFill>
                  <a:srgbClr val="C00000"/>
                </a:solidFill>
              </a:rPr>
              <a:t>Berson</a:t>
            </a:r>
            <a:r>
              <a:rPr lang="en-US" dirty="0" smtClean="0">
                <a:solidFill>
                  <a:srgbClr val="C00000"/>
                </a:solidFill>
              </a:rPr>
              <a:t> &amp; Smith -TMH</a:t>
            </a:r>
          </a:p>
          <a:p>
            <a:pPr algn="l"/>
            <a:endParaRPr lang="en-US" dirty="0">
              <a:solidFill>
                <a:srgbClr val="00B050"/>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rgbClr val="00B050"/>
                </a:solidFill>
                <a:latin typeface="Arial Rounded MT Bold" pitchFamily="34" charset="0"/>
              </a:rPr>
              <a:t>Units To Be Covered</a:t>
            </a:r>
            <a:endParaRPr lang="en-US" dirty="0">
              <a:solidFill>
                <a:srgbClr val="00B050"/>
              </a:solidFill>
              <a:latin typeface="Arial Rounded MT Bold" pitchFamily="34" charset="0"/>
            </a:endParaRPr>
          </a:p>
        </p:txBody>
      </p:sp>
      <p:sp>
        <p:nvSpPr>
          <p:cNvPr id="3" name="Content Placeholder 2"/>
          <p:cNvSpPr>
            <a:spLocks noGrp="1"/>
          </p:cNvSpPr>
          <p:nvPr>
            <p:ph sz="quarter" idx="1"/>
          </p:nvPr>
        </p:nvSpPr>
        <p:spPr>
          <a:xfrm>
            <a:off x="457200" y="1646237"/>
            <a:ext cx="8153400" cy="4830763"/>
          </a:xfrm>
        </p:spPr>
        <p:txBody>
          <a:bodyPr/>
          <a:lstStyle/>
          <a:p>
            <a:pPr marL="550926" indent="-514350">
              <a:buFont typeface="+mj-lt"/>
              <a:buAutoNum type="arabicPeriod"/>
            </a:pPr>
            <a:r>
              <a:rPr lang="en-US" dirty="0" smtClean="0">
                <a:solidFill>
                  <a:srgbClr val="0070C0"/>
                </a:solidFill>
              </a:rPr>
              <a:t>Data warehousing</a:t>
            </a:r>
          </a:p>
          <a:p>
            <a:pPr marL="550926" indent="-514350">
              <a:buFont typeface="+mj-lt"/>
              <a:buAutoNum type="arabicPeriod"/>
            </a:pPr>
            <a:r>
              <a:rPr lang="en-US" dirty="0" smtClean="0">
                <a:solidFill>
                  <a:srgbClr val="C00000"/>
                </a:solidFill>
              </a:rPr>
              <a:t>Data Preprocessing</a:t>
            </a:r>
          </a:p>
          <a:p>
            <a:pPr marL="550926" indent="-514350">
              <a:buFont typeface="+mj-lt"/>
              <a:buAutoNum type="arabicPeriod"/>
            </a:pPr>
            <a:r>
              <a:rPr lang="en-US" dirty="0" smtClean="0">
                <a:solidFill>
                  <a:srgbClr val="0070C0"/>
                </a:solidFill>
              </a:rPr>
              <a:t>Introduction to data mining</a:t>
            </a:r>
          </a:p>
          <a:p>
            <a:pPr marL="550926" indent="-514350">
              <a:buFont typeface="+mj-lt"/>
              <a:buAutoNum type="arabicPeriod"/>
            </a:pPr>
            <a:r>
              <a:rPr lang="en-US" dirty="0" smtClean="0">
                <a:solidFill>
                  <a:srgbClr val="C00000"/>
                </a:solidFill>
              </a:rPr>
              <a:t>Association rule mining</a:t>
            </a:r>
          </a:p>
          <a:p>
            <a:pPr marL="550926" indent="-514350">
              <a:buFont typeface="+mj-lt"/>
              <a:buAutoNum type="arabicPeriod"/>
            </a:pPr>
            <a:r>
              <a:rPr lang="en-US" dirty="0" smtClean="0">
                <a:solidFill>
                  <a:srgbClr val="0070C0"/>
                </a:solidFill>
              </a:rPr>
              <a:t>Classification &amp; prediction</a:t>
            </a:r>
          </a:p>
          <a:p>
            <a:pPr marL="550926" indent="-514350">
              <a:buFont typeface="+mj-lt"/>
              <a:buAutoNum type="arabicPeriod"/>
            </a:pPr>
            <a:r>
              <a:rPr lang="en-US" dirty="0" smtClean="0">
                <a:solidFill>
                  <a:srgbClr val="C00000"/>
                </a:solidFill>
              </a:rPr>
              <a:t>Cluster analysis</a:t>
            </a:r>
          </a:p>
          <a:p>
            <a:pPr marL="550926" indent="-514350">
              <a:buFont typeface="+mj-lt"/>
              <a:buAutoNum type="arabicPeriod"/>
            </a:pPr>
            <a:r>
              <a:rPr lang="en-US" dirty="0" smtClean="0">
                <a:solidFill>
                  <a:srgbClr val="0070C0"/>
                </a:solidFill>
              </a:rPr>
              <a:t>Data mining cases</a:t>
            </a:r>
          </a:p>
          <a:p>
            <a:pPr marL="550926" indent="-514350">
              <a:buFont typeface="+mj-lt"/>
              <a:buAutoNum type="arabicPeriod"/>
            </a:pPr>
            <a:r>
              <a:rPr lang="en-US" dirty="0" smtClean="0">
                <a:solidFill>
                  <a:srgbClr val="C00000"/>
                </a:solidFill>
              </a:rPr>
              <a:t>Data mining confidentiality</a:t>
            </a:r>
            <a:endParaRPr lang="en-US" dirty="0">
              <a:solidFill>
                <a:srgbClr val="C00000"/>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1219200" y="3657600"/>
            <a:ext cx="6629400" cy="733088"/>
          </a:xfrm>
        </p:spPr>
        <p:txBody>
          <a:bodyPr>
            <a:noAutofit/>
          </a:bodyPr>
          <a:lstStyle/>
          <a:p>
            <a:pPr algn="ctr"/>
            <a:r>
              <a:rPr lang="en-US" sz="4800" dirty="0" smtClean="0">
                <a:solidFill>
                  <a:srgbClr val="00B0F0"/>
                </a:solidFill>
              </a:rPr>
              <a:t>Data Warehousing</a:t>
            </a:r>
            <a:endParaRPr lang="en-US" sz="4800" dirty="0">
              <a:solidFill>
                <a:srgbClr val="00B0F0"/>
              </a:solidFill>
            </a:endParaRPr>
          </a:p>
        </p:txBody>
      </p:sp>
      <p:sp>
        <p:nvSpPr>
          <p:cNvPr id="2" name="Title 1"/>
          <p:cNvSpPr>
            <a:spLocks noGrp="1"/>
          </p:cNvSpPr>
          <p:nvPr>
            <p:ph type="title"/>
          </p:nvPr>
        </p:nvSpPr>
        <p:spPr>
          <a:xfrm>
            <a:off x="1295400" y="1371600"/>
            <a:ext cx="6629400" cy="1143000"/>
          </a:xfrm>
        </p:spPr>
        <p:txBody>
          <a:bodyPr/>
          <a:lstStyle/>
          <a:p>
            <a:pPr algn="ctr"/>
            <a:r>
              <a:rPr lang="en-US" dirty="0" smtClean="0"/>
              <a:t>Unit-1</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0"/>
            <a:ext cx="9144000" cy="1143000"/>
          </a:xfrm>
        </p:spPr>
        <p:txBody>
          <a:bodyPr/>
          <a:lstStyle/>
          <a:p>
            <a:pPr algn="ctr"/>
            <a:r>
              <a:rPr lang="en-US" dirty="0" smtClean="0">
                <a:solidFill>
                  <a:srgbClr val="0070C0"/>
                </a:solidFill>
                <a:latin typeface="Bernard MT Condensed" pitchFamily="18" charset="0"/>
              </a:rPr>
              <a:t>Topic to be covered in unit-1</a:t>
            </a:r>
            <a:endParaRPr lang="en-US" dirty="0">
              <a:solidFill>
                <a:srgbClr val="0070C0"/>
              </a:solidFill>
              <a:latin typeface="Bernard MT Condensed" pitchFamily="18" charset="0"/>
            </a:endParaRPr>
          </a:p>
        </p:txBody>
      </p:sp>
      <p:sp>
        <p:nvSpPr>
          <p:cNvPr id="5" name="Content Placeholder 4"/>
          <p:cNvSpPr>
            <a:spLocks noGrp="1"/>
          </p:cNvSpPr>
          <p:nvPr>
            <p:ph sz="quarter" idx="1"/>
          </p:nvPr>
        </p:nvSpPr>
        <p:spPr>
          <a:xfrm>
            <a:off x="457200" y="1600200"/>
            <a:ext cx="7924800" cy="4525963"/>
          </a:xfrm>
        </p:spPr>
        <p:txBody>
          <a:bodyPr>
            <a:normAutofit/>
          </a:bodyPr>
          <a:lstStyle/>
          <a:p>
            <a:r>
              <a:rPr lang="en-US" dirty="0" smtClean="0">
                <a:solidFill>
                  <a:srgbClr val="C00000"/>
                </a:solidFill>
              </a:rPr>
              <a:t>Definition  of data warehouse. </a:t>
            </a:r>
          </a:p>
          <a:p>
            <a:r>
              <a:rPr lang="en-US" dirty="0" smtClean="0">
                <a:solidFill>
                  <a:srgbClr val="0070C0"/>
                </a:solidFill>
              </a:rPr>
              <a:t>Characteristics of Data warehouse.</a:t>
            </a:r>
          </a:p>
          <a:p>
            <a:r>
              <a:rPr lang="en-US" dirty="0" smtClean="0">
                <a:solidFill>
                  <a:srgbClr val="C00000"/>
                </a:solidFill>
              </a:rPr>
              <a:t>Benefit of data warehouse.</a:t>
            </a:r>
          </a:p>
          <a:p>
            <a:r>
              <a:rPr lang="en-US" dirty="0" smtClean="0">
                <a:solidFill>
                  <a:srgbClr val="0070C0"/>
                </a:solidFill>
              </a:rPr>
              <a:t>Need of separate data ware house.</a:t>
            </a:r>
          </a:p>
          <a:p>
            <a:r>
              <a:rPr lang="en-US" dirty="0" smtClean="0">
                <a:solidFill>
                  <a:srgbClr val="C00000"/>
                </a:solidFill>
              </a:rPr>
              <a:t>OLAP &amp; OLTP</a:t>
            </a:r>
          </a:p>
          <a:p>
            <a:r>
              <a:rPr lang="en-US" dirty="0" smtClean="0">
                <a:solidFill>
                  <a:srgbClr val="0070C0"/>
                </a:solidFill>
              </a:rPr>
              <a:t>Multi Dimensional  Data Models</a:t>
            </a:r>
          </a:p>
          <a:p>
            <a:r>
              <a:rPr lang="en-US" dirty="0" smtClean="0">
                <a:solidFill>
                  <a:srgbClr val="C00000"/>
                </a:solidFill>
              </a:rPr>
              <a:t>OLAP Operations</a:t>
            </a:r>
          </a:p>
          <a:p>
            <a:r>
              <a:rPr lang="en-US" dirty="0" smtClean="0">
                <a:solidFill>
                  <a:srgbClr val="0070C0"/>
                </a:solidFill>
              </a:rPr>
              <a:t>Data marts and type of Data marts</a:t>
            </a:r>
          </a:p>
          <a:p>
            <a:endParaRPr lang="en-US" dirty="0" smtClean="0">
              <a:solidFill>
                <a:srgbClr val="C00000"/>
              </a:solidFill>
            </a:endParaRPr>
          </a:p>
          <a:p>
            <a:endParaRPr lang="en-US" dirty="0" smtClean="0">
              <a:solidFill>
                <a:srgbClr val="C00000"/>
              </a:solidFill>
            </a:endParaRPr>
          </a:p>
          <a:p>
            <a:endParaRPr lang="en-US" dirty="0">
              <a:solidFill>
                <a:srgbClr val="C00000"/>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58200" cy="1143000"/>
          </a:xfrm>
        </p:spPr>
        <p:txBody>
          <a:bodyPr>
            <a:normAutofit/>
          </a:bodyPr>
          <a:lstStyle/>
          <a:p>
            <a:pPr algn="ctr"/>
            <a:r>
              <a:rPr lang="en-US" dirty="0" smtClean="0">
                <a:solidFill>
                  <a:srgbClr val="0070C0"/>
                </a:solidFill>
                <a:latin typeface="Bernard MT Condensed" pitchFamily="18" charset="0"/>
              </a:rPr>
              <a:t>Topic to be covered in unit-1</a:t>
            </a:r>
          </a:p>
        </p:txBody>
      </p:sp>
      <p:sp>
        <p:nvSpPr>
          <p:cNvPr id="3" name="Content Placeholder 2"/>
          <p:cNvSpPr>
            <a:spLocks noGrp="1"/>
          </p:cNvSpPr>
          <p:nvPr>
            <p:ph sz="quarter" idx="1"/>
          </p:nvPr>
        </p:nvSpPr>
        <p:spPr>
          <a:xfrm>
            <a:off x="685800" y="1371600"/>
            <a:ext cx="7467600" cy="4525963"/>
          </a:xfrm>
        </p:spPr>
        <p:txBody>
          <a:bodyPr>
            <a:normAutofit/>
          </a:bodyPr>
          <a:lstStyle/>
          <a:p>
            <a:r>
              <a:rPr lang="en-US" dirty="0" smtClean="0">
                <a:solidFill>
                  <a:srgbClr val="C00000"/>
                </a:solidFill>
              </a:rPr>
              <a:t>Design of data warehouse</a:t>
            </a:r>
          </a:p>
          <a:p>
            <a:r>
              <a:rPr lang="en-US" dirty="0" smtClean="0">
                <a:solidFill>
                  <a:srgbClr val="0070C0"/>
                </a:solidFill>
              </a:rPr>
              <a:t>Process of data warehouse design</a:t>
            </a:r>
          </a:p>
          <a:p>
            <a:r>
              <a:rPr lang="en-US" dirty="0" smtClean="0">
                <a:solidFill>
                  <a:srgbClr val="C00000"/>
                </a:solidFill>
              </a:rPr>
              <a:t>Tree tier data warehouse architecture.</a:t>
            </a:r>
          </a:p>
          <a:p>
            <a:r>
              <a:rPr lang="en-US" dirty="0" smtClean="0">
                <a:solidFill>
                  <a:srgbClr val="0070C0"/>
                </a:solidFill>
              </a:rPr>
              <a:t>Types of OLAP Servers</a:t>
            </a:r>
          </a:p>
          <a:p>
            <a:pPr marL="594360" lvl="2" indent="-320040">
              <a:spcBef>
                <a:spcPts val="700"/>
              </a:spcBef>
              <a:buSzPct val="60000"/>
              <a:buFont typeface="Wingdings"/>
              <a:buChar char=""/>
            </a:pPr>
            <a:r>
              <a:rPr lang="en-US" b="1" dirty="0" smtClean="0">
                <a:solidFill>
                  <a:srgbClr val="C00000"/>
                </a:solidFill>
              </a:rPr>
              <a:t>ROLAP</a:t>
            </a:r>
          </a:p>
          <a:p>
            <a:pPr marL="594360" lvl="2" indent="-320040">
              <a:spcBef>
                <a:spcPts val="700"/>
              </a:spcBef>
              <a:buSzPct val="60000"/>
              <a:buFont typeface="Wingdings"/>
              <a:buChar char=""/>
            </a:pPr>
            <a:r>
              <a:rPr lang="en-US" b="1" dirty="0" smtClean="0">
                <a:solidFill>
                  <a:srgbClr val="C00000"/>
                </a:solidFill>
              </a:rPr>
              <a:t>MOLAP</a:t>
            </a:r>
          </a:p>
          <a:p>
            <a:pPr marL="594360" lvl="2" indent="-320040">
              <a:spcBef>
                <a:spcPts val="700"/>
              </a:spcBef>
              <a:buSzPct val="60000"/>
              <a:buFont typeface="Wingdings"/>
              <a:buChar char=""/>
            </a:pPr>
            <a:r>
              <a:rPr lang="en-US" b="1" dirty="0" smtClean="0">
                <a:solidFill>
                  <a:srgbClr val="C00000"/>
                </a:solidFill>
              </a:rPr>
              <a:t>HOLAP</a:t>
            </a:r>
          </a:p>
          <a:p>
            <a:r>
              <a:rPr lang="en-US" dirty="0" smtClean="0">
                <a:solidFill>
                  <a:srgbClr val="0070C0"/>
                </a:solidFill>
              </a:rPr>
              <a:t>Data were house  backend tools &amp; utility.</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1295400" y="304800"/>
            <a:ext cx="7010400" cy="838200"/>
          </a:xfrm>
          <a:noFill/>
        </p:spPr>
        <p:txBody>
          <a:bodyPr lIns="92075" tIns="46038" rIns="92075" bIns="46038" anchor="ctr">
            <a:normAutofit/>
          </a:bodyPr>
          <a:lstStyle/>
          <a:p>
            <a:pPr eaLnBrk="1" hangingPunct="1"/>
            <a:r>
              <a:rPr lang="en-US" dirty="0" smtClean="0">
                <a:solidFill>
                  <a:srgbClr val="0070C0"/>
                </a:solidFill>
                <a:latin typeface="Bernard MT Condensed" pitchFamily="18" charset="0"/>
              </a:rPr>
              <a:t>What is a Data Warehouse?</a:t>
            </a:r>
          </a:p>
        </p:txBody>
      </p:sp>
      <p:sp>
        <p:nvSpPr>
          <p:cNvPr id="11266" name="Slide Number Placeholder 5"/>
          <p:cNvSpPr>
            <a:spLocks noGrp="1"/>
          </p:cNvSpPr>
          <p:nvPr>
            <p:ph type="sldNum" sz="quarter" idx="12"/>
          </p:nvPr>
        </p:nvSpPr>
        <p:spPr>
          <a:noFill/>
        </p:spPr>
        <p:txBody>
          <a:bodyPr>
            <a:normAutofit fontScale="85000" lnSpcReduction="20000"/>
          </a:bodyPr>
          <a:lstStyle/>
          <a:p>
            <a:fld id="{1D77EEAF-3D59-4EF1-8E0E-337DDAFC60C1}" type="slidenum">
              <a:rPr lang="en-US" smtClean="0"/>
              <a:pPr/>
              <a:t>6</a:t>
            </a:fld>
            <a:endParaRPr lang="en-US" smtClean="0"/>
          </a:p>
        </p:txBody>
      </p:sp>
      <p:sp>
        <p:nvSpPr>
          <p:cNvPr id="11268" name="Rectangle 3"/>
          <p:cNvSpPr>
            <a:spLocks noGrp="1" noChangeArrowheads="1"/>
          </p:cNvSpPr>
          <p:nvPr>
            <p:ph sz="quarter" idx="1"/>
          </p:nvPr>
        </p:nvSpPr>
        <p:spPr>
          <a:xfrm>
            <a:off x="381000" y="1371600"/>
            <a:ext cx="8305800" cy="5181600"/>
          </a:xfrm>
          <a:noFill/>
        </p:spPr>
        <p:txBody>
          <a:bodyPr lIns="92075" tIns="46038" rIns="92075" bIns="46038">
            <a:normAutofit lnSpcReduction="10000"/>
          </a:bodyPr>
          <a:lstStyle/>
          <a:p>
            <a:pPr eaLnBrk="1" hangingPunct="1">
              <a:lnSpc>
                <a:spcPct val="140000"/>
              </a:lnSpc>
            </a:pPr>
            <a:r>
              <a:rPr lang="en-US" sz="2800" b="1" dirty="0" smtClean="0">
                <a:solidFill>
                  <a:srgbClr val="C00000"/>
                </a:solidFill>
              </a:rPr>
              <a:t>Defined in many different ways, but not rigorously.</a:t>
            </a:r>
          </a:p>
          <a:p>
            <a:pPr lvl="1">
              <a:lnSpc>
                <a:spcPct val="140000"/>
              </a:lnSpc>
            </a:pPr>
            <a:r>
              <a:rPr lang="en-US" sz="2000" b="1" dirty="0" smtClean="0"/>
              <a:t>A decision support database that is maintained </a:t>
            </a:r>
            <a:r>
              <a:rPr lang="en-US" sz="2000" b="1" dirty="0" smtClean="0">
                <a:solidFill>
                  <a:srgbClr val="C00000"/>
                </a:solidFill>
              </a:rPr>
              <a:t>separately</a:t>
            </a:r>
            <a:r>
              <a:rPr lang="en-US" sz="2000" b="1" dirty="0" smtClean="0">
                <a:solidFill>
                  <a:schemeClr val="hlink"/>
                </a:solidFill>
              </a:rPr>
              <a:t> </a:t>
            </a:r>
            <a:r>
              <a:rPr lang="en-US" sz="2000" b="1" dirty="0" smtClean="0"/>
              <a:t>from the organization’s operational database</a:t>
            </a:r>
          </a:p>
          <a:p>
            <a:pPr lvl="1">
              <a:lnSpc>
                <a:spcPct val="140000"/>
              </a:lnSpc>
            </a:pPr>
            <a:r>
              <a:rPr lang="en-US" sz="2000" b="1" dirty="0" smtClean="0"/>
              <a:t>Support </a:t>
            </a:r>
            <a:r>
              <a:rPr lang="en-US" sz="2000" b="1" dirty="0" smtClean="0">
                <a:solidFill>
                  <a:srgbClr val="C00000"/>
                </a:solidFill>
              </a:rPr>
              <a:t>information processing </a:t>
            </a:r>
            <a:r>
              <a:rPr lang="en-US" sz="2000" b="1" dirty="0" smtClean="0"/>
              <a:t>by providing a solid platform of consolidated, historical data for analysis.</a:t>
            </a:r>
          </a:p>
          <a:p>
            <a:pPr eaLnBrk="1" hangingPunct="1">
              <a:lnSpc>
                <a:spcPct val="140000"/>
              </a:lnSpc>
            </a:pPr>
            <a:r>
              <a:rPr lang="en-US" sz="2000" b="1" dirty="0" smtClean="0"/>
              <a:t>“A data warehouse is a </a:t>
            </a:r>
            <a:r>
              <a:rPr lang="en-US" sz="2000" b="1" u="sng" dirty="0" smtClean="0">
                <a:solidFill>
                  <a:srgbClr val="C00000"/>
                </a:solidFill>
              </a:rPr>
              <a:t>subject-oriented</a:t>
            </a:r>
            <a:r>
              <a:rPr lang="en-US" sz="2000" b="1" dirty="0" smtClean="0">
                <a:solidFill>
                  <a:srgbClr val="C00000"/>
                </a:solidFill>
              </a:rPr>
              <a:t>,</a:t>
            </a:r>
            <a:r>
              <a:rPr lang="en-US" sz="2000" b="1" u="sng" dirty="0" smtClean="0"/>
              <a:t> </a:t>
            </a:r>
            <a:r>
              <a:rPr lang="en-US" sz="2000" b="1" u="sng" dirty="0" smtClean="0">
                <a:solidFill>
                  <a:srgbClr val="00B0F0"/>
                </a:solidFill>
              </a:rPr>
              <a:t>integrated</a:t>
            </a:r>
            <a:r>
              <a:rPr lang="en-US" sz="2000" b="1" dirty="0" smtClean="0"/>
              <a:t>, </a:t>
            </a:r>
            <a:r>
              <a:rPr lang="en-US" sz="2000" b="1" u="sng" dirty="0" smtClean="0">
                <a:solidFill>
                  <a:srgbClr val="0070C0"/>
                </a:solidFill>
              </a:rPr>
              <a:t>time-variant</a:t>
            </a:r>
            <a:r>
              <a:rPr lang="en-US" sz="2000" b="1" dirty="0" smtClean="0">
                <a:solidFill>
                  <a:srgbClr val="0070C0"/>
                </a:solidFill>
              </a:rPr>
              <a:t>, </a:t>
            </a:r>
            <a:r>
              <a:rPr lang="en-US" sz="2000" b="1" dirty="0" smtClean="0"/>
              <a:t>and </a:t>
            </a:r>
            <a:r>
              <a:rPr lang="en-US" sz="2000" b="1" u="sng" dirty="0" smtClean="0">
                <a:solidFill>
                  <a:srgbClr val="C00000"/>
                </a:solidFill>
              </a:rPr>
              <a:t>nonvolatile</a:t>
            </a:r>
            <a:r>
              <a:rPr lang="en-US" sz="2000" b="1" dirty="0" smtClean="0">
                <a:solidFill>
                  <a:srgbClr val="C00000"/>
                </a:solidFill>
              </a:rPr>
              <a:t> </a:t>
            </a:r>
            <a:r>
              <a:rPr lang="en-US" sz="2000" b="1" dirty="0" smtClean="0"/>
              <a:t>collection of data in support of management’s decision-making process.”—</a:t>
            </a:r>
            <a:r>
              <a:rPr lang="en-US" sz="2000" b="1" dirty="0" smtClean="0">
                <a:hlinkClick r:id="rId3" action="ppaction://hlinksldjump"/>
              </a:rPr>
              <a:t>W. H. </a:t>
            </a:r>
            <a:r>
              <a:rPr lang="en-US" sz="2000" b="1" dirty="0" err="1" smtClean="0">
                <a:hlinkClick r:id="rId3" action="ppaction://hlinksldjump"/>
              </a:rPr>
              <a:t>Inmon</a:t>
            </a:r>
            <a:endParaRPr lang="en-US" sz="2000" b="1" dirty="0" smtClean="0"/>
          </a:p>
          <a:p>
            <a:pPr eaLnBrk="1" hangingPunct="1">
              <a:lnSpc>
                <a:spcPct val="140000"/>
              </a:lnSpc>
            </a:pPr>
            <a:r>
              <a:rPr lang="en-US" sz="2800" b="1" dirty="0" smtClean="0"/>
              <a:t>Data warehousing</a:t>
            </a:r>
            <a:r>
              <a:rPr lang="en-US" sz="2800" dirty="0" smtClean="0"/>
              <a:t>:-</a:t>
            </a:r>
          </a:p>
          <a:p>
            <a:pPr lvl="1" eaLnBrk="1" hangingPunct="1">
              <a:lnSpc>
                <a:spcPct val="140000"/>
              </a:lnSpc>
            </a:pPr>
            <a:r>
              <a:rPr lang="en-US" dirty="0" smtClean="0"/>
              <a:t>The process of constructing and using data warehouses</a:t>
            </a: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a:noFill/>
        </p:spPr>
        <p:txBody>
          <a:bodyPr lIns="92075" tIns="46038" rIns="92075" bIns="46038">
            <a:normAutofit/>
          </a:bodyPr>
          <a:lstStyle/>
          <a:p>
            <a:pPr eaLnBrk="1" hangingPunct="1"/>
            <a:r>
              <a:rPr lang="en-US" dirty="0" smtClean="0">
                <a:solidFill>
                  <a:srgbClr val="0070C0"/>
                </a:solidFill>
                <a:latin typeface="Bernard MT Condensed" pitchFamily="18" charset="0"/>
              </a:rPr>
              <a:t>Data Warehouse—Subject-Oriented</a:t>
            </a:r>
          </a:p>
        </p:txBody>
      </p:sp>
      <p:sp>
        <p:nvSpPr>
          <p:cNvPr id="12290" name="Slide Number Placeholder 5"/>
          <p:cNvSpPr>
            <a:spLocks noGrp="1"/>
          </p:cNvSpPr>
          <p:nvPr>
            <p:ph type="sldNum" sz="quarter" idx="12"/>
          </p:nvPr>
        </p:nvSpPr>
        <p:spPr>
          <a:noFill/>
        </p:spPr>
        <p:txBody>
          <a:bodyPr>
            <a:normAutofit fontScale="85000" lnSpcReduction="20000"/>
          </a:bodyPr>
          <a:lstStyle/>
          <a:p>
            <a:fld id="{B1876C68-9E41-4B66-A16F-37B6D04B1D53}" type="slidenum">
              <a:rPr lang="en-US" smtClean="0"/>
              <a:pPr/>
              <a:t>7</a:t>
            </a:fld>
            <a:endParaRPr lang="en-US" smtClean="0"/>
          </a:p>
        </p:txBody>
      </p:sp>
      <p:sp>
        <p:nvSpPr>
          <p:cNvPr id="12292" name="Rectangle 3"/>
          <p:cNvSpPr>
            <a:spLocks noGrp="1" noChangeArrowheads="1"/>
          </p:cNvSpPr>
          <p:nvPr>
            <p:ph sz="quarter" idx="1"/>
          </p:nvPr>
        </p:nvSpPr>
        <p:spPr>
          <a:xfrm>
            <a:off x="381000" y="1524000"/>
            <a:ext cx="8305800" cy="4608513"/>
          </a:xfrm>
          <a:noFill/>
        </p:spPr>
        <p:txBody>
          <a:bodyPr lIns="92075" tIns="46038" rIns="92075" bIns="46038">
            <a:noAutofit/>
          </a:bodyPr>
          <a:lstStyle/>
          <a:p>
            <a:pPr algn="just" eaLnBrk="1" hangingPunct="1">
              <a:lnSpc>
                <a:spcPct val="130000"/>
              </a:lnSpc>
            </a:pPr>
            <a:r>
              <a:rPr lang="en-US" sz="2800" dirty="0" smtClean="0"/>
              <a:t>Organized around major subjects, such as </a:t>
            </a:r>
            <a:r>
              <a:rPr lang="en-US" sz="2800" dirty="0" smtClean="0">
                <a:solidFill>
                  <a:srgbClr val="C00000"/>
                </a:solidFill>
              </a:rPr>
              <a:t>customer</a:t>
            </a:r>
            <a:r>
              <a:rPr lang="en-US" sz="2800" dirty="0" smtClean="0"/>
              <a:t>, </a:t>
            </a:r>
            <a:r>
              <a:rPr lang="en-US" sz="2800" dirty="0" smtClean="0">
                <a:solidFill>
                  <a:srgbClr val="C00000"/>
                </a:solidFill>
              </a:rPr>
              <a:t>product</a:t>
            </a:r>
            <a:r>
              <a:rPr lang="en-US" sz="2800" dirty="0" smtClean="0"/>
              <a:t>, </a:t>
            </a:r>
            <a:r>
              <a:rPr lang="en-US" sz="2800" dirty="0" smtClean="0">
                <a:solidFill>
                  <a:srgbClr val="C00000"/>
                </a:solidFill>
              </a:rPr>
              <a:t>sales</a:t>
            </a:r>
          </a:p>
          <a:p>
            <a:pPr algn="just" eaLnBrk="1" hangingPunct="1">
              <a:lnSpc>
                <a:spcPct val="130000"/>
              </a:lnSpc>
            </a:pPr>
            <a:r>
              <a:rPr lang="en-US" sz="2800" dirty="0" smtClean="0"/>
              <a:t>Focusing on the modeling and analysis of data for decision makers, not on daily operations or transaction processing</a:t>
            </a:r>
          </a:p>
          <a:p>
            <a:pPr algn="just" eaLnBrk="1" hangingPunct="1">
              <a:lnSpc>
                <a:spcPct val="130000"/>
              </a:lnSpc>
            </a:pPr>
            <a:r>
              <a:rPr lang="en-US" sz="2800" dirty="0" smtClean="0"/>
              <a:t>Provide a simple and </a:t>
            </a:r>
            <a:r>
              <a:rPr lang="en-US" sz="2800" dirty="0" smtClean="0">
                <a:solidFill>
                  <a:srgbClr val="C00000"/>
                </a:solidFill>
              </a:rPr>
              <a:t>concise view </a:t>
            </a:r>
            <a:r>
              <a:rPr lang="en-US" sz="2800" dirty="0" smtClean="0"/>
              <a:t>around particular subject issues by </a:t>
            </a:r>
            <a:r>
              <a:rPr lang="en-US" sz="2800" dirty="0" smtClean="0">
                <a:solidFill>
                  <a:srgbClr val="C00000"/>
                </a:solidFill>
              </a:rPr>
              <a:t>excluding data that are not useful in the decision support process</a:t>
            </a: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noFill/>
        </p:spPr>
        <p:txBody>
          <a:bodyPr lIns="92075" tIns="46038" rIns="92075" bIns="46038">
            <a:normAutofit/>
          </a:bodyPr>
          <a:lstStyle/>
          <a:p>
            <a:pPr algn="ctr" eaLnBrk="1" hangingPunct="1"/>
            <a:r>
              <a:rPr lang="en-US" dirty="0" smtClean="0">
                <a:solidFill>
                  <a:srgbClr val="0070C0"/>
                </a:solidFill>
                <a:latin typeface="Bernard MT Condensed" pitchFamily="18" charset="0"/>
              </a:rPr>
              <a:t>Data Warehouse—Integrated</a:t>
            </a:r>
          </a:p>
        </p:txBody>
      </p:sp>
      <p:sp>
        <p:nvSpPr>
          <p:cNvPr id="13314" name="Slide Number Placeholder 5"/>
          <p:cNvSpPr>
            <a:spLocks noGrp="1"/>
          </p:cNvSpPr>
          <p:nvPr>
            <p:ph type="sldNum" sz="quarter" idx="12"/>
          </p:nvPr>
        </p:nvSpPr>
        <p:spPr>
          <a:noFill/>
        </p:spPr>
        <p:txBody>
          <a:bodyPr>
            <a:normAutofit fontScale="85000" lnSpcReduction="20000"/>
          </a:bodyPr>
          <a:lstStyle/>
          <a:p>
            <a:fld id="{4D6A223E-FEF4-41E8-8194-F973910291DE}" type="slidenum">
              <a:rPr lang="en-US" smtClean="0"/>
              <a:pPr/>
              <a:t>8</a:t>
            </a:fld>
            <a:endParaRPr lang="en-US" smtClean="0"/>
          </a:p>
        </p:txBody>
      </p:sp>
      <p:sp>
        <p:nvSpPr>
          <p:cNvPr id="13316" name="Rectangle 3"/>
          <p:cNvSpPr>
            <a:spLocks noGrp="1" noChangeArrowheads="1"/>
          </p:cNvSpPr>
          <p:nvPr>
            <p:ph sz="quarter" idx="1"/>
          </p:nvPr>
        </p:nvSpPr>
        <p:spPr>
          <a:xfrm>
            <a:off x="0" y="1447800"/>
            <a:ext cx="9144000" cy="4953000"/>
          </a:xfrm>
          <a:noFill/>
        </p:spPr>
        <p:txBody>
          <a:bodyPr lIns="92075" tIns="46038" rIns="92075" bIns="46038">
            <a:noAutofit/>
          </a:bodyPr>
          <a:lstStyle/>
          <a:p>
            <a:pPr algn="just" eaLnBrk="1" hangingPunct="1"/>
            <a:r>
              <a:rPr lang="en-US" sz="2800" dirty="0" smtClean="0"/>
              <a:t>Constructed by integrating multiple, heterogeneous data sources</a:t>
            </a:r>
          </a:p>
          <a:p>
            <a:pPr lvl="1" algn="just" eaLnBrk="1" hangingPunct="1"/>
            <a:r>
              <a:rPr lang="en-US" sz="2800" dirty="0" smtClean="0"/>
              <a:t>relational databases, flat files, on-line transaction records</a:t>
            </a:r>
          </a:p>
          <a:p>
            <a:pPr algn="just" eaLnBrk="1" hangingPunct="1"/>
            <a:r>
              <a:rPr lang="en-US" sz="2800" dirty="0" smtClean="0"/>
              <a:t>Data cleaning and data integration techniques are applied.</a:t>
            </a:r>
          </a:p>
          <a:p>
            <a:pPr lvl="1" algn="just" eaLnBrk="1" hangingPunct="1"/>
            <a:r>
              <a:rPr lang="en-US" sz="2800" dirty="0" smtClean="0"/>
              <a:t>Ensure consistency in naming conventions, encoding structures, attribute measures, etc. among different data sources</a:t>
            </a:r>
          </a:p>
          <a:p>
            <a:pPr lvl="2" algn="just" eaLnBrk="1" hangingPunct="1"/>
            <a:r>
              <a:rPr lang="en-US" sz="2400" dirty="0" smtClean="0"/>
              <a:t>E.g., Hotel price: currency, tax, breakfast covered, etc.</a:t>
            </a:r>
          </a:p>
          <a:p>
            <a:pPr lvl="1" algn="just" eaLnBrk="1" hangingPunct="1"/>
            <a:r>
              <a:rPr lang="en-US" sz="2800" dirty="0" smtClean="0"/>
              <a:t>When data is moved to the warehouse, it is converted.  </a:t>
            </a: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a:noFill/>
        </p:spPr>
        <p:txBody>
          <a:bodyPr lIns="92075" tIns="46038" rIns="92075" bIns="46038">
            <a:normAutofit/>
          </a:bodyPr>
          <a:lstStyle/>
          <a:p>
            <a:pPr algn="ctr" eaLnBrk="1" hangingPunct="1"/>
            <a:r>
              <a:rPr lang="en-US" dirty="0" smtClean="0">
                <a:solidFill>
                  <a:srgbClr val="0070C0"/>
                </a:solidFill>
                <a:latin typeface="Bernard MT Condensed" pitchFamily="18" charset="0"/>
              </a:rPr>
              <a:t>Data Warehouse—Time Variant</a:t>
            </a:r>
          </a:p>
        </p:txBody>
      </p:sp>
      <p:sp>
        <p:nvSpPr>
          <p:cNvPr id="14338" name="Slide Number Placeholder 5"/>
          <p:cNvSpPr>
            <a:spLocks noGrp="1"/>
          </p:cNvSpPr>
          <p:nvPr>
            <p:ph type="sldNum" sz="quarter" idx="12"/>
          </p:nvPr>
        </p:nvSpPr>
        <p:spPr>
          <a:noFill/>
        </p:spPr>
        <p:txBody>
          <a:bodyPr>
            <a:normAutofit fontScale="85000" lnSpcReduction="20000"/>
          </a:bodyPr>
          <a:lstStyle/>
          <a:p>
            <a:fld id="{35B67460-34D7-4234-B709-780182B5D326}" type="slidenum">
              <a:rPr lang="en-US" smtClean="0"/>
              <a:pPr/>
              <a:t>9</a:t>
            </a:fld>
            <a:endParaRPr lang="en-US" smtClean="0"/>
          </a:p>
        </p:txBody>
      </p:sp>
      <p:sp>
        <p:nvSpPr>
          <p:cNvPr id="14340" name="Rectangle 3"/>
          <p:cNvSpPr>
            <a:spLocks noGrp="1" noChangeArrowheads="1"/>
          </p:cNvSpPr>
          <p:nvPr>
            <p:ph sz="quarter" idx="1"/>
          </p:nvPr>
        </p:nvSpPr>
        <p:spPr>
          <a:xfrm>
            <a:off x="0" y="1447800"/>
            <a:ext cx="8915400" cy="5181600"/>
          </a:xfrm>
          <a:noFill/>
        </p:spPr>
        <p:txBody>
          <a:bodyPr lIns="92075" tIns="46038" rIns="92075" bIns="46038">
            <a:normAutofit/>
          </a:bodyPr>
          <a:lstStyle/>
          <a:p>
            <a:pPr algn="just" eaLnBrk="1" hangingPunct="1">
              <a:lnSpc>
                <a:spcPct val="120000"/>
              </a:lnSpc>
            </a:pPr>
            <a:r>
              <a:rPr lang="en-US" sz="2800" dirty="0" smtClean="0"/>
              <a:t>The time horizon for the data warehouse is significantly longer than that of operational systems</a:t>
            </a:r>
          </a:p>
          <a:p>
            <a:pPr lvl="1" algn="just" eaLnBrk="1" hangingPunct="1">
              <a:lnSpc>
                <a:spcPct val="120000"/>
              </a:lnSpc>
            </a:pPr>
            <a:r>
              <a:rPr lang="en-US" sz="2800" dirty="0" smtClean="0"/>
              <a:t>Operational database: current value data</a:t>
            </a:r>
          </a:p>
          <a:p>
            <a:pPr lvl="1" algn="just" eaLnBrk="1" hangingPunct="1">
              <a:lnSpc>
                <a:spcPct val="120000"/>
              </a:lnSpc>
            </a:pPr>
            <a:r>
              <a:rPr lang="en-US" sz="2800" dirty="0" smtClean="0"/>
              <a:t>Data warehouse data: provide information from a historical perspective (e.g., past 5-10 years)</a:t>
            </a:r>
          </a:p>
          <a:p>
            <a:pPr algn="just" eaLnBrk="1" hangingPunct="1">
              <a:lnSpc>
                <a:spcPct val="120000"/>
              </a:lnSpc>
            </a:pPr>
            <a:r>
              <a:rPr lang="en-US" sz="2800" dirty="0" smtClean="0"/>
              <a:t>Every key structure in the data warehouse</a:t>
            </a:r>
          </a:p>
          <a:p>
            <a:pPr lvl="1" algn="just" eaLnBrk="1" hangingPunct="1">
              <a:lnSpc>
                <a:spcPct val="120000"/>
              </a:lnSpc>
            </a:pPr>
            <a:r>
              <a:rPr lang="en-US" sz="2800" dirty="0" smtClean="0"/>
              <a:t>Contains an element of time, explicitly or implicitly</a:t>
            </a:r>
          </a:p>
          <a:p>
            <a:pPr lvl="1" algn="just" eaLnBrk="1" hangingPunct="1">
              <a:lnSpc>
                <a:spcPct val="120000"/>
              </a:lnSpc>
            </a:pPr>
            <a:r>
              <a:rPr lang="en-US" sz="2800" dirty="0" smtClean="0"/>
              <a:t>But the key of operational data may or may not contain “time element”</a:t>
            </a:r>
          </a:p>
          <a:p>
            <a:pPr lvl="1" eaLnBrk="1" hangingPunct="1">
              <a:lnSpc>
                <a:spcPct val="110000"/>
              </a:lnSpc>
            </a:pPr>
            <a:endParaRPr lang="en-US" sz="2200" dirty="0" smtClean="0"/>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1026"/>
          <p:cNvSpPr>
            <a:spLocks noGrp="1" noChangeArrowheads="1"/>
          </p:cNvSpPr>
          <p:nvPr>
            <p:ph type="title"/>
          </p:nvPr>
        </p:nvSpPr>
        <p:spPr>
          <a:noFill/>
        </p:spPr>
        <p:txBody>
          <a:bodyPr lIns="92075" tIns="46038" rIns="92075" bIns="46038">
            <a:normAutofit/>
          </a:bodyPr>
          <a:lstStyle/>
          <a:p>
            <a:pPr algn="ctr" eaLnBrk="1" hangingPunct="1"/>
            <a:r>
              <a:rPr lang="en-US" dirty="0" smtClean="0">
                <a:solidFill>
                  <a:srgbClr val="0070C0"/>
                </a:solidFill>
                <a:latin typeface="Bernard MT Condensed" pitchFamily="18" charset="0"/>
              </a:rPr>
              <a:t>Data Warehouse—Nonvolatile</a:t>
            </a:r>
          </a:p>
        </p:txBody>
      </p:sp>
      <p:sp>
        <p:nvSpPr>
          <p:cNvPr id="15362" name="Slide Number Placeholder 5"/>
          <p:cNvSpPr>
            <a:spLocks noGrp="1"/>
          </p:cNvSpPr>
          <p:nvPr>
            <p:ph type="sldNum" sz="quarter" idx="12"/>
          </p:nvPr>
        </p:nvSpPr>
        <p:spPr>
          <a:noFill/>
        </p:spPr>
        <p:txBody>
          <a:bodyPr>
            <a:normAutofit fontScale="85000" lnSpcReduction="20000"/>
          </a:bodyPr>
          <a:lstStyle/>
          <a:p>
            <a:fld id="{5C541681-CD10-4AA4-972B-A093ACD57C73}" type="slidenum">
              <a:rPr lang="en-US" smtClean="0"/>
              <a:pPr/>
              <a:t>10</a:t>
            </a:fld>
            <a:endParaRPr lang="en-US" smtClean="0"/>
          </a:p>
        </p:txBody>
      </p:sp>
      <p:sp>
        <p:nvSpPr>
          <p:cNvPr id="15364" name="Rectangle 1027"/>
          <p:cNvSpPr>
            <a:spLocks noGrp="1" noChangeArrowheads="1"/>
          </p:cNvSpPr>
          <p:nvPr>
            <p:ph sz="quarter" idx="1"/>
          </p:nvPr>
        </p:nvSpPr>
        <p:spPr>
          <a:xfrm>
            <a:off x="152400" y="1524000"/>
            <a:ext cx="8839200" cy="4876800"/>
          </a:xfrm>
          <a:noFill/>
        </p:spPr>
        <p:txBody>
          <a:bodyPr lIns="92075" tIns="46038" rIns="92075" bIns="46038"/>
          <a:lstStyle/>
          <a:p>
            <a:pPr algn="just" eaLnBrk="1" hangingPunct="1">
              <a:lnSpc>
                <a:spcPct val="130000"/>
              </a:lnSpc>
            </a:pPr>
            <a:r>
              <a:rPr lang="en-US" sz="2400" dirty="0" smtClean="0"/>
              <a:t>A </a:t>
            </a:r>
            <a:r>
              <a:rPr lang="en-US" sz="2400" dirty="0" smtClean="0">
                <a:solidFill>
                  <a:srgbClr val="C00000"/>
                </a:solidFill>
              </a:rPr>
              <a:t>physically separate store </a:t>
            </a:r>
            <a:r>
              <a:rPr lang="en-US" sz="2400" dirty="0" smtClean="0"/>
              <a:t>of data transformed from the operational environment.</a:t>
            </a:r>
          </a:p>
          <a:p>
            <a:pPr algn="just" eaLnBrk="1" hangingPunct="1">
              <a:lnSpc>
                <a:spcPct val="130000"/>
              </a:lnSpc>
            </a:pPr>
            <a:r>
              <a:rPr lang="en-US" sz="2400" dirty="0" smtClean="0"/>
              <a:t>Operational </a:t>
            </a:r>
            <a:r>
              <a:rPr lang="en-US" sz="2400" dirty="0" smtClean="0">
                <a:solidFill>
                  <a:srgbClr val="C00000"/>
                </a:solidFill>
              </a:rPr>
              <a:t>update of data does not occur </a:t>
            </a:r>
            <a:r>
              <a:rPr lang="en-US" sz="2400" dirty="0" smtClean="0"/>
              <a:t>in the data warehouse environment.</a:t>
            </a:r>
          </a:p>
          <a:p>
            <a:pPr lvl="1" algn="just" eaLnBrk="1" hangingPunct="1">
              <a:lnSpc>
                <a:spcPct val="130000"/>
              </a:lnSpc>
            </a:pPr>
            <a:r>
              <a:rPr lang="en-US" sz="2400" dirty="0" smtClean="0"/>
              <a:t>Does not require transaction processing, recovery, and concurrency control mechanisms. </a:t>
            </a:r>
          </a:p>
          <a:p>
            <a:pPr lvl="1" algn="just" eaLnBrk="1" hangingPunct="1">
              <a:lnSpc>
                <a:spcPct val="130000"/>
              </a:lnSpc>
            </a:pPr>
            <a:r>
              <a:rPr lang="en-US" sz="2400" dirty="0" smtClean="0"/>
              <a:t>Requires only two operations in data accessing: </a:t>
            </a:r>
          </a:p>
          <a:p>
            <a:pPr lvl="2" algn="just" eaLnBrk="1" hangingPunct="1">
              <a:lnSpc>
                <a:spcPct val="130000"/>
              </a:lnSpc>
            </a:pPr>
            <a:r>
              <a:rPr lang="en-US" i="1" dirty="0" smtClean="0">
                <a:solidFill>
                  <a:srgbClr val="C00000"/>
                </a:solidFill>
              </a:rPr>
              <a:t>initial loading of data</a:t>
            </a:r>
            <a:r>
              <a:rPr lang="en-US" dirty="0" smtClean="0">
                <a:solidFill>
                  <a:srgbClr val="C00000"/>
                </a:solidFill>
              </a:rPr>
              <a:t> </a:t>
            </a:r>
            <a:r>
              <a:rPr lang="en-US" dirty="0" smtClean="0"/>
              <a:t>and </a:t>
            </a:r>
            <a:r>
              <a:rPr lang="en-US" i="1" dirty="0" smtClean="0">
                <a:solidFill>
                  <a:srgbClr val="C00000"/>
                </a:solidFill>
              </a:rPr>
              <a:t>access of data</a:t>
            </a:r>
            <a:endParaRPr lang="en-US" dirty="0" smtClean="0">
              <a:solidFill>
                <a:srgbClr val="C00000"/>
              </a:solidFill>
            </a:endParaRP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AutoShape 2" descr="data:image/jpeg;base64,/9j/4AAQSkZJRgABAQAAAQABAAD/2wCEAAkGBhQSERUUExQVFRUUFx0YGBYYFhwYHxYcGRgeGhscFx4aHSYeFxsjHRgVIDAgJCgpLCwsFR4xNTAqNSYrLCkBCQoKDgwOGg8PGi8kHyQpLC8pLC0sKSksLCwpLCwsKSksKSwpLCkpKS8pKSkpKSkpLCkpLCkpLCkpKSwpLCw1LP/AABEIAJQAcAMBIgACEQEDEQH/xAAbAAACAgMBAAAAAAAAAAAAAAAFBgIEAAMHAf/EADgQAAECBAQEBAQDCQEBAAAAAAECEQADITEEBRJBBlFhcSKBkfATMqGxQlLhFCMzYnKCwdHxkgf/xAAaAQADAQEBAQAAAAAAAAAAAAACAwQBBQAG/8QAIhEAAgICAgIDAQEAAAAAAAAAAAECEQMhEjEEIkFhcVFC/9oADAMBAAIRAxEAPwBRlyrQwSsKmTLClhyoslAP8Q2PQoBYciac2FZeBqdRZKQVE9th1JoOpi9gJ5nzCtYBowS76UgUSDtQAdq7selml/lEcFbs24LBrmqM6ZUUSkj5Sr8WmjqAr8oajBoKH92Bq8L2o5PMk7beuwizOxEuWn4s1Y1JoK+GVyRKSzknTdnPSBqZU3FK1MZUogXNSNr7m7G173k7KC0cxWqkkiWAPFOUNZHSWmz96APeNCpAUfCStV1TJrzVFqkJQlg5fcgBhRovzMID4UBk3cCqnLAJ5d6x6coZDfKgXSgO5egf8SnJoAal+sZaNF/G4uYonVMLJuU6UJQAHYFAAqxs7tcCsAZyJaguYQpQUQmQCVOrczFklykh2c/o3YnJ0IA+IUpFQJb2HJe6i9SVGtNoXc2xWtRKNXw0pAVMI+dq6EBrW5CNswCpwqXKqUNSH97Q3JyhKUKCmZPhLEeFRqn6jzdt4VsKsqWkMydQJHMCpc05WHIeZ6RiytM5D0oCedEknu/m/aPI1lfFoEuWlJJZKgpJFFJSnU4BN2YsTcBL1ijNxIBrStWteigPwvuNi8X80lmahCn/AIZW9aaVgpF7tM1D+4dYC42U7FItQjn082grcdoyk+wl8OPCiNOXTSpLGrAN1Bsf8HtFopi6EuSskkuLooZqssEJKgS5O1Nj2FSfKN+V5voGlDsAHIYaiRtXSkddn2oIpZpPBmkVpRnazMCSCyd6RQ/aAVsWNKkuAT0cuAPU9LRDOdybK4R9aOg5Phf2hSCpiWdn8MujkkkUG2tq0AFXLViRLQkAJ1ANpSA46H6ctoWeCprpIUkCWkai9PiKdkitxVgK1rVoapOtTHSwJubqID0GyUjc8ulVyezUhezPNQkkqBqWAFPYA7XvtA7G8WMQAokp2SopABZwVD5QwrpqXAcR5xKSZvwwXUBVqkPeo/EX8gQLlxf4e4CKwFLp0YMPW56wEpxitjIQcitlc1M4a1o1k0ShKSQGsAS568+94I4/hlUxhoSlIupRNH3AFCroee8PGT5BKkjwpDtUmp/R+nKPcZglEcquw3PXt7sIneZvooWBLs5NPyZcsqWzJSm5DmtEhPKgU5bcc435XgFslSq6gCCzCtDQe7Q153J14ZaWcuhKQ9zq1HsGQR0i1leXBKNRPyIYPRgo0bZg30EURyXGyacKdCngcjJXMQQwImJrdtAUk13CgCf7oDpyNYegdRCb7kuz/wBT15R05U2WVps4B1dSULCn9WgHiswQhCVgArcEDqQogKHXSUwSkDQkycD4SxAI1Bj/AElaCGuDR2s3WIy6gHmAYjxJmQ0p0UCUVYtSqQP/ABoDdDGZcXlIPTvvFeB7aJ8y1Yp4jFEFajcEi9lE36tX0EbMpxCUqdY1FtwCxvQKBALfiLs9jHudYQoWsn5VLcef+njTg8AovM0ky0kAtVySwHmSB59YjlcZUUraOqcN4jSkKNVLV4Ev8xCWck/lD+OyXJZ4OYvNwB8OWo61AgqF63XUOEpshO6mUaIDpPD+HnT16W0P4T/KlJ+XzqTzJraOmZTwshLKUAVbloRly7pFGLFati7w3w/+8KlJ3pv59yXL8zD9hpASIyXgwiwjYZgArEjbfZYopLRMiPJhJDQHzfimRhwNa01HP7wJk/8A0BL1lrKOaQf8ivaNUWC2iefYVUs60p1AOod2N/X6QJxXEiStMpJI10e3hUWBLWZJBetUmHCVjETkumoP0hc4j4PSoKWhwpIcEbtcdrekOxTS0xOXHe0K2LzglaVpJ8ZWQGqdMwkFQfkK3pAs474igVUcqNAaBwWvdySP6Yr45CkrWRQpGkUpbRRrUMDpMpZWEBBOoFINSBqYEtzZ4s5JIj4tnmdTQXSSnxAhm7EENyMW8hP7hIexI83rfvDVIyPDYeUpQwycZOZ1qmq0gfyo8KmtQAC9STA3EZbLShMySFJlzvHoJf4arLSOgIjfHzxeSjc/jyWOwDxBgSuW4/C53rblyr6wR/8AnmJEqRihMH8OYkkEblJG/VAjckxdwORJnCY11BBUAWClIUdJP9qiG6Q7y8arkT+Lkd8Qvl3F+EQoEHSTcBiA5c6uQcmHHLeJ5UyiFg/SOaqyxcyaJYlSESkMFTvghayWsnYU3NbxTyjhXGjENLmhKQWC6stiWUQRQMRRgwDM9+Y4Re0zpxySWmjs6lKNR6QscQqmKGj4hQ/5RU9IZcAs/DBLEtXZ2itMwaJj60vvuLjpE67KXtCFluFwsia6/iT54ZmKlaFEskUBdRNKDnV6QwYDjaRN0pUlSQsApJQplBQdNwAAoVHOLsnhZIkzMOUpVJmKClOhySLEEMzUahADjeL2ScNycNLEuUgJTuwZzzMNck19iFFp/RPCYICqa9ouzpDoIizKSEhhGjETqe6wschRzPhyUVhZFR6Gxr6RRmSkS0E6CoByyEuo6b6RuWrDBjFPY++kUMHPCCSSBp8TmgGxfpBW2jOKUgLlRlKBCHZaSQ92d6wNxVMPLFG1rILeTfSDkpCRNnL0BMsAhG2skVKXFngJnydJTLo6EDU1tSvEr0Jbyg/FjyzIHypccDBQMHeE5jTiOaSPtAEGCuRLaanz+0d3yVeN/hwPHdZI/p0GRhQbU7RFYCAo7tcxrwK6dY9xE4AAHcj36tHzrZ9EkgjhqIHaJS1A0ePVz0gDxOTYAVJ5QvzeI8OJpl6phWPm0Spi0p5lSkpKQNr0gaDtDYARGtZ3MBstxszSpQOqWCwe9rjmILS8UCH5xplEkzYq42bSNkyYxpFXFLp73jxoNninawgZoQtTLDpIcgndJBBPNi0WcROoT7NoEY3EEFWkOoAsOZFQPONBYaxE1Il6yAW5NzcMdnjmiM7+NNWFsJmpTtZXiNuRAApDtPxSlo0lISHqBWscexU0/FUoH8aiP/RaKfEnwlaJfLjziojmBFzL1stJ6xW0xNArHemrTRwYS4yTHzAYjaKvEWbpky1E6SogUIcdCfPa9IpYPGOnr+lWhH4ixZmrClKICyAw5mgtfZo+eWP2pn0Ly+tou4HjArUUTFKlpNDV6cgbuW2pXo8TRxxiDNKUrVLlg6AhLVY0cs9wX7mCuR5Ghn/ZFTaVC1iXpLu6a83g8vKppGlOGwqEgiqjqJIo5KQXLDbntBOUE9IFQm12CU8YrlJAe5IJYtQ17Eku23nB/hvPxOdgxTUjk/LmNvSKK+GJq3SFYdL7aFn0ZVLmprFLKcmmYacEqTv8wcpvzu3eAfGSDTnF7HWbN5X7WiniZrgxdxJgZilbwrofdg+eprwKMxy+7xszHGsVMe3pFTL16ltsm568hzakeAZczef8ORMXumWpQfm1PqUxyP4dukP/AB/mWmSiSDWadSm2Qjn0KyB10mEVJLfrFGFUrEZnbodExIFo1qV+u3vvCpnPFBKtElTJF1i6ux2H3ju5JqCtnBhjc3SHjB5qmXMSlSgFKLJS9T2F/OL2Ay5Anhd2ql+ZYv3G0ccKyS5Jd3fcnm94duGeMKaJhZQ/E/zduv8AuOTl9m5LR1cXokmdMRhVmspakk0Znfne0XMFlE9R/eTVK9A/+oFYDPAUApNDWnf/ALBaTxOh9JIHenpETRemmHcNhghNBX6xVxqXqDUfX3/qKi+JUt8whbzfjJLkJclrJqz841K+jJOuw3iMadzXlAjMczASS4rb36wuzeKiTR3OzPEJclcw6lu3K/rHnGuzIyvok6ppew26/pBTB4Uim++1b1PLrEcJLL0D7d+UUOMsxMrD/DFFzzofkgD94fN0p/vgEuToN+qtifxFmP7RiJkwVSfChvyJoCH/ADVV/fA5ZpE1JjWffv3aLF/CN/08zjP1TnSPDLrR6q/qO/a3eA0YTHjw6UnJ2xMYqKpEifbxGPAYkpdIAIvZfm02WTomKAuz7wSTmeImVExTprRg1W9LCAshEEcDi/hTEr2HzdUmih1p9o8ai/hceslpy5nL5qecMGEnghkgdKf6gfj8A6wUKGlnBZ3DCr8jeMwbyi7OOQhbdrQa09jRgcHqajF/bwVXhUpYOA3X3WA2D4l1MlKK2tfyg3g8EVnxgEkej/f/ABEsk/krg1Wi1g8OWe9W9tv2jmnEuY/HxK1AgpR+7QQbpSakd1aj6R0Li3HjD4RQHhUsaEAH5dQqfIE+ccrSGtYbeloPGq2BN3ojMoIrzlMmN04xSxa9ooiImDSY8aPIx4YKPRGyVKcxACCGAlUKuZb0jDx5LlmJoDnvFlaAI0yvmjAqGbhfF6pYkr+ZHy0unl3D+hhhlZWhVr8oREEggpLEF0nkRHQuG8wE9CVgMqyh+VQoR/kdCInnraHwXwzMLICFFmG1OfVqwyYRTJ1FqDb/AJWKE6hsKxvE86GFHpyhLY5KhM49x6lzkIJcBJV6kgfY/SFg0EWMxxonTlzA7KPhf8oDA+YD+cUpioel8CW/kivvAyerxXt7MEJi6/cWt9oEhW8PiIkyuYkI8jI0AmIM4RLIT2+//YyMjJBx7JzP8RUVNKS4uD7eMjI8jZBBNgYY+Bp5E+YgfKqXrI/mSUgEdwog9hGRkIl0x0e0OOJND5j6wLzvGKRhJy0llBBAPJ/D6soxkZCY9ocznoP0jWTWMjIqRK+jSTU9j9oEoNBGRkMFs//Z"/>
          <p:cNvSpPr>
            <a:spLocks noChangeAspect="1" noChangeArrowheads="1"/>
          </p:cNvSpPr>
          <p:nvPr/>
        </p:nvSpPr>
        <p:spPr bwMode="auto">
          <a:xfrm>
            <a:off x="63500" y="-669925"/>
            <a:ext cx="1066800" cy="14097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7652" name="AutoShape 4" descr="data:image/jpeg;base64,/9j/4AAQSkZJRgABAQAAAQABAAD/2wCEAAkGBhQSERUUExQVFRUUFx0YGBYYFhwYHxYcGRgeGhscFx4aHSYeFxsjHRgVIDAgJCgpLCwsFR4xNTAqNSYrLCkBCQoKDgwOGg8PGi8kHyQpLC8pLC0sKSksLCwpLCwsKSksKSwpLCkpKS8pKSkpKSkpLCkpLCkpLCkpKSwpLCw1LP/AABEIAJQAcAMBIgACEQEDEQH/xAAbAAACAgMBAAAAAAAAAAAAAAAFBgIEAAMHAf/EADgQAAECBAQEBAQDCQEBAAAAAAECEQADITEEBRJBBlFhcSKBkfATMqGxQlLhFCMzYnKCwdHxkgf/xAAaAQADAQEBAQAAAAAAAAAAAAACAwQBBQAG/8QAIhEAAgICAgIDAQEAAAAAAAAAAAECEQMhEjEEIkFhcVFC/9oADAMBAAIRAxEAPwBRlyrQwSsKmTLClhyoslAP8Q2PQoBYciac2FZeBqdRZKQVE9th1JoOpi9gJ5nzCtYBowS76UgUSDtQAdq7selml/lEcFbs24LBrmqM6ZUUSkj5Sr8WmjqAr8oajBoKH92Bq8L2o5PMk7beuwizOxEuWn4s1Y1JoK+GVyRKSzknTdnPSBqZU3FK1MZUogXNSNr7m7G173k7KC0cxWqkkiWAPFOUNZHSWmz96APeNCpAUfCStV1TJrzVFqkJQlg5fcgBhRovzMID4UBk3cCqnLAJ5d6x6coZDfKgXSgO5egf8SnJoAal+sZaNF/G4uYonVMLJuU6UJQAHYFAAqxs7tcCsAZyJaguYQpQUQmQCVOrczFklykh2c/o3YnJ0IA+IUpFQJb2HJe6i9SVGtNoXc2xWtRKNXw0pAVMI+dq6EBrW5CNswCpwqXKqUNSH97Q3JyhKUKCmZPhLEeFRqn6jzdt4VsKsqWkMydQJHMCpc05WHIeZ6RiytM5D0oCedEknu/m/aPI1lfFoEuWlJJZKgpJFFJSnU4BN2YsTcBL1ijNxIBrStWteigPwvuNi8X80lmahCn/AIZW9aaVgpF7tM1D+4dYC42U7FItQjn082grcdoyk+wl8OPCiNOXTSpLGrAN1Bsf8HtFopi6EuSskkuLooZqssEJKgS5O1Nj2FSfKN+V5voGlDsAHIYaiRtXSkddn2oIpZpPBmkVpRnazMCSCyd6RQ/aAVsWNKkuAT0cuAPU9LRDOdybK4R9aOg5Phf2hSCpiWdn8MujkkkUG2tq0AFXLViRLQkAJ1ANpSA46H6ctoWeCprpIUkCWkai9PiKdkitxVgK1rVoapOtTHSwJubqID0GyUjc8ulVyezUhezPNQkkqBqWAFPYA7XvtA7G8WMQAokp2SopABZwVD5QwrpqXAcR5xKSZvwwXUBVqkPeo/EX8gQLlxf4e4CKwFLp0YMPW56wEpxitjIQcitlc1M4a1o1k0ShKSQGsAS568+94I4/hlUxhoSlIupRNH3AFCroee8PGT5BKkjwpDtUmp/R+nKPcZglEcquw3PXt7sIneZvooWBLs5NPyZcsqWzJSm5DmtEhPKgU5bcc435XgFslSq6gCCzCtDQe7Q153J14ZaWcuhKQ9zq1HsGQR0i1leXBKNRPyIYPRgo0bZg30EURyXGyacKdCngcjJXMQQwImJrdtAUk13CgCf7oDpyNYegdRCb7kuz/wBT15R05U2WVps4B1dSULCn9WgHiswQhCVgArcEDqQogKHXSUwSkDQkycD4SxAI1Bj/AElaCGuDR2s3WIy6gHmAYjxJmQ0p0UCUVYtSqQP/ABoDdDGZcXlIPTvvFeB7aJ8y1Yp4jFEFajcEi9lE36tX0EbMpxCUqdY1FtwCxvQKBALfiLs9jHudYQoWsn5VLcef+njTg8AovM0ky0kAtVySwHmSB59YjlcZUUraOqcN4jSkKNVLV4Ev8xCWck/lD+OyXJZ4OYvNwB8OWo61AgqF63XUOEpshO6mUaIDpPD+HnT16W0P4T/KlJ+XzqTzJraOmZTwshLKUAVbloRly7pFGLFati7w3w/+8KlJ3pv59yXL8zD9hpASIyXgwiwjYZgArEjbfZYopLRMiPJhJDQHzfimRhwNa01HP7wJk/8A0BL1lrKOaQf8ivaNUWC2iefYVUs60p1AOod2N/X6QJxXEiStMpJI10e3hUWBLWZJBetUmHCVjETkumoP0hc4j4PSoKWhwpIcEbtcdrekOxTS0xOXHe0K2LzglaVpJ8ZWQGqdMwkFQfkK3pAs474igVUcqNAaBwWvdySP6Yr45CkrWRQpGkUpbRRrUMDpMpZWEBBOoFINSBqYEtzZ4s5JIj4tnmdTQXSSnxAhm7EENyMW8hP7hIexI83rfvDVIyPDYeUpQwycZOZ1qmq0gfyo8KmtQAC9STA3EZbLShMySFJlzvHoJf4arLSOgIjfHzxeSjc/jyWOwDxBgSuW4/C53rblyr6wR/8AnmJEqRihMH8OYkkEblJG/VAjckxdwORJnCY11BBUAWClIUdJP9qiG6Q7y8arkT+Lkd8Qvl3F+EQoEHSTcBiA5c6uQcmHHLeJ5UyiFg/SOaqyxcyaJYlSESkMFTvghayWsnYU3NbxTyjhXGjENLmhKQWC6stiWUQRQMRRgwDM9+Y4Re0zpxySWmjs6lKNR6QscQqmKGj4hQ/5RU9IZcAs/DBLEtXZ2itMwaJj60vvuLjpE67KXtCFluFwsia6/iT54ZmKlaFEskUBdRNKDnV6QwYDjaRN0pUlSQsApJQplBQdNwAAoVHOLsnhZIkzMOUpVJmKClOhySLEEMzUahADjeL2ScNycNLEuUgJTuwZzzMNck19iFFp/RPCYICqa9ouzpDoIizKSEhhGjETqe6wschRzPhyUVhZFR6Gxr6RRmSkS0E6CoByyEuo6b6RuWrDBjFPY++kUMHPCCSSBp8TmgGxfpBW2jOKUgLlRlKBCHZaSQ92d6wNxVMPLFG1rILeTfSDkpCRNnL0BMsAhG2skVKXFngJnydJTLo6EDU1tSvEr0Jbyg/FjyzIHypccDBQMHeE5jTiOaSPtAEGCuRLaanz+0d3yVeN/hwPHdZI/p0GRhQbU7RFYCAo7tcxrwK6dY9xE4AAHcj36tHzrZ9EkgjhqIHaJS1A0ePVz0gDxOTYAVJ5QvzeI8OJpl6phWPm0Spi0p5lSkpKQNr0gaDtDYARGtZ3MBstxszSpQOqWCwe9rjmILS8UCH5xplEkzYq42bSNkyYxpFXFLp73jxoNninawgZoQtTLDpIcgndJBBPNi0WcROoT7NoEY3EEFWkOoAsOZFQPONBYaxE1Il6yAW5NzcMdnjmiM7+NNWFsJmpTtZXiNuRAApDtPxSlo0lISHqBWscexU0/FUoH8aiP/RaKfEnwlaJfLjziojmBFzL1stJ6xW0xNArHemrTRwYS4yTHzAYjaKvEWbpky1E6SogUIcdCfPa9IpYPGOnr+lWhH4ixZmrClKICyAw5mgtfZo+eWP2pn0Ly+tou4HjArUUTFKlpNDV6cgbuW2pXo8TRxxiDNKUrVLlg6AhLVY0cs9wX7mCuR5Ghn/ZFTaVC1iXpLu6a83g8vKppGlOGwqEgiqjqJIo5KQXLDbntBOUE9IFQm12CU8YrlJAe5IJYtQ17Eku23nB/hvPxOdgxTUjk/LmNvSKK+GJq3SFYdL7aFn0ZVLmprFLKcmmYacEqTv8wcpvzu3eAfGSDTnF7HWbN5X7WiniZrgxdxJgZilbwrofdg+eprwKMxy+7xszHGsVMe3pFTL16ltsm568hzakeAZczef8ORMXumWpQfm1PqUxyP4dukP/AB/mWmSiSDWadSm2Qjn0KyB10mEVJLfrFGFUrEZnbodExIFo1qV+u3vvCpnPFBKtElTJF1i6ux2H3ju5JqCtnBhjc3SHjB5qmXMSlSgFKLJS9T2F/OL2Ay5Anhd2ql+ZYv3G0ccKyS5Jd3fcnm94duGeMKaJhZQ/E/zduv8AuOTl9m5LR1cXokmdMRhVmspakk0Znfne0XMFlE9R/eTVK9A/+oFYDPAUApNDWnf/ALBaTxOh9JIHenpETRemmHcNhghNBX6xVxqXqDUfX3/qKi+JUt8whbzfjJLkJclrJqz841K+jJOuw3iMadzXlAjMczASS4rb36wuzeKiTR3OzPEJclcw6lu3K/rHnGuzIyvok6ppew26/pBTB4Uim++1b1PLrEcJLL0D7d+UUOMsxMrD/DFFzzofkgD94fN0p/vgEuToN+qtifxFmP7RiJkwVSfChvyJoCH/ADVV/fA5ZpE1JjWffv3aLF/CN/08zjP1TnSPDLrR6q/qO/a3eA0YTHjw6UnJ2xMYqKpEifbxGPAYkpdIAIvZfm02WTomKAuz7wSTmeImVExTprRg1W9LCAshEEcDi/hTEr2HzdUmih1p9o8ai/hceslpy5nL5qecMGEnghkgdKf6gfj8A6wUKGlnBZ3DCr8jeMwbyi7OOQhbdrQa09jRgcHqajF/bwVXhUpYOA3X3WA2D4l1MlKK2tfyg3g8EVnxgEkej/f/ABEsk/krg1Wi1g8OWe9W9tv2jmnEuY/HxK1AgpR+7QQbpSakd1aj6R0Li3HjD4RQHhUsaEAH5dQqfIE+ccrSGtYbeloPGq2BN3ojMoIrzlMmN04xSxa9ooiImDSY8aPIx4YKPRGyVKcxACCGAlUKuZb0jDx5LlmJoDnvFlaAI0yvmjAqGbhfF6pYkr+ZHy0unl3D+hhhlZWhVr8oREEggpLEF0nkRHQuG8wE9CVgMqyh+VQoR/kdCInnraHwXwzMLICFFmG1OfVqwyYRTJ1FqDb/AJWKE6hsKxvE86GFHpyhLY5KhM49x6lzkIJcBJV6kgfY/SFg0EWMxxonTlzA7KPhf8oDA+YD+cUpioel8CW/kivvAyerxXt7MEJi6/cWt9oEhW8PiIkyuYkI8jI0AmIM4RLIT2+//YyMjJBx7JzP8RUVNKS4uD7eMjI8jZBBNgYY+Bp5E+YgfKqXrI/mSUgEdwog9hGRkIl0x0e0OOJND5j6wLzvGKRhJy0llBBAPJ/D6soxkZCY9ocznoP0jWTWMjIqRK+jSTU9j9oEoNBGRkMFs//Z"/>
          <p:cNvSpPr>
            <a:spLocks noChangeAspect="1" noChangeArrowheads="1"/>
          </p:cNvSpPr>
          <p:nvPr/>
        </p:nvSpPr>
        <p:spPr bwMode="auto">
          <a:xfrm>
            <a:off x="63500" y="-669925"/>
            <a:ext cx="1066800" cy="14097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 name="Rectangle 7"/>
          <p:cNvSpPr/>
          <p:nvPr/>
        </p:nvSpPr>
        <p:spPr>
          <a:xfrm>
            <a:off x="609600" y="2438400"/>
            <a:ext cx="7696200" cy="2062103"/>
          </a:xfrm>
          <a:prstGeom prst="rect">
            <a:avLst/>
          </a:prstGeom>
        </p:spPr>
        <p:txBody>
          <a:bodyPr wrap="square">
            <a:spAutoFit/>
          </a:bodyPr>
          <a:lstStyle/>
          <a:p>
            <a:pPr algn="ctr"/>
            <a:r>
              <a:rPr lang="en-IN" sz="3200" b="1" dirty="0"/>
              <a:t>Bill </a:t>
            </a:r>
            <a:r>
              <a:rPr lang="en-IN" sz="3200" b="1" dirty="0" err="1"/>
              <a:t>Inmon</a:t>
            </a:r>
            <a:endParaRPr lang="en-IN" sz="3200" b="1" dirty="0"/>
          </a:p>
          <a:p>
            <a:pPr algn="just"/>
            <a:r>
              <a:rPr lang="en-IN" sz="3200" dirty="0"/>
              <a:t>William H. </a:t>
            </a:r>
            <a:r>
              <a:rPr lang="en-IN" sz="3200" dirty="0" err="1"/>
              <a:t>Inmon</a:t>
            </a:r>
            <a:r>
              <a:rPr lang="en-IN" sz="3200" dirty="0"/>
              <a:t> is an American computer scientist, recognized by many as the father of the data warehouse. </a:t>
            </a:r>
            <a:r>
              <a:rPr lang="en-IN" sz="3200" dirty="0">
                <a:hlinkClick r:id="rId2"/>
              </a:rPr>
              <a:t>Wikipedia</a:t>
            </a:r>
            <a:endParaRPr lang="en-IN" sz="3200" dirty="0"/>
          </a:p>
        </p:txBody>
      </p:sp>
      <p:sp>
        <p:nvSpPr>
          <p:cNvPr id="9" name="Rectangle 8"/>
          <p:cNvSpPr/>
          <p:nvPr/>
        </p:nvSpPr>
        <p:spPr>
          <a:xfrm>
            <a:off x="685800" y="4944070"/>
            <a:ext cx="7924800" cy="1015663"/>
          </a:xfrm>
          <a:prstGeom prst="rect">
            <a:avLst/>
          </a:prstGeom>
        </p:spPr>
        <p:txBody>
          <a:bodyPr wrap="square">
            <a:spAutoFit/>
          </a:bodyPr>
          <a:lstStyle/>
          <a:p>
            <a:pPr fontAlgn="t"/>
            <a:r>
              <a:rPr lang="en-IN" sz="3200" b="1" dirty="0"/>
              <a:t>Born:</a:t>
            </a:r>
            <a:r>
              <a:rPr lang="en-IN" dirty="0"/>
              <a:t> </a:t>
            </a:r>
            <a:r>
              <a:rPr lang="en-IN" sz="2800" dirty="0"/>
              <a:t>July 20, 1945 (age 67), San Diego</a:t>
            </a:r>
          </a:p>
          <a:p>
            <a:pPr fontAlgn="t"/>
            <a:r>
              <a:rPr lang="en-IN" sz="2800" b="1" dirty="0"/>
              <a:t>Education: </a:t>
            </a:r>
            <a:r>
              <a:rPr lang="en-IN" sz="2400" dirty="0"/>
              <a:t>Yale University, New Mexico State </a:t>
            </a:r>
            <a:r>
              <a:rPr lang="en-IN" sz="2400" dirty="0">
                <a:hlinkClick r:id="rId3" action="ppaction://hlinksldjump"/>
              </a:rPr>
              <a:t>University</a:t>
            </a:r>
            <a:endParaRPr lang="en-IN" dirty="0"/>
          </a:p>
        </p:txBody>
      </p:sp>
      <p:pic>
        <p:nvPicPr>
          <p:cNvPr id="11" name="Picture 10" descr="wn.png"/>
          <p:cNvPicPr>
            <a:picLocks noChangeAspect="1"/>
          </p:cNvPicPr>
          <p:nvPr/>
        </p:nvPicPr>
        <p:blipFill>
          <a:blip r:embed="rId4" cstate="print"/>
          <a:stretch>
            <a:fillRect/>
          </a:stretch>
        </p:blipFill>
        <p:spPr>
          <a:xfrm>
            <a:off x="3429000" y="76200"/>
            <a:ext cx="2286000" cy="2438400"/>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a:noFill/>
        </p:spPr>
        <p:txBody>
          <a:bodyPr lIns="92075" tIns="46038" rIns="92075" bIns="46038">
            <a:normAutofit/>
          </a:bodyPr>
          <a:lstStyle/>
          <a:p>
            <a:pPr algn="ctr"/>
            <a:r>
              <a:rPr lang="en-US" dirty="0" smtClean="0">
                <a:solidFill>
                  <a:srgbClr val="0070C0"/>
                </a:solidFill>
                <a:latin typeface="Bernard MT Condensed" pitchFamily="18" charset="0"/>
              </a:rPr>
              <a:t>Benefit /Usage of data warehouse.</a:t>
            </a:r>
          </a:p>
        </p:txBody>
      </p:sp>
      <p:sp>
        <p:nvSpPr>
          <p:cNvPr id="43010" name="Slide Number Placeholder 5"/>
          <p:cNvSpPr>
            <a:spLocks noGrp="1"/>
          </p:cNvSpPr>
          <p:nvPr>
            <p:ph type="sldNum" sz="quarter" idx="12"/>
          </p:nvPr>
        </p:nvSpPr>
        <p:spPr>
          <a:noFill/>
        </p:spPr>
        <p:txBody>
          <a:bodyPr>
            <a:normAutofit fontScale="85000" lnSpcReduction="20000"/>
          </a:bodyPr>
          <a:lstStyle/>
          <a:p>
            <a:fld id="{8879F54B-233E-4DD4-A086-2735D253802F}" type="slidenum">
              <a:rPr lang="en-US" smtClean="0"/>
              <a:pPr/>
              <a:t>12</a:t>
            </a:fld>
            <a:endParaRPr lang="en-US" smtClean="0"/>
          </a:p>
        </p:txBody>
      </p:sp>
      <p:sp>
        <p:nvSpPr>
          <p:cNvPr id="43012" name="Rectangle 3"/>
          <p:cNvSpPr>
            <a:spLocks noGrp="1" noChangeArrowheads="1"/>
          </p:cNvSpPr>
          <p:nvPr>
            <p:ph sz="quarter" idx="1"/>
          </p:nvPr>
        </p:nvSpPr>
        <p:spPr>
          <a:xfrm>
            <a:off x="0" y="1371600"/>
            <a:ext cx="9144000" cy="5486400"/>
          </a:xfrm>
          <a:noFill/>
        </p:spPr>
        <p:txBody>
          <a:bodyPr lIns="92075" tIns="46038" rIns="92075" bIns="46038">
            <a:normAutofit fontScale="92500" lnSpcReduction="20000"/>
          </a:bodyPr>
          <a:lstStyle/>
          <a:p>
            <a:pPr eaLnBrk="1" hangingPunct="1">
              <a:lnSpc>
                <a:spcPct val="120000"/>
              </a:lnSpc>
            </a:pPr>
            <a:r>
              <a:rPr lang="en-US" sz="3300" dirty="0" smtClean="0"/>
              <a:t>Three kinds of data warehouse applications</a:t>
            </a:r>
          </a:p>
          <a:p>
            <a:pPr lvl="1" algn="just" eaLnBrk="1" hangingPunct="1">
              <a:lnSpc>
                <a:spcPct val="120000"/>
              </a:lnSpc>
            </a:pPr>
            <a:r>
              <a:rPr lang="en-US" sz="2800" dirty="0" smtClean="0">
                <a:solidFill>
                  <a:srgbClr val="C00000"/>
                </a:solidFill>
              </a:rPr>
              <a:t>Information processing:-</a:t>
            </a:r>
            <a:r>
              <a:rPr lang="en-US" sz="2800" dirty="0" smtClean="0"/>
              <a:t>supports querying, basic statistical analysis, and reporting using crosstabs, tables, charts and graphs.</a:t>
            </a:r>
            <a:endParaRPr lang="en-US" sz="2000" dirty="0" smtClean="0"/>
          </a:p>
          <a:p>
            <a:pPr lvl="1" eaLnBrk="1" hangingPunct="1">
              <a:lnSpc>
                <a:spcPct val="120000"/>
              </a:lnSpc>
            </a:pPr>
            <a:r>
              <a:rPr lang="en-US" sz="2800" dirty="0" smtClean="0">
                <a:solidFill>
                  <a:srgbClr val="C00000"/>
                </a:solidFill>
              </a:rPr>
              <a:t>Analytical processing</a:t>
            </a:r>
          </a:p>
          <a:p>
            <a:pPr lvl="2" algn="just" eaLnBrk="1" hangingPunct="1">
              <a:lnSpc>
                <a:spcPct val="120000"/>
              </a:lnSpc>
            </a:pPr>
            <a:r>
              <a:rPr lang="en-US" sz="2800" dirty="0" smtClean="0"/>
              <a:t>multidimensional analysis of data warehouse data</a:t>
            </a:r>
          </a:p>
          <a:p>
            <a:pPr lvl="2" algn="just" eaLnBrk="1" hangingPunct="1">
              <a:lnSpc>
                <a:spcPct val="120000"/>
              </a:lnSpc>
            </a:pPr>
            <a:r>
              <a:rPr lang="en-US" sz="2800" dirty="0" smtClean="0"/>
              <a:t>supports basic OLAP operations, slice-dice, drilling, pivoting</a:t>
            </a:r>
            <a:endParaRPr lang="en-US" sz="2000" dirty="0" smtClean="0"/>
          </a:p>
          <a:p>
            <a:pPr lvl="1" algn="just">
              <a:lnSpc>
                <a:spcPct val="120000"/>
              </a:lnSpc>
            </a:pPr>
            <a:r>
              <a:rPr lang="en-US" sz="2800" dirty="0" smtClean="0">
                <a:solidFill>
                  <a:srgbClr val="C00000"/>
                </a:solidFill>
              </a:rPr>
              <a:t>Data mining</a:t>
            </a:r>
          </a:p>
          <a:p>
            <a:pPr lvl="2" algn="just" eaLnBrk="1" hangingPunct="1">
              <a:lnSpc>
                <a:spcPct val="120000"/>
              </a:lnSpc>
            </a:pPr>
            <a:r>
              <a:rPr lang="en-US" sz="2600" dirty="0" smtClean="0"/>
              <a:t>knowledge discovery from hidden patterns </a:t>
            </a:r>
          </a:p>
          <a:p>
            <a:pPr lvl="2" algn="just" eaLnBrk="1" hangingPunct="1">
              <a:lnSpc>
                <a:spcPct val="120000"/>
              </a:lnSpc>
            </a:pPr>
            <a:r>
              <a:rPr lang="en-US" sz="2600" dirty="0" smtClean="0"/>
              <a:t>supports associations, constructing analytical models, performing classification and prediction, and presenting the mining results using visualization tools.</a:t>
            </a: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smtClean="0">
                <a:solidFill>
                  <a:srgbClr val="0070C0"/>
                </a:solidFill>
              </a:rPr>
              <a:t/>
            </a:r>
            <a:br>
              <a:rPr lang="en-US" dirty="0" smtClean="0">
                <a:solidFill>
                  <a:srgbClr val="0070C0"/>
                </a:solidFill>
              </a:rPr>
            </a:br>
            <a:r>
              <a:rPr lang="en-US" sz="4900" dirty="0" smtClean="0">
                <a:solidFill>
                  <a:srgbClr val="0070C0"/>
                </a:solidFill>
                <a:latin typeface="Bernard MT Condensed" pitchFamily="18" charset="0"/>
              </a:rPr>
              <a:t>Need of separate data ware house.</a:t>
            </a:r>
            <a:br>
              <a:rPr lang="en-US" sz="4900" dirty="0" smtClean="0">
                <a:solidFill>
                  <a:srgbClr val="0070C0"/>
                </a:solidFill>
                <a:latin typeface="Bernard MT Condensed" pitchFamily="18" charset="0"/>
              </a:rPr>
            </a:br>
            <a:endParaRPr lang="en-US" sz="4900" dirty="0" smtClean="0">
              <a:solidFill>
                <a:srgbClr val="0070C0"/>
              </a:solidFill>
              <a:latin typeface="Bernard MT Condensed" pitchFamily="18" charset="0"/>
            </a:endParaRPr>
          </a:p>
        </p:txBody>
      </p:sp>
      <p:sp>
        <p:nvSpPr>
          <p:cNvPr id="4" name="Rectangle 3"/>
          <p:cNvSpPr/>
          <p:nvPr/>
        </p:nvSpPr>
        <p:spPr>
          <a:xfrm>
            <a:off x="0" y="1600199"/>
            <a:ext cx="8763000" cy="5035225"/>
          </a:xfrm>
          <a:prstGeom prst="rect">
            <a:avLst/>
          </a:prstGeom>
        </p:spPr>
        <p:txBody>
          <a:bodyPr wrap="square">
            <a:spAutoFit/>
          </a:bodyPr>
          <a:lstStyle/>
          <a:p>
            <a:pPr algn="just">
              <a:lnSpc>
                <a:spcPct val="110000"/>
              </a:lnSpc>
            </a:pPr>
            <a:r>
              <a:rPr lang="en-US" sz="2800" dirty="0" smtClean="0">
                <a:solidFill>
                  <a:srgbClr val="C00000"/>
                </a:solidFill>
              </a:rPr>
              <a:t>High performance for both systems</a:t>
            </a:r>
          </a:p>
          <a:p>
            <a:pPr lvl="1" algn="just">
              <a:lnSpc>
                <a:spcPct val="110000"/>
              </a:lnSpc>
            </a:pPr>
            <a:r>
              <a:rPr lang="en-US" sz="2000" dirty="0" smtClean="0"/>
              <a:t>DBMS— tuned for OLTP: access methods, indexing, concurrency control, recovery</a:t>
            </a:r>
          </a:p>
          <a:p>
            <a:pPr lvl="1" algn="just">
              <a:lnSpc>
                <a:spcPct val="110000"/>
              </a:lnSpc>
            </a:pPr>
            <a:r>
              <a:rPr lang="en-US" sz="2000" dirty="0" smtClean="0"/>
              <a:t>Warehouse—tuned for OLAP: complex OLAP queries, multidimensional view, consolidation</a:t>
            </a:r>
          </a:p>
          <a:p>
            <a:pPr algn="just">
              <a:lnSpc>
                <a:spcPct val="110000"/>
              </a:lnSpc>
            </a:pPr>
            <a:r>
              <a:rPr lang="en-US" sz="2800" dirty="0" smtClean="0">
                <a:solidFill>
                  <a:srgbClr val="C00000"/>
                </a:solidFill>
              </a:rPr>
              <a:t>Different functions and different data:</a:t>
            </a:r>
          </a:p>
          <a:p>
            <a:pPr lvl="1" algn="just">
              <a:lnSpc>
                <a:spcPct val="110000"/>
              </a:lnSpc>
            </a:pPr>
            <a:r>
              <a:rPr lang="en-US" sz="2400" u="sng" dirty="0" smtClean="0">
                <a:solidFill>
                  <a:srgbClr val="C00000"/>
                </a:solidFill>
              </a:rPr>
              <a:t>Missing data</a:t>
            </a:r>
            <a:r>
              <a:rPr lang="en-US" sz="2000" dirty="0" smtClean="0"/>
              <a:t>: Decision support requires historical data which operational DBs do not typically maintain</a:t>
            </a:r>
          </a:p>
          <a:p>
            <a:pPr lvl="1" algn="just">
              <a:lnSpc>
                <a:spcPct val="110000"/>
              </a:lnSpc>
            </a:pPr>
            <a:r>
              <a:rPr lang="en-US" sz="2400" u="sng" dirty="0" smtClean="0">
                <a:solidFill>
                  <a:srgbClr val="C00000"/>
                </a:solidFill>
              </a:rPr>
              <a:t>Data consolidation</a:t>
            </a:r>
            <a:r>
              <a:rPr lang="en-US" sz="2000" dirty="0" smtClean="0">
                <a:solidFill>
                  <a:srgbClr val="C00000"/>
                </a:solidFill>
              </a:rPr>
              <a:t>: </a:t>
            </a:r>
            <a:r>
              <a:rPr lang="en-US" sz="2000" dirty="0" smtClean="0"/>
              <a:t> Decision Supports requires consolidation (aggregation, summarization) of data from heterogeneous sources</a:t>
            </a:r>
          </a:p>
          <a:p>
            <a:pPr lvl="1" algn="just">
              <a:lnSpc>
                <a:spcPct val="110000"/>
              </a:lnSpc>
            </a:pPr>
            <a:r>
              <a:rPr lang="en-US" sz="2800" u="sng" dirty="0" smtClean="0">
                <a:solidFill>
                  <a:srgbClr val="C00000"/>
                </a:solidFill>
              </a:rPr>
              <a:t>Data quality</a:t>
            </a:r>
            <a:r>
              <a:rPr lang="en-US" sz="2000" dirty="0" smtClean="0"/>
              <a:t>: different sources typically use inconsistent data representations, codes and formats which have to be reconciled</a:t>
            </a:r>
          </a:p>
          <a:p>
            <a:pPr algn="just">
              <a:lnSpc>
                <a:spcPct val="110000"/>
              </a:lnSpc>
            </a:pPr>
            <a:r>
              <a:rPr lang="en-US" sz="2000" dirty="0" smtClean="0"/>
              <a:t>Note: There are more and more systems which perform OLAP analysis directly on relational databases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2"/>
          <p:cNvSpPr>
            <a:spLocks noGrp="1" noChangeArrowheads="1"/>
          </p:cNvSpPr>
          <p:nvPr>
            <p:ph type="title"/>
          </p:nvPr>
        </p:nvSpPr>
        <p:spPr>
          <a:xfrm>
            <a:off x="0" y="0"/>
            <a:ext cx="9144000" cy="1295400"/>
          </a:xfrm>
          <a:noFill/>
        </p:spPr>
        <p:txBody>
          <a:bodyPr lIns="92075" tIns="46038" rIns="92075" bIns="46038">
            <a:noAutofit/>
          </a:bodyPr>
          <a:lstStyle/>
          <a:p>
            <a:pPr algn="ctr" eaLnBrk="1" hangingPunct="1"/>
            <a:r>
              <a:rPr lang="en-US" dirty="0" smtClean="0">
                <a:solidFill>
                  <a:srgbClr val="0070C0"/>
                </a:solidFill>
                <a:latin typeface="Bernard MT Condensed" pitchFamily="18" charset="0"/>
              </a:rPr>
              <a:t>OLTP vs. OLAP</a:t>
            </a:r>
          </a:p>
        </p:txBody>
      </p:sp>
      <p:sp>
        <p:nvSpPr>
          <p:cNvPr id="1027" name="Slide Number Placeholder 5"/>
          <p:cNvSpPr>
            <a:spLocks noGrp="1"/>
          </p:cNvSpPr>
          <p:nvPr>
            <p:ph type="sldNum" sz="quarter" idx="12"/>
          </p:nvPr>
        </p:nvSpPr>
        <p:spPr>
          <a:noFill/>
        </p:spPr>
        <p:txBody>
          <a:bodyPr>
            <a:normAutofit fontScale="85000" lnSpcReduction="20000"/>
          </a:bodyPr>
          <a:lstStyle/>
          <a:p>
            <a:fld id="{7ED27DE7-1753-4E78-B3DB-BA22A13CC1C0}" type="slidenum">
              <a:rPr lang="en-US" smtClean="0"/>
              <a:pPr/>
              <a:t>14</a:t>
            </a:fld>
            <a:endParaRPr lang="en-US" smtClean="0"/>
          </a:p>
        </p:txBody>
      </p:sp>
      <p:sp>
        <p:nvSpPr>
          <p:cNvPr id="1029" name="Line 4"/>
          <p:cNvSpPr>
            <a:spLocks noChangeShapeType="1"/>
          </p:cNvSpPr>
          <p:nvPr/>
        </p:nvSpPr>
        <p:spPr bwMode="auto">
          <a:xfrm>
            <a:off x="8458200" y="1447800"/>
            <a:ext cx="0" cy="4648200"/>
          </a:xfrm>
          <a:prstGeom prst="line">
            <a:avLst/>
          </a:prstGeom>
          <a:noFill/>
          <a:ln w="9525">
            <a:solidFill>
              <a:schemeClr val="tx1"/>
            </a:solidFill>
            <a:round/>
            <a:headEnd/>
            <a:tailEnd/>
          </a:ln>
        </p:spPr>
        <p:txBody>
          <a:bodyPr wrap="none" anchor="ctr"/>
          <a:lstStyle/>
          <a:p>
            <a:endParaRPr lang="en-US"/>
          </a:p>
        </p:txBody>
      </p:sp>
      <p:graphicFrame>
        <p:nvGraphicFramePr>
          <p:cNvPr id="7" name="Table Placeholder 6"/>
          <p:cNvGraphicFramePr>
            <a:graphicFrameLocks noGrp="1"/>
          </p:cNvGraphicFramePr>
          <p:nvPr>
            <p:ph type="tbl" idx="1"/>
            <p:extLst>
              <p:ext uri="{D42A27DB-BD31-4B8C-83A1-F6EECF244321}">
                <p14:modId xmlns:p14="http://schemas.microsoft.com/office/powerpoint/2010/main" val="3986934959"/>
              </p:ext>
            </p:extLst>
          </p:nvPr>
        </p:nvGraphicFramePr>
        <p:xfrm>
          <a:off x="228600" y="1524005"/>
          <a:ext cx="8763001" cy="4800595"/>
        </p:xfrm>
        <a:graphic>
          <a:graphicData uri="http://schemas.openxmlformats.org/drawingml/2006/table">
            <a:tbl>
              <a:tblPr/>
              <a:tblGrid>
                <a:gridCol w="1905000"/>
                <a:gridCol w="2813539"/>
                <a:gridCol w="4044462"/>
              </a:tblGrid>
              <a:tr h="341673">
                <a:tc>
                  <a:txBody>
                    <a:bodyPr/>
                    <a:lstStyle/>
                    <a:p>
                      <a:pPr marL="0" marR="0" algn="l">
                        <a:spcBef>
                          <a:spcPts val="0"/>
                        </a:spcBef>
                        <a:spcAft>
                          <a:spcPts val="0"/>
                        </a:spcAft>
                      </a:pPr>
                      <a:endParaRPr lang="en-US" sz="800" dirty="0">
                        <a:solidFill>
                          <a:srgbClr val="C00000"/>
                        </a:solidFill>
                        <a:latin typeface="Times New Roman"/>
                        <a:ea typeface="Times New Roman"/>
                        <a:cs typeface="Times New Roman"/>
                      </a:endParaRPr>
                    </a:p>
                  </a:txBody>
                  <a:tcPr marL="51688" marR="516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1800" b="1" dirty="0">
                          <a:latin typeface="Times New Roman"/>
                          <a:ea typeface="Times New Roman"/>
                          <a:cs typeface="Times New Roman"/>
                        </a:rPr>
                        <a:t>OLTP</a:t>
                      </a:r>
                      <a:endParaRPr lang="en-US" sz="800" dirty="0">
                        <a:latin typeface="Times New Roman"/>
                        <a:ea typeface="Times New Roman"/>
                        <a:cs typeface="Times New Roman"/>
                      </a:endParaRPr>
                    </a:p>
                  </a:txBody>
                  <a:tcPr marL="51688" marR="516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1800" b="1" dirty="0">
                          <a:latin typeface="Times New Roman"/>
                          <a:ea typeface="Times New Roman"/>
                          <a:cs typeface="Times New Roman"/>
                        </a:rPr>
                        <a:t>OLAP</a:t>
                      </a:r>
                      <a:endParaRPr lang="en-US" sz="800" dirty="0">
                        <a:latin typeface="Times New Roman"/>
                        <a:ea typeface="Times New Roman"/>
                        <a:cs typeface="Times New Roman"/>
                      </a:endParaRPr>
                    </a:p>
                  </a:txBody>
                  <a:tcPr marL="51688" marR="5168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1673">
                <a:tc>
                  <a:txBody>
                    <a:bodyPr/>
                    <a:lstStyle/>
                    <a:p>
                      <a:pPr marL="0" marR="0" algn="l">
                        <a:spcBef>
                          <a:spcPts val="0"/>
                        </a:spcBef>
                        <a:spcAft>
                          <a:spcPts val="0"/>
                        </a:spcAft>
                      </a:pPr>
                      <a:r>
                        <a:rPr lang="en-US" sz="1800" b="1" dirty="0">
                          <a:solidFill>
                            <a:srgbClr val="C00000"/>
                          </a:solidFill>
                          <a:latin typeface="Times New Roman"/>
                          <a:ea typeface="Times New Roman"/>
                          <a:cs typeface="Times New Roman"/>
                        </a:rPr>
                        <a:t>users</a:t>
                      </a:r>
                      <a:endParaRPr lang="en-US" sz="800" dirty="0">
                        <a:solidFill>
                          <a:srgbClr val="C00000"/>
                        </a:solidFill>
                        <a:latin typeface="Times New Roman"/>
                        <a:ea typeface="Times New Roman"/>
                        <a:cs typeface="Times New Roman"/>
                      </a:endParaRPr>
                    </a:p>
                  </a:txBody>
                  <a:tcPr marL="51688" marR="516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800">
                          <a:latin typeface="Times New Roman"/>
                          <a:ea typeface="Times New Roman"/>
                          <a:cs typeface="Times New Roman"/>
                        </a:rPr>
                        <a:t>clerk, IT professional</a:t>
                      </a:r>
                      <a:endParaRPr lang="en-US" sz="800">
                        <a:latin typeface="Times New Roman"/>
                        <a:ea typeface="Times New Roman"/>
                        <a:cs typeface="Times New Roman"/>
                      </a:endParaRPr>
                    </a:p>
                  </a:txBody>
                  <a:tcPr marL="51688" marR="516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1800">
                          <a:latin typeface="Times New Roman"/>
                          <a:ea typeface="Times New Roman"/>
                          <a:cs typeface="Times New Roman"/>
                        </a:rPr>
                        <a:t>knowledge worker</a:t>
                      </a:r>
                      <a:endParaRPr lang="en-US" sz="800">
                        <a:latin typeface="Times New Roman"/>
                        <a:ea typeface="Times New Roman"/>
                        <a:cs typeface="Times New Roman"/>
                      </a:endParaRPr>
                    </a:p>
                  </a:txBody>
                  <a:tcPr marL="51688" marR="5168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1673">
                <a:tc>
                  <a:txBody>
                    <a:bodyPr/>
                    <a:lstStyle/>
                    <a:p>
                      <a:pPr marL="0" marR="0" algn="l">
                        <a:spcBef>
                          <a:spcPts val="0"/>
                        </a:spcBef>
                        <a:spcAft>
                          <a:spcPts val="0"/>
                        </a:spcAft>
                      </a:pPr>
                      <a:r>
                        <a:rPr lang="en-US" sz="1800" b="1" dirty="0">
                          <a:solidFill>
                            <a:srgbClr val="C00000"/>
                          </a:solidFill>
                          <a:latin typeface="Times New Roman"/>
                          <a:ea typeface="Times New Roman"/>
                          <a:cs typeface="Times New Roman"/>
                        </a:rPr>
                        <a:t>function</a:t>
                      </a:r>
                      <a:endParaRPr lang="en-US" sz="800" dirty="0">
                        <a:solidFill>
                          <a:srgbClr val="C00000"/>
                        </a:solidFill>
                        <a:latin typeface="Times New Roman"/>
                        <a:ea typeface="Times New Roman"/>
                        <a:cs typeface="Times New Roman"/>
                      </a:endParaRPr>
                    </a:p>
                  </a:txBody>
                  <a:tcPr marL="51688" marR="516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800">
                          <a:latin typeface="Times New Roman"/>
                          <a:ea typeface="Times New Roman"/>
                          <a:cs typeface="Times New Roman"/>
                        </a:rPr>
                        <a:t>day to day operations</a:t>
                      </a:r>
                      <a:endParaRPr lang="en-US" sz="800">
                        <a:latin typeface="Times New Roman"/>
                        <a:ea typeface="Times New Roman"/>
                        <a:cs typeface="Times New Roman"/>
                      </a:endParaRPr>
                    </a:p>
                  </a:txBody>
                  <a:tcPr marL="51688" marR="516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1800" dirty="0">
                          <a:latin typeface="Times New Roman"/>
                          <a:ea typeface="Times New Roman"/>
                          <a:cs typeface="Times New Roman"/>
                        </a:rPr>
                        <a:t>decision support</a:t>
                      </a:r>
                      <a:endParaRPr lang="en-US" sz="800" dirty="0">
                        <a:latin typeface="Times New Roman"/>
                        <a:ea typeface="Times New Roman"/>
                        <a:cs typeface="Times New Roman"/>
                      </a:endParaRPr>
                    </a:p>
                  </a:txBody>
                  <a:tcPr marL="51688" marR="5168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1673">
                <a:tc>
                  <a:txBody>
                    <a:bodyPr/>
                    <a:lstStyle/>
                    <a:p>
                      <a:pPr marL="0" marR="0" algn="l">
                        <a:spcBef>
                          <a:spcPts val="0"/>
                        </a:spcBef>
                        <a:spcAft>
                          <a:spcPts val="0"/>
                        </a:spcAft>
                      </a:pPr>
                      <a:r>
                        <a:rPr lang="en-US" sz="1800" b="1" dirty="0">
                          <a:solidFill>
                            <a:srgbClr val="C00000"/>
                          </a:solidFill>
                          <a:latin typeface="Times New Roman"/>
                          <a:ea typeface="Times New Roman"/>
                          <a:cs typeface="Times New Roman"/>
                        </a:rPr>
                        <a:t>DB design</a:t>
                      </a:r>
                      <a:endParaRPr lang="en-US" sz="800" dirty="0">
                        <a:solidFill>
                          <a:srgbClr val="C00000"/>
                        </a:solidFill>
                        <a:latin typeface="Times New Roman"/>
                        <a:ea typeface="Times New Roman"/>
                        <a:cs typeface="Times New Roman"/>
                      </a:endParaRPr>
                    </a:p>
                  </a:txBody>
                  <a:tcPr marL="51688" marR="516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800">
                          <a:latin typeface="Times New Roman"/>
                          <a:ea typeface="Times New Roman"/>
                          <a:cs typeface="Times New Roman"/>
                        </a:rPr>
                        <a:t>application-oriented</a:t>
                      </a:r>
                      <a:endParaRPr lang="en-US" sz="800">
                        <a:latin typeface="Times New Roman"/>
                        <a:ea typeface="Times New Roman"/>
                        <a:cs typeface="Times New Roman"/>
                      </a:endParaRPr>
                    </a:p>
                  </a:txBody>
                  <a:tcPr marL="51688" marR="516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1800" dirty="0">
                          <a:latin typeface="Times New Roman"/>
                          <a:ea typeface="Times New Roman"/>
                          <a:cs typeface="Times New Roman"/>
                        </a:rPr>
                        <a:t>subject-oriented</a:t>
                      </a:r>
                      <a:endParaRPr lang="en-US" sz="800" dirty="0">
                        <a:latin typeface="Times New Roman"/>
                        <a:ea typeface="Times New Roman"/>
                        <a:cs typeface="Times New Roman"/>
                      </a:endParaRPr>
                    </a:p>
                  </a:txBody>
                  <a:tcPr marL="51688" marR="5168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30319">
                <a:tc>
                  <a:txBody>
                    <a:bodyPr/>
                    <a:lstStyle/>
                    <a:p>
                      <a:pPr marL="0" marR="0" algn="l">
                        <a:spcBef>
                          <a:spcPts val="0"/>
                        </a:spcBef>
                        <a:spcAft>
                          <a:spcPts val="0"/>
                        </a:spcAft>
                      </a:pPr>
                      <a:r>
                        <a:rPr lang="en-US" sz="1800" b="1" dirty="0">
                          <a:solidFill>
                            <a:srgbClr val="C00000"/>
                          </a:solidFill>
                          <a:latin typeface="Times New Roman"/>
                          <a:ea typeface="Times New Roman"/>
                          <a:cs typeface="Times New Roman"/>
                        </a:rPr>
                        <a:t>data</a:t>
                      </a:r>
                      <a:endParaRPr lang="en-US" sz="800" dirty="0">
                        <a:solidFill>
                          <a:srgbClr val="C00000"/>
                        </a:solidFill>
                        <a:latin typeface="Times New Roman"/>
                        <a:ea typeface="Times New Roman"/>
                        <a:cs typeface="Times New Roman"/>
                      </a:endParaRPr>
                    </a:p>
                  </a:txBody>
                  <a:tcPr marL="51688" marR="516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800">
                          <a:latin typeface="Times New Roman"/>
                          <a:ea typeface="Times New Roman"/>
                          <a:cs typeface="Times New Roman"/>
                        </a:rPr>
                        <a:t>current, up-to-date</a:t>
                      </a:r>
                      <a:endParaRPr lang="en-US" sz="800">
                        <a:latin typeface="Times New Roman"/>
                        <a:ea typeface="Times New Roman"/>
                        <a:cs typeface="Times New Roman"/>
                      </a:endParaRPr>
                    </a:p>
                    <a:p>
                      <a:pPr marL="0" marR="0" algn="just">
                        <a:spcBef>
                          <a:spcPts val="0"/>
                        </a:spcBef>
                        <a:spcAft>
                          <a:spcPts val="0"/>
                        </a:spcAft>
                      </a:pPr>
                      <a:r>
                        <a:rPr lang="en-US" sz="1800">
                          <a:latin typeface="Times New Roman"/>
                          <a:ea typeface="Times New Roman"/>
                          <a:cs typeface="Times New Roman"/>
                        </a:rPr>
                        <a:t>detailed, flat relational</a:t>
                      </a:r>
                      <a:endParaRPr lang="en-US" sz="800">
                        <a:latin typeface="Times New Roman"/>
                        <a:ea typeface="Times New Roman"/>
                        <a:cs typeface="Times New Roman"/>
                      </a:endParaRPr>
                    </a:p>
                    <a:p>
                      <a:pPr marL="0" marR="0" algn="just">
                        <a:spcBef>
                          <a:spcPts val="0"/>
                        </a:spcBef>
                        <a:spcAft>
                          <a:spcPts val="0"/>
                        </a:spcAft>
                      </a:pPr>
                      <a:r>
                        <a:rPr lang="en-US" sz="1800">
                          <a:latin typeface="Times New Roman"/>
                          <a:ea typeface="Times New Roman"/>
                          <a:cs typeface="Times New Roman"/>
                        </a:rPr>
                        <a:t>isolated</a:t>
                      </a:r>
                      <a:endParaRPr lang="en-US" sz="800">
                        <a:latin typeface="Times New Roman"/>
                        <a:ea typeface="Times New Roman"/>
                        <a:cs typeface="Times New Roman"/>
                      </a:endParaRPr>
                    </a:p>
                  </a:txBody>
                  <a:tcPr marL="51688" marR="516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1800">
                          <a:latin typeface="Times New Roman"/>
                          <a:ea typeface="Times New Roman"/>
                          <a:cs typeface="Times New Roman"/>
                        </a:rPr>
                        <a:t>historical, </a:t>
                      </a:r>
                      <a:endParaRPr lang="en-US" sz="800">
                        <a:latin typeface="Times New Roman"/>
                        <a:ea typeface="Times New Roman"/>
                        <a:cs typeface="Times New Roman"/>
                      </a:endParaRPr>
                    </a:p>
                    <a:p>
                      <a:pPr marL="0" marR="0" algn="l">
                        <a:spcBef>
                          <a:spcPts val="0"/>
                        </a:spcBef>
                        <a:spcAft>
                          <a:spcPts val="0"/>
                        </a:spcAft>
                      </a:pPr>
                      <a:r>
                        <a:rPr lang="en-US" sz="1800">
                          <a:latin typeface="Times New Roman"/>
                          <a:ea typeface="Times New Roman"/>
                          <a:cs typeface="Times New Roman"/>
                        </a:rPr>
                        <a:t>summarized, multidimensional</a:t>
                      </a:r>
                      <a:endParaRPr lang="en-US" sz="800">
                        <a:latin typeface="Times New Roman"/>
                        <a:ea typeface="Times New Roman"/>
                        <a:cs typeface="Times New Roman"/>
                      </a:endParaRPr>
                    </a:p>
                    <a:p>
                      <a:pPr marL="0" marR="0" algn="l">
                        <a:spcBef>
                          <a:spcPts val="0"/>
                        </a:spcBef>
                        <a:spcAft>
                          <a:spcPts val="0"/>
                        </a:spcAft>
                      </a:pPr>
                      <a:r>
                        <a:rPr lang="en-US" sz="1800">
                          <a:latin typeface="Times New Roman"/>
                          <a:ea typeface="Times New Roman"/>
                          <a:cs typeface="Times New Roman"/>
                        </a:rPr>
                        <a:t>integrated, consolidated</a:t>
                      </a:r>
                      <a:endParaRPr lang="en-US" sz="800">
                        <a:latin typeface="Times New Roman"/>
                        <a:ea typeface="Times New Roman"/>
                        <a:cs typeface="Times New Roman"/>
                      </a:endParaRPr>
                    </a:p>
                  </a:txBody>
                  <a:tcPr marL="51688" marR="5168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1673">
                <a:tc>
                  <a:txBody>
                    <a:bodyPr/>
                    <a:lstStyle/>
                    <a:p>
                      <a:pPr marL="0" marR="0" algn="l">
                        <a:spcBef>
                          <a:spcPts val="0"/>
                        </a:spcBef>
                        <a:spcAft>
                          <a:spcPts val="0"/>
                        </a:spcAft>
                      </a:pPr>
                      <a:r>
                        <a:rPr lang="en-US" sz="1800" b="1" dirty="0">
                          <a:solidFill>
                            <a:srgbClr val="C00000"/>
                          </a:solidFill>
                          <a:latin typeface="Times New Roman"/>
                          <a:ea typeface="Times New Roman"/>
                          <a:cs typeface="Times New Roman"/>
                        </a:rPr>
                        <a:t>usage</a:t>
                      </a:r>
                      <a:endParaRPr lang="en-US" sz="800" dirty="0">
                        <a:solidFill>
                          <a:srgbClr val="C00000"/>
                        </a:solidFill>
                        <a:latin typeface="Times New Roman"/>
                        <a:ea typeface="Times New Roman"/>
                        <a:cs typeface="Times New Roman"/>
                      </a:endParaRPr>
                    </a:p>
                  </a:txBody>
                  <a:tcPr marL="51688" marR="516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800">
                          <a:latin typeface="Times New Roman"/>
                          <a:ea typeface="Times New Roman"/>
                          <a:cs typeface="Times New Roman"/>
                        </a:rPr>
                        <a:t>repetitive</a:t>
                      </a:r>
                      <a:endParaRPr lang="en-US" sz="800">
                        <a:latin typeface="Times New Roman"/>
                        <a:ea typeface="Times New Roman"/>
                        <a:cs typeface="Times New Roman"/>
                      </a:endParaRPr>
                    </a:p>
                  </a:txBody>
                  <a:tcPr marL="51688" marR="516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1800" dirty="0">
                          <a:latin typeface="Times New Roman"/>
                          <a:ea typeface="Times New Roman"/>
                          <a:cs typeface="Times New Roman"/>
                        </a:rPr>
                        <a:t>ad-hoc</a:t>
                      </a:r>
                      <a:endParaRPr lang="en-US" sz="800" dirty="0">
                        <a:latin typeface="Times New Roman"/>
                        <a:ea typeface="Times New Roman"/>
                        <a:cs typeface="Times New Roman"/>
                      </a:endParaRPr>
                    </a:p>
                  </a:txBody>
                  <a:tcPr marL="51688" marR="5168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53546">
                <a:tc>
                  <a:txBody>
                    <a:bodyPr/>
                    <a:lstStyle/>
                    <a:p>
                      <a:pPr marL="0" marR="0" algn="l">
                        <a:spcBef>
                          <a:spcPts val="0"/>
                        </a:spcBef>
                        <a:spcAft>
                          <a:spcPts val="0"/>
                        </a:spcAft>
                      </a:pPr>
                      <a:r>
                        <a:rPr lang="en-US" sz="1800" b="1" dirty="0">
                          <a:solidFill>
                            <a:srgbClr val="C00000"/>
                          </a:solidFill>
                          <a:latin typeface="Times New Roman"/>
                          <a:ea typeface="Times New Roman"/>
                          <a:cs typeface="Times New Roman"/>
                        </a:rPr>
                        <a:t>access</a:t>
                      </a:r>
                      <a:endParaRPr lang="en-US" sz="800" dirty="0">
                        <a:solidFill>
                          <a:srgbClr val="C00000"/>
                        </a:solidFill>
                        <a:latin typeface="Times New Roman"/>
                        <a:ea typeface="Times New Roman"/>
                        <a:cs typeface="Times New Roman"/>
                      </a:endParaRPr>
                    </a:p>
                  </a:txBody>
                  <a:tcPr marL="51688" marR="516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800">
                          <a:latin typeface="Times New Roman"/>
                          <a:ea typeface="Times New Roman"/>
                          <a:cs typeface="Times New Roman"/>
                        </a:rPr>
                        <a:t>read/write</a:t>
                      </a:r>
                      <a:endParaRPr lang="en-US" sz="800">
                        <a:latin typeface="Times New Roman"/>
                        <a:ea typeface="Times New Roman"/>
                        <a:cs typeface="Times New Roman"/>
                      </a:endParaRPr>
                    </a:p>
                    <a:p>
                      <a:pPr marL="0" marR="0" algn="just">
                        <a:spcBef>
                          <a:spcPts val="0"/>
                        </a:spcBef>
                        <a:spcAft>
                          <a:spcPts val="0"/>
                        </a:spcAft>
                      </a:pPr>
                      <a:r>
                        <a:rPr lang="en-US" sz="1800">
                          <a:latin typeface="Times New Roman"/>
                          <a:ea typeface="Times New Roman"/>
                          <a:cs typeface="Times New Roman"/>
                        </a:rPr>
                        <a:t>index/hash on prim. key</a:t>
                      </a:r>
                      <a:endParaRPr lang="en-US" sz="800">
                        <a:latin typeface="Times New Roman"/>
                        <a:ea typeface="Times New Roman"/>
                        <a:cs typeface="Times New Roman"/>
                      </a:endParaRPr>
                    </a:p>
                  </a:txBody>
                  <a:tcPr marL="51688" marR="516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1800" dirty="0">
                          <a:latin typeface="Times New Roman"/>
                          <a:ea typeface="Times New Roman"/>
                          <a:cs typeface="Times New Roman"/>
                        </a:rPr>
                        <a:t>lots of scans</a:t>
                      </a:r>
                      <a:endParaRPr lang="en-US" sz="800" dirty="0">
                        <a:latin typeface="Times New Roman"/>
                        <a:ea typeface="Times New Roman"/>
                        <a:cs typeface="Times New Roman"/>
                      </a:endParaRPr>
                    </a:p>
                  </a:txBody>
                  <a:tcPr marL="51688" marR="5168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1673">
                <a:tc>
                  <a:txBody>
                    <a:bodyPr/>
                    <a:lstStyle/>
                    <a:p>
                      <a:pPr marL="0" marR="0" algn="l">
                        <a:spcBef>
                          <a:spcPts val="0"/>
                        </a:spcBef>
                        <a:spcAft>
                          <a:spcPts val="0"/>
                        </a:spcAft>
                      </a:pPr>
                      <a:r>
                        <a:rPr lang="en-US" sz="1800" b="1" dirty="0">
                          <a:solidFill>
                            <a:srgbClr val="C00000"/>
                          </a:solidFill>
                          <a:latin typeface="Times New Roman"/>
                          <a:ea typeface="Times New Roman"/>
                          <a:cs typeface="Times New Roman"/>
                        </a:rPr>
                        <a:t>unit of work</a:t>
                      </a:r>
                      <a:endParaRPr lang="en-US" sz="800" dirty="0">
                        <a:solidFill>
                          <a:srgbClr val="C00000"/>
                        </a:solidFill>
                        <a:latin typeface="Times New Roman"/>
                        <a:ea typeface="Times New Roman"/>
                        <a:cs typeface="Times New Roman"/>
                      </a:endParaRPr>
                    </a:p>
                  </a:txBody>
                  <a:tcPr marL="51688" marR="516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800">
                          <a:latin typeface="Times New Roman"/>
                          <a:ea typeface="Times New Roman"/>
                          <a:cs typeface="Times New Roman"/>
                        </a:rPr>
                        <a:t>short, simple transaction</a:t>
                      </a:r>
                      <a:endParaRPr lang="en-US" sz="800">
                        <a:latin typeface="Times New Roman"/>
                        <a:ea typeface="Times New Roman"/>
                        <a:cs typeface="Times New Roman"/>
                      </a:endParaRPr>
                    </a:p>
                  </a:txBody>
                  <a:tcPr marL="51688" marR="516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1800" dirty="0">
                          <a:latin typeface="Times New Roman"/>
                          <a:ea typeface="Times New Roman"/>
                          <a:cs typeface="Times New Roman"/>
                        </a:rPr>
                        <a:t>complex query</a:t>
                      </a:r>
                      <a:endParaRPr lang="en-US" sz="800" dirty="0">
                        <a:latin typeface="Times New Roman"/>
                        <a:ea typeface="Times New Roman"/>
                        <a:cs typeface="Times New Roman"/>
                      </a:endParaRPr>
                    </a:p>
                  </a:txBody>
                  <a:tcPr marL="51688" marR="5168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1673">
                <a:tc>
                  <a:txBody>
                    <a:bodyPr/>
                    <a:lstStyle/>
                    <a:p>
                      <a:pPr marL="0" marR="0" algn="l">
                        <a:spcBef>
                          <a:spcPts val="0"/>
                        </a:spcBef>
                        <a:spcAft>
                          <a:spcPts val="0"/>
                        </a:spcAft>
                      </a:pPr>
                      <a:r>
                        <a:rPr lang="en-US" sz="1800" b="1" dirty="0">
                          <a:solidFill>
                            <a:srgbClr val="C00000"/>
                          </a:solidFill>
                          <a:latin typeface="Times New Roman"/>
                          <a:ea typeface="Times New Roman"/>
                          <a:cs typeface="Times New Roman"/>
                        </a:rPr>
                        <a:t># records accessed</a:t>
                      </a:r>
                      <a:endParaRPr lang="en-US" sz="800" dirty="0">
                        <a:solidFill>
                          <a:srgbClr val="C00000"/>
                        </a:solidFill>
                        <a:latin typeface="Times New Roman"/>
                        <a:ea typeface="Times New Roman"/>
                        <a:cs typeface="Times New Roman"/>
                      </a:endParaRPr>
                    </a:p>
                  </a:txBody>
                  <a:tcPr marL="51688" marR="516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800" dirty="0">
                          <a:latin typeface="Times New Roman"/>
                          <a:ea typeface="Times New Roman"/>
                          <a:cs typeface="Times New Roman"/>
                        </a:rPr>
                        <a:t>tens</a:t>
                      </a:r>
                      <a:endParaRPr lang="en-US" sz="800" dirty="0">
                        <a:latin typeface="Times New Roman"/>
                        <a:ea typeface="Times New Roman"/>
                        <a:cs typeface="Times New Roman"/>
                      </a:endParaRPr>
                    </a:p>
                  </a:txBody>
                  <a:tcPr marL="51688" marR="516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1800">
                          <a:latin typeface="Times New Roman"/>
                          <a:ea typeface="Times New Roman"/>
                          <a:cs typeface="Times New Roman"/>
                        </a:rPr>
                        <a:t>millions</a:t>
                      </a:r>
                      <a:endParaRPr lang="en-US" sz="800">
                        <a:latin typeface="Times New Roman"/>
                        <a:ea typeface="Times New Roman"/>
                        <a:cs typeface="Times New Roman"/>
                      </a:endParaRPr>
                    </a:p>
                  </a:txBody>
                  <a:tcPr marL="51688" marR="5168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1673">
                <a:tc>
                  <a:txBody>
                    <a:bodyPr/>
                    <a:lstStyle/>
                    <a:p>
                      <a:pPr marL="0" marR="0" algn="l">
                        <a:spcBef>
                          <a:spcPts val="0"/>
                        </a:spcBef>
                        <a:spcAft>
                          <a:spcPts val="0"/>
                        </a:spcAft>
                      </a:pPr>
                      <a:r>
                        <a:rPr lang="en-US" sz="1800" b="1" dirty="0">
                          <a:solidFill>
                            <a:srgbClr val="C00000"/>
                          </a:solidFill>
                          <a:latin typeface="Times New Roman"/>
                          <a:ea typeface="Times New Roman"/>
                          <a:cs typeface="Times New Roman"/>
                        </a:rPr>
                        <a:t>#users</a:t>
                      </a:r>
                      <a:endParaRPr lang="en-US" sz="800" dirty="0">
                        <a:solidFill>
                          <a:srgbClr val="C00000"/>
                        </a:solidFill>
                        <a:latin typeface="Times New Roman"/>
                        <a:ea typeface="Times New Roman"/>
                        <a:cs typeface="Times New Roman"/>
                      </a:endParaRPr>
                    </a:p>
                  </a:txBody>
                  <a:tcPr marL="51688" marR="516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800" dirty="0">
                          <a:latin typeface="Times New Roman"/>
                          <a:ea typeface="Times New Roman"/>
                          <a:cs typeface="Times New Roman"/>
                        </a:rPr>
                        <a:t>thousands</a:t>
                      </a:r>
                      <a:endParaRPr lang="en-US" sz="800" dirty="0">
                        <a:latin typeface="Times New Roman"/>
                        <a:ea typeface="Times New Roman"/>
                        <a:cs typeface="Times New Roman"/>
                      </a:endParaRPr>
                    </a:p>
                  </a:txBody>
                  <a:tcPr marL="51688" marR="516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1800" dirty="0">
                          <a:latin typeface="Times New Roman"/>
                          <a:ea typeface="Times New Roman"/>
                          <a:cs typeface="Times New Roman"/>
                        </a:rPr>
                        <a:t>hundreds</a:t>
                      </a:r>
                      <a:endParaRPr lang="en-US" sz="800" dirty="0">
                        <a:latin typeface="Times New Roman"/>
                        <a:ea typeface="Times New Roman"/>
                        <a:cs typeface="Times New Roman"/>
                      </a:endParaRPr>
                    </a:p>
                  </a:txBody>
                  <a:tcPr marL="51688" marR="5168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1673">
                <a:tc>
                  <a:txBody>
                    <a:bodyPr/>
                    <a:lstStyle/>
                    <a:p>
                      <a:pPr marL="0" marR="0" algn="l">
                        <a:spcBef>
                          <a:spcPts val="0"/>
                        </a:spcBef>
                        <a:spcAft>
                          <a:spcPts val="0"/>
                        </a:spcAft>
                      </a:pPr>
                      <a:r>
                        <a:rPr lang="en-US" sz="1800" b="1" dirty="0">
                          <a:solidFill>
                            <a:srgbClr val="C00000"/>
                          </a:solidFill>
                          <a:latin typeface="Times New Roman"/>
                          <a:ea typeface="Times New Roman"/>
                          <a:cs typeface="Times New Roman"/>
                        </a:rPr>
                        <a:t>DB size</a:t>
                      </a:r>
                      <a:endParaRPr lang="en-US" sz="800" dirty="0">
                        <a:solidFill>
                          <a:srgbClr val="C00000"/>
                        </a:solidFill>
                        <a:latin typeface="Times New Roman"/>
                        <a:ea typeface="Times New Roman"/>
                        <a:cs typeface="Times New Roman"/>
                      </a:endParaRPr>
                    </a:p>
                  </a:txBody>
                  <a:tcPr marL="51688" marR="516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800" dirty="0">
                          <a:latin typeface="Times New Roman"/>
                          <a:ea typeface="Times New Roman"/>
                          <a:cs typeface="Times New Roman"/>
                        </a:rPr>
                        <a:t>100MB-GB</a:t>
                      </a:r>
                      <a:endParaRPr lang="en-US" sz="800" dirty="0">
                        <a:latin typeface="Times New Roman"/>
                        <a:ea typeface="Times New Roman"/>
                        <a:cs typeface="Times New Roman"/>
                      </a:endParaRPr>
                    </a:p>
                  </a:txBody>
                  <a:tcPr marL="51688" marR="516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1800" dirty="0">
                          <a:latin typeface="Times New Roman"/>
                          <a:ea typeface="Times New Roman"/>
                          <a:cs typeface="Times New Roman"/>
                        </a:rPr>
                        <a:t>100GB-TB</a:t>
                      </a:r>
                      <a:endParaRPr lang="en-US" sz="800" dirty="0">
                        <a:latin typeface="Times New Roman"/>
                        <a:ea typeface="Times New Roman"/>
                        <a:cs typeface="Times New Roman"/>
                      </a:endParaRPr>
                    </a:p>
                  </a:txBody>
                  <a:tcPr marL="51688" marR="5168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1673">
                <a:tc>
                  <a:txBody>
                    <a:bodyPr/>
                    <a:lstStyle/>
                    <a:p>
                      <a:pPr marL="0" marR="0" algn="l">
                        <a:spcBef>
                          <a:spcPts val="0"/>
                        </a:spcBef>
                        <a:spcAft>
                          <a:spcPts val="0"/>
                        </a:spcAft>
                      </a:pPr>
                      <a:r>
                        <a:rPr lang="en-US" sz="1800" b="1" dirty="0">
                          <a:solidFill>
                            <a:srgbClr val="C00000"/>
                          </a:solidFill>
                          <a:latin typeface="Times New Roman"/>
                          <a:ea typeface="Times New Roman"/>
                          <a:cs typeface="Times New Roman"/>
                        </a:rPr>
                        <a:t>metric</a:t>
                      </a:r>
                      <a:endParaRPr lang="en-US" sz="800" dirty="0">
                        <a:solidFill>
                          <a:srgbClr val="C00000"/>
                        </a:solidFill>
                        <a:latin typeface="Times New Roman"/>
                        <a:ea typeface="Times New Roman"/>
                        <a:cs typeface="Times New Roman"/>
                      </a:endParaRPr>
                    </a:p>
                  </a:txBody>
                  <a:tcPr marL="51688" marR="516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800" dirty="0">
                          <a:latin typeface="Times New Roman"/>
                          <a:ea typeface="Times New Roman"/>
                          <a:cs typeface="Times New Roman"/>
                        </a:rPr>
                        <a:t>transaction throughput</a:t>
                      </a:r>
                      <a:endParaRPr lang="en-US" sz="800" dirty="0">
                        <a:latin typeface="Times New Roman"/>
                        <a:ea typeface="Times New Roman"/>
                        <a:cs typeface="Times New Roman"/>
                      </a:endParaRPr>
                    </a:p>
                  </a:txBody>
                  <a:tcPr marL="51688" marR="516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1800" dirty="0">
                          <a:latin typeface="Times New Roman"/>
                          <a:ea typeface="Times New Roman"/>
                          <a:cs typeface="Times New Roman"/>
                        </a:rPr>
                        <a:t>query throughput, response</a:t>
                      </a:r>
                      <a:endParaRPr lang="en-US" sz="800" dirty="0">
                        <a:latin typeface="Times New Roman"/>
                        <a:ea typeface="Times New Roman"/>
                        <a:cs typeface="Times New Roman"/>
                      </a:endParaRPr>
                    </a:p>
                  </a:txBody>
                  <a:tcPr marL="51688" marR="5168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zo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8600"/>
            <a:ext cx="9144000" cy="990600"/>
          </a:xfrm>
        </p:spPr>
        <p:txBody>
          <a:bodyPr/>
          <a:lstStyle/>
          <a:p>
            <a:r>
              <a:rPr lang="en-US" dirty="0" smtClean="0"/>
              <a:t>  </a:t>
            </a:r>
            <a:r>
              <a:rPr lang="en-US" dirty="0" smtClean="0">
                <a:solidFill>
                  <a:srgbClr val="0070C0"/>
                </a:solidFill>
                <a:latin typeface="Bernard MT Condensed" pitchFamily="18" charset="0"/>
              </a:rPr>
              <a:t>Note:-</a:t>
            </a:r>
          </a:p>
        </p:txBody>
      </p:sp>
      <p:sp>
        <p:nvSpPr>
          <p:cNvPr id="3" name="Content Placeholder 2"/>
          <p:cNvSpPr>
            <a:spLocks noGrp="1"/>
          </p:cNvSpPr>
          <p:nvPr>
            <p:ph sz="quarter" idx="1"/>
          </p:nvPr>
        </p:nvSpPr>
        <p:spPr/>
        <p:txBody>
          <a:bodyPr>
            <a:normAutofit/>
          </a:bodyPr>
          <a:lstStyle/>
          <a:p>
            <a:pPr algn="just"/>
            <a:r>
              <a:rPr lang="en-US" b="1" dirty="0" smtClean="0"/>
              <a:t>Transactional throughput</a:t>
            </a:r>
            <a:r>
              <a:rPr lang="en-US" dirty="0" smtClean="0"/>
              <a:t>:-The speed of a database system is measured by the </a:t>
            </a:r>
            <a:r>
              <a:rPr lang="en-US" i="1" dirty="0" smtClean="0"/>
              <a:t>transaction throughput</a:t>
            </a:r>
            <a:r>
              <a:rPr lang="en-US" dirty="0" smtClean="0"/>
              <a:t>, expressed as a number of transactions per second. </a:t>
            </a:r>
          </a:p>
          <a:p>
            <a:pPr algn="just"/>
            <a:r>
              <a:rPr lang="en-US" b="1" dirty="0" smtClean="0"/>
              <a:t>Query Throughput (</a:t>
            </a:r>
            <a:r>
              <a:rPr lang="en-US" b="1" dirty="0" err="1" smtClean="0"/>
              <a:t>QthD</a:t>
            </a:r>
            <a:r>
              <a:rPr lang="en-US" b="1" dirty="0" smtClean="0"/>
              <a:t>)</a:t>
            </a:r>
            <a:r>
              <a:rPr lang="en-US" dirty="0" smtClean="0"/>
              <a:t> is a measurement used to determine the performance of a </a:t>
            </a:r>
            <a:r>
              <a:rPr lang="en-US" b="1" dirty="0" smtClean="0">
                <a:solidFill>
                  <a:srgbClr val="C00000"/>
                </a:solidFill>
              </a:rPr>
              <a:t>database system.</a:t>
            </a:r>
            <a:r>
              <a:rPr lang="en-US" b="1" dirty="0" smtClean="0"/>
              <a:t> </a:t>
            </a:r>
            <a:endParaRPr lang="en-US" b="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dirty="0" smtClean="0">
                <a:solidFill>
                  <a:srgbClr val="0070C0"/>
                </a:solidFill>
                <a:latin typeface="Bernard MT Condensed" pitchFamily="18" charset="0"/>
              </a:rPr>
              <a:t/>
            </a:r>
            <a:br>
              <a:rPr lang="en-US" dirty="0" smtClean="0">
                <a:solidFill>
                  <a:srgbClr val="0070C0"/>
                </a:solidFill>
                <a:latin typeface="Bernard MT Condensed" pitchFamily="18" charset="0"/>
              </a:rPr>
            </a:br>
            <a:r>
              <a:rPr lang="en-US" dirty="0" smtClean="0">
                <a:solidFill>
                  <a:srgbClr val="0070C0"/>
                </a:solidFill>
                <a:latin typeface="Bernard MT Condensed" pitchFamily="18" charset="0"/>
              </a:rPr>
              <a:t>Multi Dimensional  Data Models</a:t>
            </a:r>
            <a:br>
              <a:rPr lang="en-US" dirty="0" smtClean="0">
                <a:solidFill>
                  <a:srgbClr val="0070C0"/>
                </a:solidFill>
                <a:latin typeface="Bernard MT Condensed" pitchFamily="18" charset="0"/>
              </a:rPr>
            </a:br>
            <a:endParaRPr lang="en-US" dirty="0" smtClean="0">
              <a:solidFill>
                <a:srgbClr val="0070C0"/>
              </a:solidFill>
              <a:latin typeface="Bernard MT Condensed" pitchFamily="18" charset="0"/>
            </a:endParaRPr>
          </a:p>
        </p:txBody>
      </p:sp>
      <p:sp>
        <p:nvSpPr>
          <p:cNvPr id="4" name="Rectangle 3"/>
          <p:cNvSpPr/>
          <p:nvPr/>
        </p:nvSpPr>
        <p:spPr>
          <a:xfrm>
            <a:off x="0" y="1524000"/>
            <a:ext cx="9144000" cy="4493538"/>
          </a:xfrm>
          <a:prstGeom prst="rect">
            <a:avLst/>
          </a:prstGeom>
        </p:spPr>
        <p:txBody>
          <a:bodyPr wrap="square">
            <a:spAutoFit/>
          </a:bodyPr>
          <a:lstStyle/>
          <a:p>
            <a:pPr>
              <a:lnSpc>
                <a:spcPct val="130000"/>
              </a:lnSpc>
            </a:pPr>
            <a:r>
              <a:rPr lang="en-US" sz="2000" dirty="0" smtClean="0"/>
              <a:t>A </a:t>
            </a:r>
            <a:r>
              <a:rPr lang="en-US" sz="2000" b="1" dirty="0" smtClean="0"/>
              <a:t>data warehouse</a:t>
            </a:r>
            <a:r>
              <a:rPr lang="en-US" sz="2000" dirty="0" smtClean="0"/>
              <a:t> is based on a </a:t>
            </a:r>
            <a:r>
              <a:rPr lang="en-US" sz="2000" dirty="0" smtClean="0">
                <a:solidFill>
                  <a:srgbClr val="C00000"/>
                </a:solidFill>
              </a:rPr>
              <a:t>multidimensional data model </a:t>
            </a:r>
            <a:r>
              <a:rPr lang="en-US" sz="2000" dirty="0" smtClean="0"/>
              <a:t>which views data in the form of a data cube,</a:t>
            </a:r>
          </a:p>
          <a:p>
            <a:pPr>
              <a:lnSpc>
                <a:spcPct val="130000"/>
              </a:lnSpc>
            </a:pPr>
            <a:r>
              <a:rPr lang="en-US" sz="2000" dirty="0" smtClean="0"/>
              <a:t>A data cube, such as </a:t>
            </a:r>
            <a:r>
              <a:rPr lang="en-US" sz="2000" dirty="0" smtClean="0">
                <a:solidFill>
                  <a:schemeClr val="folHlink"/>
                </a:solidFill>
              </a:rPr>
              <a:t>sales</a:t>
            </a:r>
            <a:r>
              <a:rPr lang="en-US" sz="2000" dirty="0" smtClean="0"/>
              <a:t>, allows data to be modeled and viewed in multiple dimensions</a:t>
            </a:r>
          </a:p>
          <a:p>
            <a:pPr lvl="1">
              <a:lnSpc>
                <a:spcPct val="130000"/>
              </a:lnSpc>
            </a:pPr>
            <a:r>
              <a:rPr lang="en-US" sz="2000" b="1" dirty="0" smtClean="0"/>
              <a:t>Dimension tables</a:t>
            </a:r>
            <a:r>
              <a:rPr lang="en-US" sz="2000" dirty="0" smtClean="0"/>
              <a:t>, such </a:t>
            </a:r>
            <a:r>
              <a:rPr lang="en-US" sz="2000" dirty="0" smtClean="0">
                <a:solidFill>
                  <a:srgbClr val="C00000"/>
                </a:solidFill>
              </a:rPr>
              <a:t>as item (item name, brand, type), or time(day, week, month, quarter, year) </a:t>
            </a:r>
          </a:p>
          <a:p>
            <a:pPr lvl="1">
              <a:lnSpc>
                <a:spcPct val="130000"/>
              </a:lnSpc>
            </a:pPr>
            <a:r>
              <a:rPr lang="en-US" sz="2000" b="1" dirty="0" smtClean="0"/>
              <a:t>Fact table</a:t>
            </a:r>
            <a:r>
              <a:rPr lang="en-US" sz="2000" dirty="0" smtClean="0"/>
              <a:t> contains </a:t>
            </a:r>
            <a:r>
              <a:rPr lang="en-US" sz="2000" b="1" dirty="0" smtClean="0"/>
              <a:t>measures</a:t>
            </a:r>
            <a:r>
              <a:rPr lang="en-US" sz="2000" dirty="0" smtClean="0"/>
              <a:t> (such as </a:t>
            </a:r>
            <a:r>
              <a:rPr lang="en-US" sz="2000" dirty="0" err="1" smtClean="0">
                <a:solidFill>
                  <a:srgbClr val="C00000"/>
                </a:solidFill>
              </a:rPr>
              <a:t>dollars_sold</a:t>
            </a:r>
            <a:r>
              <a:rPr lang="en-US" sz="2000" dirty="0" smtClean="0"/>
              <a:t>) and keys to each of the related dimension tables</a:t>
            </a:r>
          </a:p>
          <a:p>
            <a:pPr>
              <a:lnSpc>
                <a:spcPct val="130000"/>
              </a:lnSpc>
            </a:pPr>
            <a:r>
              <a:rPr lang="en-US" sz="2000" dirty="0" smtClean="0"/>
              <a:t>In data warehousing literature, an n-D base cube is called a </a:t>
            </a:r>
            <a:r>
              <a:rPr lang="en-US" sz="2000" dirty="0" smtClean="0">
                <a:solidFill>
                  <a:srgbClr val="C00000"/>
                </a:solidFill>
              </a:rPr>
              <a:t>base </a:t>
            </a:r>
            <a:r>
              <a:rPr lang="en-US" sz="2000" dirty="0" err="1" smtClean="0">
                <a:solidFill>
                  <a:srgbClr val="C00000"/>
                </a:solidFill>
              </a:rPr>
              <a:t>cuboid</a:t>
            </a:r>
            <a:r>
              <a:rPr lang="en-US" sz="2000" dirty="0" smtClean="0"/>
              <a:t>. The top most 0-D </a:t>
            </a:r>
            <a:r>
              <a:rPr lang="en-US" sz="2000" dirty="0" err="1" smtClean="0"/>
              <a:t>cuboid</a:t>
            </a:r>
            <a:r>
              <a:rPr lang="en-US" sz="2000" dirty="0" smtClean="0"/>
              <a:t>, which holds the highest-level of summarization, is called the </a:t>
            </a:r>
            <a:r>
              <a:rPr lang="en-US" sz="2000" dirty="0" smtClean="0">
                <a:solidFill>
                  <a:srgbClr val="C00000"/>
                </a:solidFill>
              </a:rPr>
              <a:t>apex </a:t>
            </a:r>
            <a:r>
              <a:rPr lang="en-US" sz="2000" dirty="0" err="1" smtClean="0">
                <a:solidFill>
                  <a:srgbClr val="C00000"/>
                </a:solidFill>
              </a:rPr>
              <a:t>cuboid</a:t>
            </a:r>
            <a:r>
              <a:rPr lang="en-US" sz="2000" dirty="0" smtClean="0">
                <a:solidFill>
                  <a:srgbClr val="C00000"/>
                </a:solidFill>
              </a:rPr>
              <a:t>.</a:t>
            </a:r>
            <a:r>
              <a:rPr lang="en-US" sz="2000" dirty="0" smtClean="0"/>
              <a:t>  The lattice of cuboids forms a </a:t>
            </a:r>
            <a:r>
              <a:rPr lang="en-US" sz="2000" dirty="0" smtClean="0">
                <a:solidFill>
                  <a:srgbClr val="C00000"/>
                </a:solidFill>
              </a:rPr>
              <a:t>data cube.</a:t>
            </a:r>
          </a:p>
        </p:txBody>
      </p:sp>
    </p:spTree>
  </p:cSld>
  <p:clrMapOvr>
    <a:masterClrMapping/>
  </p:clrMapOvr>
  <p:transition>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a:xfrm>
            <a:off x="0" y="304800"/>
            <a:ext cx="9144000" cy="685800"/>
          </a:xfrm>
        </p:spPr>
        <p:txBody>
          <a:bodyPr>
            <a:noAutofit/>
          </a:bodyPr>
          <a:lstStyle/>
          <a:p>
            <a:pPr algn="ctr" eaLnBrk="1" hangingPunct="1"/>
            <a:r>
              <a:rPr lang="en-US" altLang="zh-CN" dirty="0" smtClean="0">
                <a:solidFill>
                  <a:srgbClr val="0070C0"/>
                </a:solidFill>
                <a:latin typeface="Bernard MT Condensed" pitchFamily="18" charset="0"/>
              </a:rPr>
              <a:t>Cube: A Lattice of Cuboids</a:t>
            </a:r>
          </a:p>
        </p:txBody>
      </p:sp>
      <p:sp>
        <p:nvSpPr>
          <p:cNvPr id="23554" name="Slide Number Placeholder 5"/>
          <p:cNvSpPr>
            <a:spLocks noGrp="1"/>
          </p:cNvSpPr>
          <p:nvPr>
            <p:ph type="sldNum" sz="quarter" idx="12"/>
          </p:nvPr>
        </p:nvSpPr>
        <p:spPr>
          <a:noFill/>
        </p:spPr>
        <p:txBody>
          <a:bodyPr>
            <a:normAutofit fontScale="85000" lnSpcReduction="20000"/>
          </a:bodyPr>
          <a:lstStyle/>
          <a:p>
            <a:fld id="{5C0791B1-9717-493F-BEA8-3124D4EC1D42}" type="slidenum">
              <a:rPr lang="en-US" smtClean="0"/>
              <a:pPr/>
              <a:t>17</a:t>
            </a:fld>
            <a:endParaRPr lang="en-US" smtClean="0"/>
          </a:p>
        </p:txBody>
      </p:sp>
      <p:sp>
        <p:nvSpPr>
          <p:cNvPr id="23556" name="Text Box 56"/>
          <p:cNvSpPr txBox="1">
            <a:spLocks noChangeArrowheads="1"/>
          </p:cNvSpPr>
          <p:nvPr/>
        </p:nvSpPr>
        <p:spPr bwMode="auto">
          <a:xfrm>
            <a:off x="136525" y="3719513"/>
            <a:ext cx="1006475" cy="336550"/>
          </a:xfrm>
          <a:prstGeom prst="rect">
            <a:avLst/>
          </a:prstGeom>
          <a:noFill/>
          <a:ln w="9525">
            <a:noFill/>
            <a:miter lim="800000"/>
            <a:headEnd/>
            <a:tailEnd/>
          </a:ln>
        </p:spPr>
        <p:txBody>
          <a:bodyPr wrap="none">
            <a:spAutoFit/>
          </a:bodyPr>
          <a:lstStyle/>
          <a:p>
            <a:pPr eaLnBrk="0" hangingPunct="0"/>
            <a:r>
              <a:rPr lang="en-US" altLang="zh-CN" sz="1600" b="1">
                <a:latin typeface="Times New Roman" pitchFamily="18" charset="0"/>
                <a:ea typeface="SimSun" pitchFamily="2" charset="-122"/>
              </a:rPr>
              <a:t>time,item</a:t>
            </a:r>
            <a:endParaRPr lang="en-US" altLang="zh-CN">
              <a:latin typeface="Times New Roman" pitchFamily="18" charset="0"/>
              <a:ea typeface="SimSun" pitchFamily="2" charset="-122"/>
            </a:endParaRPr>
          </a:p>
        </p:txBody>
      </p:sp>
      <p:sp>
        <p:nvSpPr>
          <p:cNvPr id="23557" name="Text Box 62"/>
          <p:cNvSpPr txBox="1">
            <a:spLocks noChangeArrowheads="1"/>
          </p:cNvSpPr>
          <p:nvPr/>
        </p:nvSpPr>
        <p:spPr bwMode="auto">
          <a:xfrm>
            <a:off x="136525" y="4938713"/>
            <a:ext cx="1747838" cy="336550"/>
          </a:xfrm>
          <a:prstGeom prst="rect">
            <a:avLst/>
          </a:prstGeom>
          <a:noFill/>
          <a:ln w="9525">
            <a:noFill/>
            <a:miter lim="800000"/>
            <a:headEnd/>
            <a:tailEnd/>
          </a:ln>
        </p:spPr>
        <p:txBody>
          <a:bodyPr wrap="none">
            <a:spAutoFit/>
          </a:bodyPr>
          <a:lstStyle/>
          <a:p>
            <a:pPr eaLnBrk="0" hangingPunct="0"/>
            <a:r>
              <a:rPr lang="en-US" altLang="zh-CN" sz="1600" b="1">
                <a:latin typeface="Times New Roman" pitchFamily="18" charset="0"/>
                <a:ea typeface="SimSun" pitchFamily="2" charset="-122"/>
              </a:rPr>
              <a:t>time,item,location</a:t>
            </a:r>
            <a:endParaRPr lang="en-US" altLang="zh-CN">
              <a:latin typeface="Times New Roman" pitchFamily="18" charset="0"/>
              <a:ea typeface="SimSun" pitchFamily="2" charset="-122"/>
            </a:endParaRPr>
          </a:p>
        </p:txBody>
      </p:sp>
      <p:sp>
        <p:nvSpPr>
          <p:cNvPr id="23558" name="Text Box 67"/>
          <p:cNvSpPr txBox="1">
            <a:spLocks noChangeArrowheads="1"/>
          </p:cNvSpPr>
          <p:nvPr/>
        </p:nvSpPr>
        <p:spPr bwMode="auto">
          <a:xfrm>
            <a:off x="1981200" y="5943600"/>
            <a:ext cx="2663825" cy="336550"/>
          </a:xfrm>
          <a:prstGeom prst="rect">
            <a:avLst/>
          </a:prstGeom>
          <a:noFill/>
          <a:ln w="9525">
            <a:noFill/>
            <a:miter lim="800000"/>
            <a:headEnd/>
            <a:tailEnd/>
          </a:ln>
        </p:spPr>
        <p:txBody>
          <a:bodyPr wrap="none">
            <a:spAutoFit/>
          </a:bodyPr>
          <a:lstStyle/>
          <a:p>
            <a:pPr eaLnBrk="0" hangingPunct="0"/>
            <a:r>
              <a:rPr lang="en-US" altLang="zh-CN" sz="1600" b="1">
                <a:latin typeface="Times New Roman" pitchFamily="18" charset="0"/>
                <a:ea typeface="SimSun" pitchFamily="2" charset="-122"/>
              </a:rPr>
              <a:t>time, item, location, supplier</a:t>
            </a:r>
            <a:endParaRPr lang="en-US" altLang="zh-CN">
              <a:latin typeface="Times New Roman" pitchFamily="18" charset="0"/>
              <a:ea typeface="SimSun" pitchFamily="2" charset="-122"/>
            </a:endParaRPr>
          </a:p>
        </p:txBody>
      </p:sp>
      <p:grpSp>
        <p:nvGrpSpPr>
          <p:cNvPr id="2" name="Group 73"/>
          <p:cNvGrpSpPr>
            <a:grpSpLocks/>
          </p:cNvGrpSpPr>
          <p:nvPr/>
        </p:nvGrpSpPr>
        <p:grpSpPr bwMode="auto">
          <a:xfrm>
            <a:off x="609600" y="1524000"/>
            <a:ext cx="8339138" cy="4481513"/>
            <a:chOff x="384" y="1209"/>
            <a:chExt cx="5253" cy="2823"/>
          </a:xfrm>
        </p:grpSpPr>
        <p:sp>
          <p:nvSpPr>
            <p:cNvPr id="23560" name="AutoShape 3"/>
            <p:cNvSpPr>
              <a:spLocks noChangeArrowheads="1"/>
            </p:cNvSpPr>
            <p:nvPr/>
          </p:nvSpPr>
          <p:spPr bwMode="auto">
            <a:xfrm>
              <a:off x="1872" y="1440"/>
              <a:ext cx="144" cy="144"/>
            </a:xfrm>
            <a:prstGeom prst="flowChartConnector">
              <a:avLst/>
            </a:prstGeom>
            <a:solidFill>
              <a:schemeClr val="bg1"/>
            </a:solidFill>
            <a:ln w="9525">
              <a:solidFill>
                <a:schemeClr val="tx1"/>
              </a:solidFill>
              <a:round/>
              <a:headEnd/>
              <a:tailEnd/>
            </a:ln>
          </p:spPr>
          <p:txBody>
            <a:bodyPr wrap="none" anchor="ctr"/>
            <a:lstStyle/>
            <a:p>
              <a:endParaRPr lang="en-US"/>
            </a:p>
          </p:txBody>
        </p:sp>
        <p:sp>
          <p:nvSpPr>
            <p:cNvPr id="23561" name="AutoShape 4"/>
            <p:cNvSpPr>
              <a:spLocks noChangeArrowheads="1"/>
            </p:cNvSpPr>
            <p:nvPr/>
          </p:nvSpPr>
          <p:spPr bwMode="auto">
            <a:xfrm>
              <a:off x="816" y="1968"/>
              <a:ext cx="144" cy="144"/>
            </a:xfrm>
            <a:prstGeom prst="flowChartConnector">
              <a:avLst/>
            </a:prstGeom>
            <a:solidFill>
              <a:schemeClr val="bg1"/>
            </a:solidFill>
            <a:ln w="9525">
              <a:solidFill>
                <a:schemeClr val="tx1"/>
              </a:solidFill>
              <a:round/>
              <a:headEnd/>
              <a:tailEnd/>
            </a:ln>
          </p:spPr>
          <p:txBody>
            <a:bodyPr wrap="none" anchor="ctr"/>
            <a:lstStyle/>
            <a:p>
              <a:endParaRPr lang="en-US"/>
            </a:p>
          </p:txBody>
        </p:sp>
        <p:sp>
          <p:nvSpPr>
            <p:cNvPr id="23562" name="AutoShape 5"/>
            <p:cNvSpPr>
              <a:spLocks noChangeArrowheads="1"/>
            </p:cNvSpPr>
            <p:nvPr/>
          </p:nvSpPr>
          <p:spPr bwMode="auto">
            <a:xfrm>
              <a:off x="1536" y="1968"/>
              <a:ext cx="144" cy="144"/>
            </a:xfrm>
            <a:prstGeom prst="flowChartConnector">
              <a:avLst/>
            </a:prstGeom>
            <a:solidFill>
              <a:schemeClr val="bg1"/>
            </a:solidFill>
            <a:ln w="9525">
              <a:solidFill>
                <a:schemeClr val="tx1"/>
              </a:solidFill>
              <a:round/>
              <a:headEnd/>
              <a:tailEnd/>
            </a:ln>
          </p:spPr>
          <p:txBody>
            <a:bodyPr wrap="none" anchor="ctr"/>
            <a:lstStyle/>
            <a:p>
              <a:endParaRPr lang="en-US"/>
            </a:p>
          </p:txBody>
        </p:sp>
        <p:sp>
          <p:nvSpPr>
            <p:cNvPr id="23563" name="AutoShape 6"/>
            <p:cNvSpPr>
              <a:spLocks noChangeArrowheads="1"/>
            </p:cNvSpPr>
            <p:nvPr/>
          </p:nvSpPr>
          <p:spPr bwMode="auto">
            <a:xfrm>
              <a:off x="2256" y="1968"/>
              <a:ext cx="144" cy="144"/>
            </a:xfrm>
            <a:prstGeom prst="flowChartConnector">
              <a:avLst/>
            </a:prstGeom>
            <a:solidFill>
              <a:schemeClr val="bg1"/>
            </a:solidFill>
            <a:ln w="9525">
              <a:solidFill>
                <a:schemeClr val="tx1"/>
              </a:solidFill>
              <a:round/>
              <a:headEnd/>
              <a:tailEnd/>
            </a:ln>
          </p:spPr>
          <p:txBody>
            <a:bodyPr wrap="none" anchor="ctr"/>
            <a:lstStyle/>
            <a:p>
              <a:endParaRPr lang="en-US"/>
            </a:p>
          </p:txBody>
        </p:sp>
        <p:sp>
          <p:nvSpPr>
            <p:cNvPr id="23564" name="AutoShape 7"/>
            <p:cNvSpPr>
              <a:spLocks noChangeArrowheads="1"/>
            </p:cNvSpPr>
            <p:nvPr/>
          </p:nvSpPr>
          <p:spPr bwMode="auto">
            <a:xfrm>
              <a:off x="1728" y="2592"/>
              <a:ext cx="144" cy="144"/>
            </a:xfrm>
            <a:prstGeom prst="flowChartConnector">
              <a:avLst/>
            </a:prstGeom>
            <a:solidFill>
              <a:schemeClr val="bg1"/>
            </a:solidFill>
            <a:ln w="9525">
              <a:solidFill>
                <a:schemeClr val="tx1"/>
              </a:solidFill>
              <a:round/>
              <a:headEnd/>
              <a:tailEnd/>
            </a:ln>
          </p:spPr>
          <p:txBody>
            <a:bodyPr wrap="none" anchor="ctr"/>
            <a:lstStyle/>
            <a:p>
              <a:endParaRPr lang="en-US"/>
            </a:p>
          </p:txBody>
        </p:sp>
        <p:sp>
          <p:nvSpPr>
            <p:cNvPr id="23565" name="AutoShape 8"/>
            <p:cNvSpPr>
              <a:spLocks noChangeArrowheads="1"/>
            </p:cNvSpPr>
            <p:nvPr/>
          </p:nvSpPr>
          <p:spPr bwMode="auto">
            <a:xfrm>
              <a:off x="2976" y="2592"/>
              <a:ext cx="144" cy="144"/>
            </a:xfrm>
            <a:prstGeom prst="flowChartConnector">
              <a:avLst/>
            </a:prstGeom>
            <a:solidFill>
              <a:schemeClr val="bg1"/>
            </a:solidFill>
            <a:ln w="9525">
              <a:solidFill>
                <a:schemeClr val="tx1"/>
              </a:solidFill>
              <a:round/>
              <a:headEnd/>
              <a:tailEnd/>
            </a:ln>
          </p:spPr>
          <p:txBody>
            <a:bodyPr wrap="none" anchor="ctr"/>
            <a:lstStyle/>
            <a:p>
              <a:endParaRPr lang="en-US"/>
            </a:p>
          </p:txBody>
        </p:sp>
        <p:sp>
          <p:nvSpPr>
            <p:cNvPr id="23566" name="AutoShape 9"/>
            <p:cNvSpPr>
              <a:spLocks noChangeArrowheads="1"/>
            </p:cNvSpPr>
            <p:nvPr/>
          </p:nvSpPr>
          <p:spPr bwMode="auto">
            <a:xfrm>
              <a:off x="2400" y="2592"/>
              <a:ext cx="144" cy="144"/>
            </a:xfrm>
            <a:prstGeom prst="flowChartConnector">
              <a:avLst/>
            </a:prstGeom>
            <a:solidFill>
              <a:schemeClr val="bg1"/>
            </a:solidFill>
            <a:ln w="9525">
              <a:solidFill>
                <a:schemeClr val="tx1"/>
              </a:solidFill>
              <a:round/>
              <a:headEnd/>
              <a:tailEnd/>
            </a:ln>
          </p:spPr>
          <p:txBody>
            <a:bodyPr wrap="none" anchor="ctr"/>
            <a:lstStyle/>
            <a:p>
              <a:endParaRPr lang="en-US"/>
            </a:p>
          </p:txBody>
        </p:sp>
        <p:sp>
          <p:nvSpPr>
            <p:cNvPr id="23567" name="AutoShape 10"/>
            <p:cNvSpPr>
              <a:spLocks noChangeArrowheads="1"/>
            </p:cNvSpPr>
            <p:nvPr/>
          </p:nvSpPr>
          <p:spPr bwMode="auto">
            <a:xfrm>
              <a:off x="1056" y="2592"/>
              <a:ext cx="144" cy="144"/>
            </a:xfrm>
            <a:prstGeom prst="flowChartConnector">
              <a:avLst/>
            </a:prstGeom>
            <a:solidFill>
              <a:schemeClr val="bg1"/>
            </a:solidFill>
            <a:ln w="9525">
              <a:solidFill>
                <a:schemeClr val="tx1"/>
              </a:solidFill>
              <a:round/>
              <a:headEnd/>
              <a:tailEnd/>
            </a:ln>
          </p:spPr>
          <p:txBody>
            <a:bodyPr wrap="none" anchor="ctr"/>
            <a:lstStyle/>
            <a:p>
              <a:endParaRPr lang="en-US"/>
            </a:p>
          </p:txBody>
        </p:sp>
        <p:sp>
          <p:nvSpPr>
            <p:cNvPr id="23568" name="AutoShape 11"/>
            <p:cNvSpPr>
              <a:spLocks noChangeArrowheads="1"/>
            </p:cNvSpPr>
            <p:nvPr/>
          </p:nvSpPr>
          <p:spPr bwMode="auto">
            <a:xfrm>
              <a:off x="384" y="2592"/>
              <a:ext cx="144" cy="144"/>
            </a:xfrm>
            <a:prstGeom prst="flowChartConnector">
              <a:avLst/>
            </a:prstGeom>
            <a:solidFill>
              <a:schemeClr val="bg1"/>
            </a:solidFill>
            <a:ln w="9525">
              <a:solidFill>
                <a:schemeClr val="tx1"/>
              </a:solidFill>
              <a:round/>
              <a:headEnd/>
              <a:tailEnd/>
            </a:ln>
          </p:spPr>
          <p:txBody>
            <a:bodyPr wrap="none" anchor="ctr"/>
            <a:lstStyle/>
            <a:p>
              <a:endParaRPr lang="en-US"/>
            </a:p>
          </p:txBody>
        </p:sp>
        <p:sp>
          <p:nvSpPr>
            <p:cNvPr id="23569" name="AutoShape 12"/>
            <p:cNvSpPr>
              <a:spLocks noChangeArrowheads="1"/>
            </p:cNvSpPr>
            <p:nvPr/>
          </p:nvSpPr>
          <p:spPr bwMode="auto">
            <a:xfrm>
              <a:off x="2880" y="2016"/>
              <a:ext cx="144" cy="144"/>
            </a:xfrm>
            <a:prstGeom prst="flowChartConnector">
              <a:avLst/>
            </a:prstGeom>
            <a:solidFill>
              <a:schemeClr val="bg1"/>
            </a:solidFill>
            <a:ln w="9525">
              <a:solidFill>
                <a:schemeClr val="tx1"/>
              </a:solidFill>
              <a:round/>
              <a:headEnd/>
              <a:tailEnd/>
            </a:ln>
          </p:spPr>
          <p:txBody>
            <a:bodyPr wrap="none" anchor="ctr"/>
            <a:lstStyle/>
            <a:p>
              <a:endParaRPr lang="en-US"/>
            </a:p>
          </p:txBody>
        </p:sp>
        <p:sp>
          <p:nvSpPr>
            <p:cNvPr id="23570" name="AutoShape 13"/>
            <p:cNvSpPr>
              <a:spLocks noChangeArrowheads="1"/>
            </p:cNvSpPr>
            <p:nvPr/>
          </p:nvSpPr>
          <p:spPr bwMode="auto">
            <a:xfrm>
              <a:off x="816" y="3264"/>
              <a:ext cx="144" cy="144"/>
            </a:xfrm>
            <a:prstGeom prst="flowChartConnector">
              <a:avLst/>
            </a:prstGeom>
            <a:solidFill>
              <a:schemeClr val="bg1"/>
            </a:solidFill>
            <a:ln w="9525">
              <a:solidFill>
                <a:schemeClr val="tx1"/>
              </a:solidFill>
              <a:round/>
              <a:headEnd/>
              <a:tailEnd/>
            </a:ln>
          </p:spPr>
          <p:txBody>
            <a:bodyPr wrap="none" anchor="ctr"/>
            <a:lstStyle/>
            <a:p>
              <a:endParaRPr lang="en-US"/>
            </a:p>
          </p:txBody>
        </p:sp>
        <p:sp>
          <p:nvSpPr>
            <p:cNvPr id="23571" name="AutoShape 14"/>
            <p:cNvSpPr>
              <a:spLocks noChangeArrowheads="1"/>
            </p:cNvSpPr>
            <p:nvPr/>
          </p:nvSpPr>
          <p:spPr bwMode="auto">
            <a:xfrm>
              <a:off x="3552" y="2592"/>
              <a:ext cx="144" cy="144"/>
            </a:xfrm>
            <a:prstGeom prst="flowChartConnector">
              <a:avLst/>
            </a:prstGeom>
            <a:solidFill>
              <a:schemeClr val="bg1"/>
            </a:solidFill>
            <a:ln w="9525">
              <a:solidFill>
                <a:schemeClr val="tx1"/>
              </a:solidFill>
              <a:round/>
              <a:headEnd/>
              <a:tailEnd/>
            </a:ln>
          </p:spPr>
          <p:txBody>
            <a:bodyPr wrap="none" anchor="ctr"/>
            <a:lstStyle/>
            <a:p>
              <a:endParaRPr lang="en-US"/>
            </a:p>
          </p:txBody>
        </p:sp>
        <p:sp>
          <p:nvSpPr>
            <p:cNvPr id="23572" name="AutoShape 15"/>
            <p:cNvSpPr>
              <a:spLocks noChangeArrowheads="1"/>
            </p:cNvSpPr>
            <p:nvPr/>
          </p:nvSpPr>
          <p:spPr bwMode="auto">
            <a:xfrm>
              <a:off x="1920" y="3888"/>
              <a:ext cx="144" cy="144"/>
            </a:xfrm>
            <a:prstGeom prst="flowChartConnector">
              <a:avLst/>
            </a:prstGeom>
            <a:solidFill>
              <a:schemeClr val="bg1"/>
            </a:solidFill>
            <a:ln w="9525">
              <a:solidFill>
                <a:schemeClr val="tx1"/>
              </a:solidFill>
              <a:round/>
              <a:headEnd/>
              <a:tailEnd/>
            </a:ln>
          </p:spPr>
          <p:txBody>
            <a:bodyPr wrap="none" anchor="ctr"/>
            <a:lstStyle/>
            <a:p>
              <a:endParaRPr lang="en-US"/>
            </a:p>
          </p:txBody>
        </p:sp>
        <p:sp>
          <p:nvSpPr>
            <p:cNvPr id="23573" name="AutoShape 16"/>
            <p:cNvSpPr>
              <a:spLocks noChangeArrowheads="1"/>
            </p:cNvSpPr>
            <p:nvPr/>
          </p:nvSpPr>
          <p:spPr bwMode="auto">
            <a:xfrm>
              <a:off x="2784" y="3264"/>
              <a:ext cx="144" cy="144"/>
            </a:xfrm>
            <a:prstGeom prst="flowChartConnector">
              <a:avLst/>
            </a:prstGeom>
            <a:solidFill>
              <a:schemeClr val="bg1"/>
            </a:solidFill>
            <a:ln w="9525">
              <a:solidFill>
                <a:schemeClr val="tx1"/>
              </a:solidFill>
              <a:round/>
              <a:headEnd/>
              <a:tailEnd/>
            </a:ln>
          </p:spPr>
          <p:txBody>
            <a:bodyPr wrap="none" anchor="ctr"/>
            <a:lstStyle/>
            <a:p>
              <a:endParaRPr lang="en-US"/>
            </a:p>
          </p:txBody>
        </p:sp>
        <p:sp>
          <p:nvSpPr>
            <p:cNvPr id="23574" name="AutoShape 17"/>
            <p:cNvSpPr>
              <a:spLocks noChangeArrowheads="1"/>
            </p:cNvSpPr>
            <p:nvPr/>
          </p:nvSpPr>
          <p:spPr bwMode="auto">
            <a:xfrm>
              <a:off x="2112" y="3264"/>
              <a:ext cx="144" cy="144"/>
            </a:xfrm>
            <a:prstGeom prst="flowChartConnector">
              <a:avLst/>
            </a:prstGeom>
            <a:solidFill>
              <a:schemeClr val="bg1"/>
            </a:solidFill>
            <a:ln w="9525">
              <a:solidFill>
                <a:schemeClr val="tx1"/>
              </a:solidFill>
              <a:round/>
              <a:headEnd/>
              <a:tailEnd/>
            </a:ln>
          </p:spPr>
          <p:txBody>
            <a:bodyPr wrap="none" anchor="ctr"/>
            <a:lstStyle/>
            <a:p>
              <a:endParaRPr lang="en-US"/>
            </a:p>
          </p:txBody>
        </p:sp>
        <p:sp>
          <p:nvSpPr>
            <p:cNvPr id="23575" name="AutoShape 18"/>
            <p:cNvSpPr>
              <a:spLocks noChangeArrowheads="1"/>
            </p:cNvSpPr>
            <p:nvPr/>
          </p:nvSpPr>
          <p:spPr bwMode="auto">
            <a:xfrm>
              <a:off x="1440" y="3264"/>
              <a:ext cx="144" cy="144"/>
            </a:xfrm>
            <a:prstGeom prst="flowChartConnector">
              <a:avLst/>
            </a:prstGeom>
            <a:solidFill>
              <a:schemeClr val="bg1"/>
            </a:solidFill>
            <a:ln w="9525">
              <a:solidFill>
                <a:schemeClr val="tx1"/>
              </a:solidFill>
              <a:round/>
              <a:headEnd/>
              <a:tailEnd/>
            </a:ln>
          </p:spPr>
          <p:txBody>
            <a:bodyPr wrap="none" anchor="ctr"/>
            <a:lstStyle/>
            <a:p>
              <a:endParaRPr lang="en-US"/>
            </a:p>
          </p:txBody>
        </p:sp>
        <p:sp>
          <p:nvSpPr>
            <p:cNvPr id="23576" name="Text Box 19"/>
            <p:cNvSpPr txBox="1">
              <a:spLocks noChangeArrowheads="1"/>
            </p:cNvSpPr>
            <p:nvPr/>
          </p:nvSpPr>
          <p:spPr bwMode="auto">
            <a:xfrm>
              <a:off x="1766" y="1209"/>
              <a:ext cx="275" cy="250"/>
            </a:xfrm>
            <a:prstGeom prst="rect">
              <a:avLst/>
            </a:prstGeom>
            <a:noFill/>
            <a:ln w="9525">
              <a:noFill/>
              <a:miter lim="800000"/>
              <a:headEnd/>
              <a:tailEnd/>
            </a:ln>
          </p:spPr>
          <p:txBody>
            <a:bodyPr wrap="none">
              <a:spAutoFit/>
            </a:bodyPr>
            <a:lstStyle/>
            <a:p>
              <a:pPr algn="ctr" eaLnBrk="0" hangingPunct="0"/>
              <a:r>
                <a:rPr lang="en-US" altLang="zh-CN" sz="2000">
                  <a:latin typeface="Times New Roman" pitchFamily="18" charset="0"/>
                  <a:ea typeface="SimSun" pitchFamily="2" charset="-122"/>
                </a:rPr>
                <a:t>all</a:t>
              </a:r>
              <a:endParaRPr lang="en-US" altLang="zh-CN">
                <a:latin typeface="Times New Roman" pitchFamily="18" charset="0"/>
                <a:ea typeface="SimSun" pitchFamily="2" charset="-122"/>
              </a:endParaRPr>
            </a:p>
          </p:txBody>
        </p:sp>
        <p:sp>
          <p:nvSpPr>
            <p:cNvPr id="23577" name="Text Box 20"/>
            <p:cNvSpPr txBox="1">
              <a:spLocks noChangeArrowheads="1"/>
            </p:cNvSpPr>
            <p:nvPr/>
          </p:nvSpPr>
          <p:spPr bwMode="auto">
            <a:xfrm>
              <a:off x="758" y="1737"/>
              <a:ext cx="399" cy="250"/>
            </a:xfrm>
            <a:prstGeom prst="rect">
              <a:avLst/>
            </a:prstGeom>
            <a:noFill/>
            <a:ln w="9525">
              <a:noFill/>
              <a:miter lim="800000"/>
              <a:headEnd/>
              <a:tailEnd/>
            </a:ln>
          </p:spPr>
          <p:txBody>
            <a:bodyPr wrap="none">
              <a:spAutoFit/>
            </a:bodyPr>
            <a:lstStyle/>
            <a:p>
              <a:pPr eaLnBrk="0" hangingPunct="0"/>
              <a:r>
                <a:rPr lang="en-US" altLang="zh-CN" sz="2000">
                  <a:latin typeface="Times New Roman" pitchFamily="18" charset="0"/>
                  <a:ea typeface="SimSun" pitchFamily="2" charset="-122"/>
                </a:rPr>
                <a:t>time</a:t>
              </a:r>
              <a:endParaRPr lang="en-US" altLang="zh-CN">
                <a:latin typeface="Times New Roman" pitchFamily="18" charset="0"/>
                <a:ea typeface="SimSun" pitchFamily="2" charset="-122"/>
              </a:endParaRPr>
            </a:p>
          </p:txBody>
        </p:sp>
        <p:sp>
          <p:nvSpPr>
            <p:cNvPr id="23578" name="Text Box 21"/>
            <p:cNvSpPr txBox="1">
              <a:spLocks noChangeArrowheads="1"/>
            </p:cNvSpPr>
            <p:nvPr/>
          </p:nvSpPr>
          <p:spPr bwMode="auto">
            <a:xfrm>
              <a:off x="1478" y="1737"/>
              <a:ext cx="399" cy="250"/>
            </a:xfrm>
            <a:prstGeom prst="rect">
              <a:avLst/>
            </a:prstGeom>
            <a:noFill/>
            <a:ln w="9525">
              <a:noFill/>
              <a:miter lim="800000"/>
              <a:headEnd/>
              <a:tailEnd/>
            </a:ln>
          </p:spPr>
          <p:txBody>
            <a:bodyPr wrap="none">
              <a:spAutoFit/>
            </a:bodyPr>
            <a:lstStyle/>
            <a:p>
              <a:pPr eaLnBrk="0" hangingPunct="0"/>
              <a:r>
                <a:rPr lang="en-US" altLang="zh-CN" sz="2000">
                  <a:latin typeface="Times New Roman" pitchFamily="18" charset="0"/>
                  <a:ea typeface="SimSun" pitchFamily="2" charset="-122"/>
                </a:rPr>
                <a:t>item</a:t>
              </a:r>
              <a:endParaRPr lang="en-US" altLang="zh-CN">
                <a:latin typeface="Times New Roman" pitchFamily="18" charset="0"/>
                <a:ea typeface="SimSun" pitchFamily="2" charset="-122"/>
              </a:endParaRPr>
            </a:p>
          </p:txBody>
        </p:sp>
        <p:sp>
          <p:nvSpPr>
            <p:cNvPr id="23579" name="Text Box 22"/>
            <p:cNvSpPr txBox="1">
              <a:spLocks noChangeArrowheads="1"/>
            </p:cNvSpPr>
            <p:nvPr/>
          </p:nvSpPr>
          <p:spPr bwMode="auto">
            <a:xfrm>
              <a:off x="2198" y="1737"/>
              <a:ext cx="630" cy="250"/>
            </a:xfrm>
            <a:prstGeom prst="rect">
              <a:avLst/>
            </a:prstGeom>
            <a:noFill/>
            <a:ln w="9525">
              <a:noFill/>
              <a:miter lim="800000"/>
              <a:headEnd/>
              <a:tailEnd/>
            </a:ln>
          </p:spPr>
          <p:txBody>
            <a:bodyPr wrap="none">
              <a:spAutoFit/>
            </a:bodyPr>
            <a:lstStyle/>
            <a:p>
              <a:pPr eaLnBrk="0" hangingPunct="0"/>
              <a:r>
                <a:rPr lang="en-US" altLang="zh-CN" sz="2000">
                  <a:latin typeface="Times New Roman" pitchFamily="18" charset="0"/>
                  <a:ea typeface="SimSun" pitchFamily="2" charset="-122"/>
                </a:rPr>
                <a:t>location</a:t>
              </a:r>
              <a:endParaRPr lang="en-US" altLang="zh-CN">
                <a:latin typeface="Times New Roman" pitchFamily="18" charset="0"/>
                <a:ea typeface="SimSun" pitchFamily="2" charset="-122"/>
              </a:endParaRPr>
            </a:p>
          </p:txBody>
        </p:sp>
        <p:sp>
          <p:nvSpPr>
            <p:cNvPr id="23580" name="Text Box 23"/>
            <p:cNvSpPr txBox="1">
              <a:spLocks noChangeArrowheads="1"/>
            </p:cNvSpPr>
            <p:nvPr/>
          </p:nvSpPr>
          <p:spPr bwMode="auto">
            <a:xfrm>
              <a:off x="2918" y="1737"/>
              <a:ext cx="630" cy="250"/>
            </a:xfrm>
            <a:prstGeom prst="rect">
              <a:avLst/>
            </a:prstGeom>
            <a:noFill/>
            <a:ln w="9525">
              <a:noFill/>
              <a:miter lim="800000"/>
              <a:headEnd/>
              <a:tailEnd/>
            </a:ln>
          </p:spPr>
          <p:txBody>
            <a:bodyPr wrap="none">
              <a:spAutoFit/>
            </a:bodyPr>
            <a:lstStyle/>
            <a:p>
              <a:pPr eaLnBrk="0" hangingPunct="0"/>
              <a:r>
                <a:rPr lang="en-US" altLang="zh-CN" sz="2000">
                  <a:latin typeface="Times New Roman" pitchFamily="18" charset="0"/>
                  <a:ea typeface="SimSun" pitchFamily="2" charset="-122"/>
                </a:rPr>
                <a:t>supplier</a:t>
              </a:r>
              <a:endParaRPr lang="en-US" altLang="zh-CN">
                <a:latin typeface="Times New Roman" pitchFamily="18" charset="0"/>
                <a:ea typeface="SimSun" pitchFamily="2" charset="-122"/>
              </a:endParaRPr>
            </a:p>
          </p:txBody>
        </p:sp>
        <p:sp>
          <p:nvSpPr>
            <p:cNvPr id="23581" name="Line 24"/>
            <p:cNvSpPr>
              <a:spLocks noChangeShapeType="1"/>
            </p:cNvSpPr>
            <p:nvPr/>
          </p:nvSpPr>
          <p:spPr bwMode="auto">
            <a:xfrm flipH="1">
              <a:off x="864" y="1488"/>
              <a:ext cx="1056" cy="528"/>
            </a:xfrm>
            <a:prstGeom prst="line">
              <a:avLst/>
            </a:prstGeom>
            <a:noFill/>
            <a:ln w="9525">
              <a:solidFill>
                <a:schemeClr val="tx1"/>
              </a:solidFill>
              <a:round/>
              <a:headEnd/>
              <a:tailEnd/>
            </a:ln>
          </p:spPr>
          <p:txBody>
            <a:bodyPr wrap="none" anchor="ctr"/>
            <a:lstStyle/>
            <a:p>
              <a:endParaRPr lang="en-US"/>
            </a:p>
          </p:txBody>
        </p:sp>
        <p:sp>
          <p:nvSpPr>
            <p:cNvPr id="23582" name="Line 25"/>
            <p:cNvSpPr>
              <a:spLocks noChangeShapeType="1"/>
            </p:cNvSpPr>
            <p:nvPr/>
          </p:nvSpPr>
          <p:spPr bwMode="auto">
            <a:xfrm flipH="1">
              <a:off x="1632" y="1488"/>
              <a:ext cx="288" cy="528"/>
            </a:xfrm>
            <a:prstGeom prst="line">
              <a:avLst/>
            </a:prstGeom>
            <a:noFill/>
            <a:ln w="9525">
              <a:solidFill>
                <a:schemeClr val="tx1"/>
              </a:solidFill>
              <a:round/>
              <a:headEnd/>
              <a:tailEnd/>
            </a:ln>
          </p:spPr>
          <p:txBody>
            <a:bodyPr wrap="none" anchor="ctr"/>
            <a:lstStyle/>
            <a:p>
              <a:endParaRPr lang="en-US"/>
            </a:p>
          </p:txBody>
        </p:sp>
        <p:sp>
          <p:nvSpPr>
            <p:cNvPr id="23583" name="Line 26"/>
            <p:cNvSpPr>
              <a:spLocks noChangeShapeType="1"/>
            </p:cNvSpPr>
            <p:nvPr/>
          </p:nvSpPr>
          <p:spPr bwMode="auto">
            <a:xfrm>
              <a:off x="1920" y="1488"/>
              <a:ext cx="384" cy="528"/>
            </a:xfrm>
            <a:prstGeom prst="line">
              <a:avLst/>
            </a:prstGeom>
            <a:noFill/>
            <a:ln w="9525">
              <a:solidFill>
                <a:schemeClr val="tx1"/>
              </a:solidFill>
              <a:round/>
              <a:headEnd/>
              <a:tailEnd/>
            </a:ln>
          </p:spPr>
          <p:txBody>
            <a:bodyPr wrap="none" anchor="ctr"/>
            <a:lstStyle/>
            <a:p>
              <a:endParaRPr lang="en-US"/>
            </a:p>
          </p:txBody>
        </p:sp>
        <p:sp>
          <p:nvSpPr>
            <p:cNvPr id="23584" name="Line 27"/>
            <p:cNvSpPr>
              <a:spLocks noChangeShapeType="1"/>
            </p:cNvSpPr>
            <p:nvPr/>
          </p:nvSpPr>
          <p:spPr bwMode="auto">
            <a:xfrm>
              <a:off x="1920" y="1488"/>
              <a:ext cx="1056" cy="576"/>
            </a:xfrm>
            <a:prstGeom prst="line">
              <a:avLst/>
            </a:prstGeom>
            <a:noFill/>
            <a:ln w="9525">
              <a:solidFill>
                <a:schemeClr val="tx1"/>
              </a:solidFill>
              <a:round/>
              <a:headEnd/>
              <a:tailEnd/>
            </a:ln>
          </p:spPr>
          <p:txBody>
            <a:bodyPr wrap="none" anchor="ctr"/>
            <a:lstStyle/>
            <a:p>
              <a:endParaRPr lang="en-US"/>
            </a:p>
          </p:txBody>
        </p:sp>
        <p:sp>
          <p:nvSpPr>
            <p:cNvPr id="23585" name="Line 28"/>
            <p:cNvSpPr>
              <a:spLocks noChangeShapeType="1"/>
            </p:cNvSpPr>
            <p:nvPr/>
          </p:nvSpPr>
          <p:spPr bwMode="auto">
            <a:xfrm flipH="1">
              <a:off x="432" y="2016"/>
              <a:ext cx="432" cy="624"/>
            </a:xfrm>
            <a:prstGeom prst="line">
              <a:avLst/>
            </a:prstGeom>
            <a:noFill/>
            <a:ln w="9525">
              <a:solidFill>
                <a:schemeClr val="tx1"/>
              </a:solidFill>
              <a:round/>
              <a:headEnd/>
              <a:tailEnd/>
            </a:ln>
          </p:spPr>
          <p:txBody>
            <a:bodyPr wrap="none" anchor="ctr"/>
            <a:lstStyle/>
            <a:p>
              <a:endParaRPr lang="en-US"/>
            </a:p>
          </p:txBody>
        </p:sp>
        <p:sp>
          <p:nvSpPr>
            <p:cNvPr id="23586" name="Line 29"/>
            <p:cNvSpPr>
              <a:spLocks noChangeShapeType="1"/>
            </p:cNvSpPr>
            <p:nvPr/>
          </p:nvSpPr>
          <p:spPr bwMode="auto">
            <a:xfrm>
              <a:off x="864" y="2016"/>
              <a:ext cx="240" cy="624"/>
            </a:xfrm>
            <a:prstGeom prst="line">
              <a:avLst/>
            </a:prstGeom>
            <a:noFill/>
            <a:ln w="9525">
              <a:solidFill>
                <a:schemeClr val="tx1"/>
              </a:solidFill>
              <a:round/>
              <a:headEnd/>
              <a:tailEnd/>
            </a:ln>
          </p:spPr>
          <p:txBody>
            <a:bodyPr wrap="none" anchor="ctr"/>
            <a:lstStyle/>
            <a:p>
              <a:endParaRPr lang="en-US"/>
            </a:p>
          </p:txBody>
        </p:sp>
        <p:sp>
          <p:nvSpPr>
            <p:cNvPr id="23587" name="Line 30"/>
            <p:cNvSpPr>
              <a:spLocks noChangeShapeType="1"/>
            </p:cNvSpPr>
            <p:nvPr/>
          </p:nvSpPr>
          <p:spPr bwMode="auto">
            <a:xfrm>
              <a:off x="864" y="2016"/>
              <a:ext cx="912" cy="624"/>
            </a:xfrm>
            <a:prstGeom prst="line">
              <a:avLst/>
            </a:prstGeom>
            <a:noFill/>
            <a:ln w="9525">
              <a:solidFill>
                <a:schemeClr val="tx1"/>
              </a:solidFill>
              <a:round/>
              <a:headEnd/>
              <a:tailEnd/>
            </a:ln>
          </p:spPr>
          <p:txBody>
            <a:bodyPr wrap="none" anchor="ctr"/>
            <a:lstStyle/>
            <a:p>
              <a:endParaRPr lang="en-US"/>
            </a:p>
          </p:txBody>
        </p:sp>
        <p:sp>
          <p:nvSpPr>
            <p:cNvPr id="23588" name="Line 31"/>
            <p:cNvSpPr>
              <a:spLocks noChangeShapeType="1"/>
            </p:cNvSpPr>
            <p:nvPr/>
          </p:nvSpPr>
          <p:spPr bwMode="auto">
            <a:xfrm flipH="1">
              <a:off x="432" y="2016"/>
              <a:ext cx="1200" cy="624"/>
            </a:xfrm>
            <a:prstGeom prst="line">
              <a:avLst/>
            </a:prstGeom>
            <a:noFill/>
            <a:ln w="9525">
              <a:solidFill>
                <a:schemeClr val="tx1"/>
              </a:solidFill>
              <a:round/>
              <a:headEnd/>
              <a:tailEnd/>
            </a:ln>
          </p:spPr>
          <p:txBody>
            <a:bodyPr wrap="none" anchor="ctr"/>
            <a:lstStyle/>
            <a:p>
              <a:endParaRPr lang="en-US"/>
            </a:p>
          </p:txBody>
        </p:sp>
        <p:sp>
          <p:nvSpPr>
            <p:cNvPr id="23589" name="Line 32"/>
            <p:cNvSpPr>
              <a:spLocks noChangeShapeType="1"/>
            </p:cNvSpPr>
            <p:nvPr/>
          </p:nvSpPr>
          <p:spPr bwMode="auto">
            <a:xfrm>
              <a:off x="1632" y="2016"/>
              <a:ext cx="816" cy="624"/>
            </a:xfrm>
            <a:prstGeom prst="line">
              <a:avLst/>
            </a:prstGeom>
            <a:noFill/>
            <a:ln w="9525">
              <a:solidFill>
                <a:schemeClr val="tx1"/>
              </a:solidFill>
              <a:round/>
              <a:headEnd/>
              <a:tailEnd/>
            </a:ln>
          </p:spPr>
          <p:txBody>
            <a:bodyPr wrap="none" anchor="ctr"/>
            <a:lstStyle/>
            <a:p>
              <a:endParaRPr lang="en-US"/>
            </a:p>
          </p:txBody>
        </p:sp>
        <p:sp>
          <p:nvSpPr>
            <p:cNvPr id="23590" name="Line 33"/>
            <p:cNvSpPr>
              <a:spLocks noChangeShapeType="1"/>
            </p:cNvSpPr>
            <p:nvPr/>
          </p:nvSpPr>
          <p:spPr bwMode="auto">
            <a:xfrm>
              <a:off x="1632" y="2016"/>
              <a:ext cx="1392" cy="624"/>
            </a:xfrm>
            <a:prstGeom prst="line">
              <a:avLst/>
            </a:prstGeom>
            <a:noFill/>
            <a:ln w="9525">
              <a:solidFill>
                <a:schemeClr val="tx1"/>
              </a:solidFill>
              <a:round/>
              <a:headEnd/>
              <a:tailEnd/>
            </a:ln>
          </p:spPr>
          <p:txBody>
            <a:bodyPr wrap="none" anchor="ctr"/>
            <a:lstStyle/>
            <a:p>
              <a:endParaRPr lang="en-US"/>
            </a:p>
          </p:txBody>
        </p:sp>
        <p:sp>
          <p:nvSpPr>
            <p:cNvPr id="23591" name="Line 34"/>
            <p:cNvSpPr>
              <a:spLocks noChangeShapeType="1"/>
            </p:cNvSpPr>
            <p:nvPr/>
          </p:nvSpPr>
          <p:spPr bwMode="auto">
            <a:xfrm>
              <a:off x="2304" y="2016"/>
              <a:ext cx="144" cy="624"/>
            </a:xfrm>
            <a:prstGeom prst="line">
              <a:avLst/>
            </a:prstGeom>
            <a:noFill/>
            <a:ln w="9525">
              <a:solidFill>
                <a:schemeClr val="tx1"/>
              </a:solidFill>
              <a:round/>
              <a:headEnd/>
              <a:tailEnd/>
            </a:ln>
          </p:spPr>
          <p:txBody>
            <a:bodyPr wrap="none" anchor="ctr"/>
            <a:lstStyle/>
            <a:p>
              <a:endParaRPr lang="en-US"/>
            </a:p>
          </p:txBody>
        </p:sp>
        <p:sp>
          <p:nvSpPr>
            <p:cNvPr id="23592" name="Line 35"/>
            <p:cNvSpPr>
              <a:spLocks noChangeShapeType="1"/>
            </p:cNvSpPr>
            <p:nvPr/>
          </p:nvSpPr>
          <p:spPr bwMode="auto">
            <a:xfrm>
              <a:off x="2304" y="2016"/>
              <a:ext cx="1296" cy="624"/>
            </a:xfrm>
            <a:prstGeom prst="line">
              <a:avLst/>
            </a:prstGeom>
            <a:noFill/>
            <a:ln w="9525">
              <a:solidFill>
                <a:schemeClr val="tx1"/>
              </a:solidFill>
              <a:round/>
              <a:headEnd/>
              <a:tailEnd/>
            </a:ln>
          </p:spPr>
          <p:txBody>
            <a:bodyPr wrap="none" anchor="ctr"/>
            <a:lstStyle/>
            <a:p>
              <a:endParaRPr lang="en-US"/>
            </a:p>
          </p:txBody>
        </p:sp>
        <p:sp>
          <p:nvSpPr>
            <p:cNvPr id="23593" name="Line 36"/>
            <p:cNvSpPr>
              <a:spLocks noChangeShapeType="1"/>
            </p:cNvSpPr>
            <p:nvPr/>
          </p:nvSpPr>
          <p:spPr bwMode="auto">
            <a:xfrm flipH="1">
              <a:off x="1104" y="2016"/>
              <a:ext cx="1200" cy="624"/>
            </a:xfrm>
            <a:prstGeom prst="line">
              <a:avLst/>
            </a:prstGeom>
            <a:noFill/>
            <a:ln w="9525">
              <a:solidFill>
                <a:schemeClr val="tx1"/>
              </a:solidFill>
              <a:round/>
              <a:headEnd/>
              <a:tailEnd/>
            </a:ln>
          </p:spPr>
          <p:txBody>
            <a:bodyPr wrap="none" anchor="ctr"/>
            <a:lstStyle/>
            <a:p>
              <a:endParaRPr lang="en-US"/>
            </a:p>
          </p:txBody>
        </p:sp>
        <p:sp>
          <p:nvSpPr>
            <p:cNvPr id="23594" name="Line 37"/>
            <p:cNvSpPr>
              <a:spLocks noChangeShapeType="1"/>
            </p:cNvSpPr>
            <p:nvPr/>
          </p:nvSpPr>
          <p:spPr bwMode="auto">
            <a:xfrm flipH="1">
              <a:off x="1776" y="2064"/>
              <a:ext cx="1200" cy="576"/>
            </a:xfrm>
            <a:prstGeom prst="line">
              <a:avLst/>
            </a:prstGeom>
            <a:noFill/>
            <a:ln w="9525">
              <a:solidFill>
                <a:schemeClr val="tx1"/>
              </a:solidFill>
              <a:round/>
              <a:headEnd/>
              <a:tailEnd/>
            </a:ln>
          </p:spPr>
          <p:txBody>
            <a:bodyPr wrap="none" anchor="ctr"/>
            <a:lstStyle/>
            <a:p>
              <a:endParaRPr lang="en-US"/>
            </a:p>
          </p:txBody>
        </p:sp>
        <p:sp>
          <p:nvSpPr>
            <p:cNvPr id="23595" name="Line 38"/>
            <p:cNvSpPr>
              <a:spLocks noChangeShapeType="1"/>
            </p:cNvSpPr>
            <p:nvPr/>
          </p:nvSpPr>
          <p:spPr bwMode="auto">
            <a:xfrm>
              <a:off x="2976" y="2064"/>
              <a:ext cx="48" cy="576"/>
            </a:xfrm>
            <a:prstGeom prst="line">
              <a:avLst/>
            </a:prstGeom>
            <a:noFill/>
            <a:ln w="9525">
              <a:solidFill>
                <a:schemeClr val="tx1"/>
              </a:solidFill>
              <a:round/>
              <a:headEnd/>
              <a:tailEnd/>
            </a:ln>
          </p:spPr>
          <p:txBody>
            <a:bodyPr wrap="none" anchor="ctr"/>
            <a:lstStyle/>
            <a:p>
              <a:endParaRPr lang="en-US"/>
            </a:p>
          </p:txBody>
        </p:sp>
        <p:sp>
          <p:nvSpPr>
            <p:cNvPr id="23596" name="Line 39"/>
            <p:cNvSpPr>
              <a:spLocks noChangeShapeType="1"/>
            </p:cNvSpPr>
            <p:nvPr/>
          </p:nvSpPr>
          <p:spPr bwMode="auto">
            <a:xfrm>
              <a:off x="2976" y="2064"/>
              <a:ext cx="624" cy="576"/>
            </a:xfrm>
            <a:prstGeom prst="line">
              <a:avLst/>
            </a:prstGeom>
            <a:noFill/>
            <a:ln w="9525">
              <a:solidFill>
                <a:schemeClr val="tx1"/>
              </a:solidFill>
              <a:round/>
              <a:headEnd/>
              <a:tailEnd/>
            </a:ln>
          </p:spPr>
          <p:txBody>
            <a:bodyPr wrap="none" anchor="ctr"/>
            <a:lstStyle/>
            <a:p>
              <a:endParaRPr lang="en-US"/>
            </a:p>
          </p:txBody>
        </p:sp>
        <p:sp>
          <p:nvSpPr>
            <p:cNvPr id="23597" name="Line 40"/>
            <p:cNvSpPr>
              <a:spLocks noChangeShapeType="1"/>
            </p:cNvSpPr>
            <p:nvPr/>
          </p:nvSpPr>
          <p:spPr bwMode="auto">
            <a:xfrm>
              <a:off x="432" y="2640"/>
              <a:ext cx="432" cy="672"/>
            </a:xfrm>
            <a:prstGeom prst="line">
              <a:avLst/>
            </a:prstGeom>
            <a:noFill/>
            <a:ln w="9525">
              <a:solidFill>
                <a:schemeClr val="tx1"/>
              </a:solidFill>
              <a:round/>
              <a:headEnd/>
              <a:tailEnd/>
            </a:ln>
          </p:spPr>
          <p:txBody>
            <a:bodyPr wrap="none" anchor="ctr"/>
            <a:lstStyle/>
            <a:p>
              <a:endParaRPr lang="en-US"/>
            </a:p>
          </p:txBody>
        </p:sp>
        <p:sp>
          <p:nvSpPr>
            <p:cNvPr id="23598" name="Line 41"/>
            <p:cNvSpPr>
              <a:spLocks noChangeShapeType="1"/>
            </p:cNvSpPr>
            <p:nvPr/>
          </p:nvSpPr>
          <p:spPr bwMode="auto">
            <a:xfrm>
              <a:off x="432" y="2640"/>
              <a:ext cx="1056" cy="672"/>
            </a:xfrm>
            <a:prstGeom prst="line">
              <a:avLst/>
            </a:prstGeom>
            <a:noFill/>
            <a:ln w="9525">
              <a:solidFill>
                <a:schemeClr val="tx1"/>
              </a:solidFill>
              <a:round/>
              <a:headEnd/>
              <a:tailEnd/>
            </a:ln>
          </p:spPr>
          <p:txBody>
            <a:bodyPr wrap="none" anchor="ctr"/>
            <a:lstStyle/>
            <a:p>
              <a:endParaRPr lang="en-US"/>
            </a:p>
          </p:txBody>
        </p:sp>
        <p:sp>
          <p:nvSpPr>
            <p:cNvPr id="23599" name="Line 42"/>
            <p:cNvSpPr>
              <a:spLocks noChangeShapeType="1"/>
            </p:cNvSpPr>
            <p:nvPr/>
          </p:nvSpPr>
          <p:spPr bwMode="auto">
            <a:xfrm flipH="1">
              <a:off x="864" y="2640"/>
              <a:ext cx="240" cy="720"/>
            </a:xfrm>
            <a:prstGeom prst="line">
              <a:avLst/>
            </a:prstGeom>
            <a:noFill/>
            <a:ln w="9525">
              <a:solidFill>
                <a:schemeClr val="tx1"/>
              </a:solidFill>
              <a:round/>
              <a:headEnd/>
              <a:tailEnd/>
            </a:ln>
          </p:spPr>
          <p:txBody>
            <a:bodyPr wrap="none" anchor="ctr"/>
            <a:lstStyle/>
            <a:p>
              <a:endParaRPr lang="en-US"/>
            </a:p>
          </p:txBody>
        </p:sp>
        <p:sp>
          <p:nvSpPr>
            <p:cNvPr id="23600" name="Line 43"/>
            <p:cNvSpPr>
              <a:spLocks noChangeShapeType="1"/>
            </p:cNvSpPr>
            <p:nvPr/>
          </p:nvSpPr>
          <p:spPr bwMode="auto">
            <a:xfrm>
              <a:off x="1104" y="2640"/>
              <a:ext cx="1056" cy="672"/>
            </a:xfrm>
            <a:prstGeom prst="line">
              <a:avLst/>
            </a:prstGeom>
            <a:noFill/>
            <a:ln w="9525">
              <a:solidFill>
                <a:schemeClr val="tx1"/>
              </a:solidFill>
              <a:round/>
              <a:headEnd/>
              <a:tailEnd/>
            </a:ln>
          </p:spPr>
          <p:txBody>
            <a:bodyPr wrap="none" anchor="ctr"/>
            <a:lstStyle/>
            <a:p>
              <a:endParaRPr lang="en-US"/>
            </a:p>
          </p:txBody>
        </p:sp>
        <p:sp>
          <p:nvSpPr>
            <p:cNvPr id="23601" name="Line 44"/>
            <p:cNvSpPr>
              <a:spLocks noChangeShapeType="1"/>
            </p:cNvSpPr>
            <p:nvPr/>
          </p:nvSpPr>
          <p:spPr bwMode="auto">
            <a:xfrm flipH="1">
              <a:off x="1488" y="2640"/>
              <a:ext cx="288" cy="720"/>
            </a:xfrm>
            <a:prstGeom prst="line">
              <a:avLst/>
            </a:prstGeom>
            <a:noFill/>
            <a:ln w="9525">
              <a:solidFill>
                <a:schemeClr val="tx1"/>
              </a:solidFill>
              <a:round/>
              <a:headEnd/>
              <a:tailEnd/>
            </a:ln>
          </p:spPr>
          <p:txBody>
            <a:bodyPr wrap="none" anchor="ctr"/>
            <a:lstStyle/>
            <a:p>
              <a:endParaRPr lang="en-US"/>
            </a:p>
          </p:txBody>
        </p:sp>
        <p:sp>
          <p:nvSpPr>
            <p:cNvPr id="23602" name="Line 45"/>
            <p:cNvSpPr>
              <a:spLocks noChangeShapeType="1"/>
            </p:cNvSpPr>
            <p:nvPr/>
          </p:nvSpPr>
          <p:spPr bwMode="auto">
            <a:xfrm>
              <a:off x="1776" y="2640"/>
              <a:ext cx="384" cy="672"/>
            </a:xfrm>
            <a:prstGeom prst="line">
              <a:avLst/>
            </a:prstGeom>
            <a:noFill/>
            <a:ln w="9525">
              <a:solidFill>
                <a:schemeClr val="tx1"/>
              </a:solidFill>
              <a:round/>
              <a:headEnd/>
              <a:tailEnd/>
            </a:ln>
          </p:spPr>
          <p:txBody>
            <a:bodyPr wrap="none" anchor="ctr"/>
            <a:lstStyle/>
            <a:p>
              <a:endParaRPr lang="en-US"/>
            </a:p>
          </p:txBody>
        </p:sp>
        <p:sp>
          <p:nvSpPr>
            <p:cNvPr id="23603" name="Line 46"/>
            <p:cNvSpPr>
              <a:spLocks noChangeShapeType="1"/>
            </p:cNvSpPr>
            <p:nvPr/>
          </p:nvSpPr>
          <p:spPr bwMode="auto">
            <a:xfrm flipH="1">
              <a:off x="864" y="2640"/>
              <a:ext cx="1584" cy="720"/>
            </a:xfrm>
            <a:prstGeom prst="line">
              <a:avLst/>
            </a:prstGeom>
            <a:noFill/>
            <a:ln w="9525">
              <a:solidFill>
                <a:schemeClr val="tx1"/>
              </a:solidFill>
              <a:round/>
              <a:headEnd/>
              <a:tailEnd/>
            </a:ln>
          </p:spPr>
          <p:txBody>
            <a:bodyPr wrap="none" anchor="ctr"/>
            <a:lstStyle/>
            <a:p>
              <a:endParaRPr lang="en-US"/>
            </a:p>
          </p:txBody>
        </p:sp>
        <p:sp>
          <p:nvSpPr>
            <p:cNvPr id="23604" name="Line 47"/>
            <p:cNvSpPr>
              <a:spLocks noChangeShapeType="1"/>
            </p:cNvSpPr>
            <p:nvPr/>
          </p:nvSpPr>
          <p:spPr bwMode="auto">
            <a:xfrm>
              <a:off x="2448" y="2640"/>
              <a:ext cx="384" cy="672"/>
            </a:xfrm>
            <a:prstGeom prst="line">
              <a:avLst/>
            </a:prstGeom>
            <a:noFill/>
            <a:ln w="9525">
              <a:solidFill>
                <a:schemeClr val="tx1"/>
              </a:solidFill>
              <a:round/>
              <a:headEnd/>
              <a:tailEnd/>
            </a:ln>
          </p:spPr>
          <p:txBody>
            <a:bodyPr wrap="none" anchor="ctr"/>
            <a:lstStyle/>
            <a:p>
              <a:endParaRPr lang="en-US"/>
            </a:p>
          </p:txBody>
        </p:sp>
        <p:sp>
          <p:nvSpPr>
            <p:cNvPr id="23605" name="Line 48"/>
            <p:cNvSpPr>
              <a:spLocks noChangeShapeType="1"/>
            </p:cNvSpPr>
            <p:nvPr/>
          </p:nvSpPr>
          <p:spPr bwMode="auto">
            <a:xfrm flipH="1">
              <a:off x="1488" y="2640"/>
              <a:ext cx="1536" cy="672"/>
            </a:xfrm>
            <a:prstGeom prst="line">
              <a:avLst/>
            </a:prstGeom>
            <a:noFill/>
            <a:ln w="9525">
              <a:solidFill>
                <a:schemeClr val="tx1"/>
              </a:solidFill>
              <a:round/>
              <a:headEnd/>
              <a:tailEnd/>
            </a:ln>
          </p:spPr>
          <p:txBody>
            <a:bodyPr wrap="none" anchor="ctr"/>
            <a:lstStyle/>
            <a:p>
              <a:endParaRPr lang="en-US"/>
            </a:p>
          </p:txBody>
        </p:sp>
        <p:sp>
          <p:nvSpPr>
            <p:cNvPr id="23606" name="Line 49"/>
            <p:cNvSpPr>
              <a:spLocks noChangeShapeType="1"/>
            </p:cNvSpPr>
            <p:nvPr/>
          </p:nvSpPr>
          <p:spPr bwMode="auto">
            <a:xfrm flipH="1">
              <a:off x="2832" y="2640"/>
              <a:ext cx="192" cy="720"/>
            </a:xfrm>
            <a:prstGeom prst="line">
              <a:avLst/>
            </a:prstGeom>
            <a:noFill/>
            <a:ln w="9525">
              <a:solidFill>
                <a:schemeClr val="tx1"/>
              </a:solidFill>
              <a:round/>
              <a:headEnd/>
              <a:tailEnd/>
            </a:ln>
          </p:spPr>
          <p:txBody>
            <a:bodyPr wrap="none" anchor="ctr"/>
            <a:lstStyle/>
            <a:p>
              <a:endParaRPr lang="en-US"/>
            </a:p>
          </p:txBody>
        </p:sp>
        <p:sp>
          <p:nvSpPr>
            <p:cNvPr id="23607" name="Line 50"/>
            <p:cNvSpPr>
              <a:spLocks noChangeShapeType="1"/>
            </p:cNvSpPr>
            <p:nvPr/>
          </p:nvSpPr>
          <p:spPr bwMode="auto">
            <a:xfrm flipH="1">
              <a:off x="2832" y="2640"/>
              <a:ext cx="768" cy="720"/>
            </a:xfrm>
            <a:prstGeom prst="line">
              <a:avLst/>
            </a:prstGeom>
            <a:noFill/>
            <a:ln w="9525">
              <a:solidFill>
                <a:schemeClr val="tx1"/>
              </a:solidFill>
              <a:round/>
              <a:headEnd/>
              <a:tailEnd/>
            </a:ln>
          </p:spPr>
          <p:txBody>
            <a:bodyPr wrap="none" anchor="ctr"/>
            <a:lstStyle/>
            <a:p>
              <a:endParaRPr lang="en-US"/>
            </a:p>
          </p:txBody>
        </p:sp>
        <p:sp>
          <p:nvSpPr>
            <p:cNvPr id="23608" name="Line 51"/>
            <p:cNvSpPr>
              <a:spLocks noChangeShapeType="1"/>
            </p:cNvSpPr>
            <p:nvPr/>
          </p:nvSpPr>
          <p:spPr bwMode="auto">
            <a:xfrm flipH="1">
              <a:off x="2160" y="2640"/>
              <a:ext cx="1440" cy="672"/>
            </a:xfrm>
            <a:prstGeom prst="line">
              <a:avLst/>
            </a:prstGeom>
            <a:noFill/>
            <a:ln w="9525">
              <a:solidFill>
                <a:schemeClr val="tx1"/>
              </a:solidFill>
              <a:round/>
              <a:headEnd/>
              <a:tailEnd/>
            </a:ln>
          </p:spPr>
          <p:txBody>
            <a:bodyPr wrap="none" anchor="ctr"/>
            <a:lstStyle/>
            <a:p>
              <a:endParaRPr lang="en-US"/>
            </a:p>
          </p:txBody>
        </p:sp>
        <p:sp>
          <p:nvSpPr>
            <p:cNvPr id="23609" name="Line 52"/>
            <p:cNvSpPr>
              <a:spLocks noChangeShapeType="1"/>
            </p:cNvSpPr>
            <p:nvPr/>
          </p:nvSpPr>
          <p:spPr bwMode="auto">
            <a:xfrm>
              <a:off x="864" y="3360"/>
              <a:ext cx="1104" cy="576"/>
            </a:xfrm>
            <a:prstGeom prst="line">
              <a:avLst/>
            </a:prstGeom>
            <a:noFill/>
            <a:ln w="9525">
              <a:solidFill>
                <a:schemeClr val="tx1"/>
              </a:solidFill>
              <a:round/>
              <a:headEnd/>
              <a:tailEnd/>
            </a:ln>
          </p:spPr>
          <p:txBody>
            <a:bodyPr wrap="none" anchor="ctr"/>
            <a:lstStyle/>
            <a:p>
              <a:endParaRPr lang="en-US"/>
            </a:p>
          </p:txBody>
        </p:sp>
        <p:sp>
          <p:nvSpPr>
            <p:cNvPr id="23610" name="Line 53"/>
            <p:cNvSpPr>
              <a:spLocks noChangeShapeType="1"/>
            </p:cNvSpPr>
            <p:nvPr/>
          </p:nvSpPr>
          <p:spPr bwMode="auto">
            <a:xfrm>
              <a:off x="1488" y="3312"/>
              <a:ext cx="528" cy="672"/>
            </a:xfrm>
            <a:prstGeom prst="line">
              <a:avLst/>
            </a:prstGeom>
            <a:noFill/>
            <a:ln w="9525">
              <a:solidFill>
                <a:schemeClr val="tx1"/>
              </a:solidFill>
              <a:round/>
              <a:headEnd/>
              <a:tailEnd/>
            </a:ln>
          </p:spPr>
          <p:txBody>
            <a:bodyPr wrap="none" anchor="ctr"/>
            <a:lstStyle/>
            <a:p>
              <a:endParaRPr lang="en-US"/>
            </a:p>
          </p:txBody>
        </p:sp>
        <p:sp>
          <p:nvSpPr>
            <p:cNvPr id="23611" name="Line 54"/>
            <p:cNvSpPr>
              <a:spLocks noChangeShapeType="1"/>
            </p:cNvSpPr>
            <p:nvPr/>
          </p:nvSpPr>
          <p:spPr bwMode="auto">
            <a:xfrm flipH="1">
              <a:off x="2016" y="3312"/>
              <a:ext cx="144" cy="624"/>
            </a:xfrm>
            <a:prstGeom prst="line">
              <a:avLst/>
            </a:prstGeom>
            <a:noFill/>
            <a:ln w="9525">
              <a:solidFill>
                <a:schemeClr val="tx1"/>
              </a:solidFill>
              <a:round/>
              <a:headEnd/>
              <a:tailEnd/>
            </a:ln>
          </p:spPr>
          <p:txBody>
            <a:bodyPr wrap="none" anchor="ctr"/>
            <a:lstStyle/>
            <a:p>
              <a:endParaRPr lang="en-US"/>
            </a:p>
          </p:txBody>
        </p:sp>
        <p:sp>
          <p:nvSpPr>
            <p:cNvPr id="23612" name="Line 55"/>
            <p:cNvSpPr>
              <a:spLocks noChangeShapeType="1"/>
            </p:cNvSpPr>
            <p:nvPr/>
          </p:nvSpPr>
          <p:spPr bwMode="auto">
            <a:xfrm flipH="1">
              <a:off x="1968" y="3360"/>
              <a:ext cx="864" cy="624"/>
            </a:xfrm>
            <a:prstGeom prst="line">
              <a:avLst/>
            </a:prstGeom>
            <a:noFill/>
            <a:ln w="9525">
              <a:solidFill>
                <a:schemeClr val="tx1"/>
              </a:solidFill>
              <a:round/>
              <a:headEnd/>
              <a:tailEnd/>
            </a:ln>
          </p:spPr>
          <p:txBody>
            <a:bodyPr wrap="none" anchor="ctr"/>
            <a:lstStyle/>
            <a:p>
              <a:endParaRPr lang="en-US"/>
            </a:p>
          </p:txBody>
        </p:sp>
        <p:sp>
          <p:nvSpPr>
            <p:cNvPr id="23613" name="Text Box 57"/>
            <p:cNvSpPr txBox="1">
              <a:spLocks noChangeArrowheads="1"/>
            </p:cNvSpPr>
            <p:nvPr/>
          </p:nvSpPr>
          <p:spPr bwMode="auto">
            <a:xfrm>
              <a:off x="806" y="2343"/>
              <a:ext cx="826" cy="212"/>
            </a:xfrm>
            <a:prstGeom prst="rect">
              <a:avLst/>
            </a:prstGeom>
            <a:noFill/>
            <a:ln w="9525">
              <a:noFill/>
              <a:miter lim="800000"/>
              <a:headEnd/>
              <a:tailEnd/>
            </a:ln>
          </p:spPr>
          <p:txBody>
            <a:bodyPr wrap="none">
              <a:spAutoFit/>
            </a:bodyPr>
            <a:lstStyle/>
            <a:p>
              <a:pPr eaLnBrk="0" hangingPunct="0"/>
              <a:r>
                <a:rPr lang="en-US" altLang="zh-CN" sz="1600" b="1">
                  <a:latin typeface="Times New Roman" pitchFamily="18" charset="0"/>
                  <a:ea typeface="SimSun" pitchFamily="2" charset="-122"/>
                </a:rPr>
                <a:t>time,location</a:t>
              </a:r>
              <a:endParaRPr lang="en-US" altLang="zh-CN">
                <a:latin typeface="Times New Roman" pitchFamily="18" charset="0"/>
                <a:ea typeface="SimSun" pitchFamily="2" charset="-122"/>
              </a:endParaRPr>
            </a:p>
          </p:txBody>
        </p:sp>
        <p:sp>
          <p:nvSpPr>
            <p:cNvPr id="23614" name="Text Box 58"/>
            <p:cNvSpPr txBox="1">
              <a:spLocks noChangeArrowheads="1"/>
            </p:cNvSpPr>
            <p:nvPr/>
          </p:nvSpPr>
          <p:spPr bwMode="auto">
            <a:xfrm>
              <a:off x="1430" y="2679"/>
              <a:ext cx="840" cy="212"/>
            </a:xfrm>
            <a:prstGeom prst="rect">
              <a:avLst/>
            </a:prstGeom>
            <a:noFill/>
            <a:ln w="9525">
              <a:noFill/>
              <a:miter lim="800000"/>
              <a:headEnd/>
              <a:tailEnd/>
            </a:ln>
          </p:spPr>
          <p:txBody>
            <a:bodyPr wrap="none">
              <a:spAutoFit/>
            </a:bodyPr>
            <a:lstStyle/>
            <a:p>
              <a:pPr eaLnBrk="0" hangingPunct="0"/>
              <a:r>
                <a:rPr lang="en-US" altLang="zh-CN" sz="1600" b="1">
                  <a:latin typeface="Times New Roman" pitchFamily="18" charset="0"/>
                  <a:ea typeface="SimSun" pitchFamily="2" charset="-122"/>
                </a:rPr>
                <a:t>time,supplier</a:t>
              </a:r>
              <a:endParaRPr lang="en-US" altLang="zh-CN">
                <a:latin typeface="Times New Roman" pitchFamily="18" charset="0"/>
                <a:ea typeface="SimSun" pitchFamily="2" charset="-122"/>
              </a:endParaRPr>
            </a:p>
          </p:txBody>
        </p:sp>
        <p:sp>
          <p:nvSpPr>
            <p:cNvPr id="23615" name="Text Box 59"/>
            <p:cNvSpPr txBox="1">
              <a:spLocks noChangeArrowheads="1"/>
            </p:cNvSpPr>
            <p:nvPr/>
          </p:nvSpPr>
          <p:spPr bwMode="auto">
            <a:xfrm>
              <a:off x="2102" y="2343"/>
              <a:ext cx="826" cy="212"/>
            </a:xfrm>
            <a:prstGeom prst="rect">
              <a:avLst/>
            </a:prstGeom>
            <a:noFill/>
            <a:ln w="9525">
              <a:noFill/>
              <a:miter lim="800000"/>
              <a:headEnd/>
              <a:tailEnd/>
            </a:ln>
          </p:spPr>
          <p:txBody>
            <a:bodyPr wrap="none">
              <a:spAutoFit/>
            </a:bodyPr>
            <a:lstStyle/>
            <a:p>
              <a:pPr eaLnBrk="0" hangingPunct="0"/>
              <a:r>
                <a:rPr lang="en-US" altLang="zh-CN" sz="1600" b="1">
                  <a:latin typeface="Times New Roman" pitchFamily="18" charset="0"/>
                  <a:ea typeface="SimSun" pitchFamily="2" charset="-122"/>
                </a:rPr>
                <a:t>item,location</a:t>
              </a:r>
              <a:endParaRPr lang="en-US" altLang="zh-CN">
                <a:latin typeface="Times New Roman" pitchFamily="18" charset="0"/>
                <a:ea typeface="SimSun" pitchFamily="2" charset="-122"/>
              </a:endParaRPr>
            </a:p>
          </p:txBody>
        </p:sp>
        <p:sp>
          <p:nvSpPr>
            <p:cNvPr id="23616" name="Text Box 60"/>
            <p:cNvSpPr txBox="1">
              <a:spLocks noChangeArrowheads="1"/>
            </p:cNvSpPr>
            <p:nvPr/>
          </p:nvSpPr>
          <p:spPr bwMode="auto">
            <a:xfrm>
              <a:off x="2678" y="2727"/>
              <a:ext cx="840" cy="212"/>
            </a:xfrm>
            <a:prstGeom prst="rect">
              <a:avLst/>
            </a:prstGeom>
            <a:noFill/>
            <a:ln w="9525">
              <a:noFill/>
              <a:miter lim="800000"/>
              <a:headEnd/>
              <a:tailEnd/>
            </a:ln>
          </p:spPr>
          <p:txBody>
            <a:bodyPr wrap="none">
              <a:spAutoFit/>
            </a:bodyPr>
            <a:lstStyle/>
            <a:p>
              <a:pPr eaLnBrk="0" hangingPunct="0"/>
              <a:r>
                <a:rPr lang="en-US" altLang="zh-CN" sz="1600" b="1">
                  <a:latin typeface="Times New Roman" pitchFamily="18" charset="0"/>
                  <a:ea typeface="SimSun" pitchFamily="2" charset="-122"/>
                </a:rPr>
                <a:t>item,supplier</a:t>
              </a:r>
              <a:endParaRPr lang="en-US" altLang="zh-CN">
                <a:latin typeface="Times New Roman" pitchFamily="18" charset="0"/>
                <a:ea typeface="SimSun" pitchFamily="2" charset="-122"/>
              </a:endParaRPr>
            </a:p>
          </p:txBody>
        </p:sp>
        <p:sp>
          <p:nvSpPr>
            <p:cNvPr id="23617" name="Text Box 61"/>
            <p:cNvSpPr txBox="1">
              <a:spLocks noChangeArrowheads="1"/>
            </p:cNvSpPr>
            <p:nvPr/>
          </p:nvSpPr>
          <p:spPr bwMode="auto">
            <a:xfrm>
              <a:off x="3398" y="2343"/>
              <a:ext cx="1032" cy="212"/>
            </a:xfrm>
            <a:prstGeom prst="rect">
              <a:avLst/>
            </a:prstGeom>
            <a:noFill/>
            <a:ln w="9525">
              <a:noFill/>
              <a:miter lim="800000"/>
              <a:headEnd/>
              <a:tailEnd/>
            </a:ln>
          </p:spPr>
          <p:txBody>
            <a:bodyPr wrap="none">
              <a:spAutoFit/>
            </a:bodyPr>
            <a:lstStyle/>
            <a:p>
              <a:pPr eaLnBrk="0" hangingPunct="0"/>
              <a:r>
                <a:rPr lang="en-US" altLang="zh-CN" sz="1600" b="1">
                  <a:latin typeface="Times New Roman" pitchFamily="18" charset="0"/>
                  <a:ea typeface="SimSun" pitchFamily="2" charset="-122"/>
                </a:rPr>
                <a:t>location,supplier</a:t>
              </a:r>
              <a:endParaRPr lang="en-US" altLang="zh-CN">
                <a:latin typeface="Times New Roman" pitchFamily="18" charset="0"/>
                <a:ea typeface="SimSun" pitchFamily="2" charset="-122"/>
              </a:endParaRPr>
            </a:p>
          </p:txBody>
        </p:sp>
        <p:sp>
          <p:nvSpPr>
            <p:cNvPr id="23618" name="Text Box 63"/>
            <p:cNvSpPr txBox="1">
              <a:spLocks noChangeArrowheads="1"/>
            </p:cNvSpPr>
            <p:nvPr/>
          </p:nvSpPr>
          <p:spPr bwMode="auto">
            <a:xfrm>
              <a:off x="1046" y="3463"/>
              <a:ext cx="986" cy="192"/>
            </a:xfrm>
            <a:prstGeom prst="rect">
              <a:avLst/>
            </a:prstGeom>
            <a:noFill/>
            <a:ln w="9525">
              <a:noFill/>
              <a:miter lim="800000"/>
              <a:headEnd/>
              <a:tailEnd/>
            </a:ln>
          </p:spPr>
          <p:txBody>
            <a:bodyPr wrap="none">
              <a:spAutoFit/>
            </a:bodyPr>
            <a:lstStyle/>
            <a:p>
              <a:pPr eaLnBrk="0" hangingPunct="0"/>
              <a:r>
                <a:rPr lang="en-US" altLang="zh-CN" sz="1400" b="1">
                  <a:latin typeface="Times New Roman" pitchFamily="18" charset="0"/>
                  <a:ea typeface="SimSun" pitchFamily="2" charset="-122"/>
                </a:rPr>
                <a:t>time,item,supplier</a:t>
              </a:r>
              <a:endParaRPr lang="en-US" altLang="zh-CN">
                <a:latin typeface="Times New Roman" pitchFamily="18" charset="0"/>
                <a:ea typeface="SimSun" pitchFamily="2" charset="-122"/>
              </a:endParaRPr>
            </a:p>
          </p:txBody>
        </p:sp>
        <p:sp>
          <p:nvSpPr>
            <p:cNvPr id="23619" name="Text Box 64"/>
            <p:cNvSpPr txBox="1">
              <a:spLocks noChangeArrowheads="1"/>
            </p:cNvSpPr>
            <p:nvPr/>
          </p:nvSpPr>
          <p:spPr bwMode="auto">
            <a:xfrm>
              <a:off x="1728" y="3024"/>
              <a:ext cx="1154" cy="192"/>
            </a:xfrm>
            <a:prstGeom prst="rect">
              <a:avLst/>
            </a:prstGeom>
            <a:noFill/>
            <a:ln w="9525">
              <a:noFill/>
              <a:miter lim="800000"/>
              <a:headEnd/>
              <a:tailEnd/>
            </a:ln>
          </p:spPr>
          <p:txBody>
            <a:bodyPr wrap="none">
              <a:spAutoFit/>
            </a:bodyPr>
            <a:lstStyle/>
            <a:p>
              <a:pPr eaLnBrk="0" hangingPunct="0"/>
              <a:r>
                <a:rPr lang="en-US" altLang="zh-CN" sz="1400" b="1">
                  <a:latin typeface="Times New Roman" pitchFamily="18" charset="0"/>
                  <a:ea typeface="SimSun" pitchFamily="2" charset="-122"/>
                </a:rPr>
                <a:t>time,location,supplier</a:t>
              </a:r>
              <a:endParaRPr lang="en-US" altLang="zh-CN">
                <a:latin typeface="Times New Roman" pitchFamily="18" charset="0"/>
                <a:ea typeface="SimSun" pitchFamily="2" charset="-122"/>
              </a:endParaRPr>
            </a:p>
          </p:txBody>
        </p:sp>
        <p:sp>
          <p:nvSpPr>
            <p:cNvPr id="23620" name="Text Box 66"/>
            <p:cNvSpPr txBox="1">
              <a:spLocks noChangeArrowheads="1"/>
            </p:cNvSpPr>
            <p:nvPr/>
          </p:nvSpPr>
          <p:spPr bwMode="auto">
            <a:xfrm>
              <a:off x="2486" y="3447"/>
              <a:ext cx="1307" cy="212"/>
            </a:xfrm>
            <a:prstGeom prst="rect">
              <a:avLst/>
            </a:prstGeom>
            <a:noFill/>
            <a:ln w="9525">
              <a:noFill/>
              <a:miter lim="800000"/>
              <a:headEnd/>
              <a:tailEnd/>
            </a:ln>
          </p:spPr>
          <p:txBody>
            <a:bodyPr wrap="none">
              <a:spAutoFit/>
            </a:bodyPr>
            <a:lstStyle/>
            <a:p>
              <a:pPr eaLnBrk="0" hangingPunct="0"/>
              <a:r>
                <a:rPr lang="en-US" altLang="zh-CN" sz="1600" b="1">
                  <a:latin typeface="Times New Roman" pitchFamily="18" charset="0"/>
                  <a:ea typeface="SimSun" pitchFamily="2" charset="-122"/>
                </a:rPr>
                <a:t>item,location,supplier</a:t>
              </a:r>
              <a:endParaRPr lang="en-US" altLang="zh-CN">
                <a:latin typeface="Times New Roman" pitchFamily="18" charset="0"/>
                <a:ea typeface="SimSun" pitchFamily="2" charset="-122"/>
              </a:endParaRPr>
            </a:p>
          </p:txBody>
        </p:sp>
        <p:sp>
          <p:nvSpPr>
            <p:cNvPr id="23621" name="Text Box 68"/>
            <p:cNvSpPr txBox="1">
              <a:spLocks noChangeArrowheads="1"/>
            </p:cNvSpPr>
            <p:nvPr/>
          </p:nvSpPr>
          <p:spPr bwMode="auto">
            <a:xfrm>
              <a:off x="4320" y="1296"/>
              <a:ext cx="1288" cy="250"/>
            </a:xfrm>
            <a:prstGeom prst="rect">
              <a:avLst/>
            </a:prstGeom>
            <a:noFill/>
            <a:ln w="9525">
              <a:noFill/>
              <a:miter lim="800000"/>
              <a:headEnd/>
              <a:tailEnd/>
            </a:ln>
          </p:spPr>
          <p:txBody>
            <a:bodyPr wrap="none">
              <a:spAutoFit/>
            </a:bodyPr>
            <a:lstStyle/>
            <a:p>
              <a:pPr eaLnBrk="0" hangingPunct="0"/>
              <a:r>
                <a:rPr lang="zh-CN" altLang="en-US" sz="2000">
                  <a:latin typeface="Times New Roman" pitchFamily="18" charset="0"/>
                  <a:ea typeface="SimSun" pitchFamily="2" charset="-122"/>
                </a:rPr>
                <a:t>0-</a:t>
              </a:r>
              <a:r>
                <a:rPr lang="en-US" altLang="zh-CN" sz="2000">
                  <a:latin typeface="Times New Roman" pitchFamily="18" charset="0"/>
                  <a:ea typeface="SimSun" pitchFamily="2" charset="-122"/>
                </a:rPr>
                <a:t>D (</a:t>
              </a:r>
              <a:r>
                <a:rPr lang="en-US" altLang="zh-CN" sz="2000" i="1">
                  <a:latin typeface="Times New Roman" pitchFamily="18" charset="0"/>
                  <a:ea typeface="SimSun" pitchFamily="2" charset="-122"/>
                </a:rPr>
                <a:t>apex</a:t>
              </a:r>
              <a:r>
                <a:rPr lang="en-US" altLang="zh-CN" sz="2000">
                  <a:latin typeface="Times New Roman" pitchFamily="18" charset="0"/>
                  <a:ea typeface="SimSun" pitchFamily="2" charset="-122"/>
                </a:rPr>
                <a:t>) cuboid</a:t>
              </a:r>
              <a:endParaRPr lang="en-US" altLang="zh-CN">
                <a:latin typeface="Times New Roman" pitchFamily="18" charset="0"/>
                <a:ea typeface="SimSun" pitchFamily="2" charset="-122"/>
              </a:endParaRPr>
            </a:p>
          </p:txBody>
        </p:sp>
        <p:sp>
          <p:nvSpPr>
            <p:cNvPr id="23622" name="Text Box 69"/>
            <p:cNvSpPr txBox="1">
              <a:spLocks noChangeArrowheads="1"/>
            </p:cNvSpPr>
            <p:nvPr/>
          </p:nvSpPr>
          <p:spPr bwMode="auto">
            <a:xfrm>
              <a:off x="4310" y="1881"/>
              <a:ext cx="902" cy="250"/>
            </a:xfrm>
            <a:prstGeom prst="rect">
              <a:avLst/>
            </a:prstGeom>
            <a:noFill/>
            <a:ln w="9525">
              <a:noFill/>
              <a:miter lim="800000"/>
              <a:headEnd/>
              <a:tailEnd/>
            </a:ln>
          </p:spPr>
          <p:txBody>
            <a:bodyPr wrap="none">
              <a:spAutoFit/>
            </a:bodyPr>
            <a:lstStyle/>
            <a:p>
              <a:pPr eaLnBrk="0" hangingPunct="0"/>
              <a:r>
                <a:rPr lang="zh-CN" altLang="en-US" sz="2000">
                  <a:latin typeface="Times New Roman" pitchFamily="18" charset="0"/>
                  <a:ea typeface="SimSun" pitchFamily="2" charset="-122"/>
                </a:rPr>
                <a:t>1-</a:t>
              </a:r>
              <a:r>
                <a:rPr lang="en-US" altLang="zh-CN" sz="2000">
                  <a:latin typeface="Times New Roman" pitchFamily="18" charset="0"/>
                  <a:ea typeface="SimSun" pitchFamily="2" charset="-122"/>
                </a:rPr>
                <a:t>D cuboids</a:t>
              </a:r>
              <a:endParaRPr lang="en-US" altLang="zh-CN">
                <a:latin typeface="Times New Roman" pitchFamily="18" charset="0"/>
                <a:ea typeface="SimSun" pitchFamily="2" charset="-122"/>
              </a:endParaRPr>
            </a:p>
          </p:txBody>
        </p:sp>
        <p:sp>
          <p:nvSpPr>
            <p:cNvPr id="23623" name="Text Box 70"/>
            <p:cNvSpPr txBox="1">
              <a:spLocks noChangeArrowheads="1"/>
            </p:cNvSpPr>
            <p:nvPr/>
          </p:nvSpPr>
          <p:spPr bwMode="auto">
            <a:xfrm>
              <a:off x="4310" y="2553"/>
              <a:ext cx="902" cy="250"/>
            </a:xfrm>
            <a:prstGeom prst="rect">
              <a:avLst/>
            </a:prstGeom>
            <a:noFill/>
            <a:ln w="9525">
              <a:noFill/>
              <a:miter lim="800000"/>
              <a:headEnd/>
              <a:tailEnd/>
            </a:ln>
          </p:spPr>
          <p:txBody>
            <a:bodyPr wrap="none">
              <a:spAutoFit/>
            </a:bodyPr>
            <a:lstStyle/>
            <a:p>
              <a:pPr eaLnBrk="0" hangingPunct="0"/>
              <a:r>
                <a:rPr lang="zh-CN" altLang="en-US" sz="2000">
                  <a:latin typeface="Times New Roman" pitchFamily="18" charset="0"/>
                  <a:ea typeface="SimSun" pitchFamily="2" charset="-122"/>
                </a:rPr>
                <a:t>2-</a:t>
              </a:r>
              <a:r>
                <a:rPr lang="en-US" altLang="zh-CN" sz="2000">
                  <a:latin typeface="Times New Roman" pitchFamily="18" charset="0"/>
                  <a:ea typeface="SimSun" pitchFamily="2" charset="-122"/>
                </a:rPr>
                <a:t>D cuboids</a:t>
              </a:r>
              <a:endParaRPr lang="en-US" altLang="zh-CN">
                <a:latin typeface="Times New Roman" pitchFamily="18" charset="0"/>
                <a:ea typeface="SimSun" pitchFamily="2" charset="-122"/>
              </a:endParaRPr>
            </a:p>
          </p:txBody>
        </p:sp>
        <p:sp>
          <p:nvSpPr>
            <p:cNvPr id="23624" name="Text Box 71"/>
            <p:cNvSpPr txBox="1">
              <a:spLocks noChangeArrowheads="1"/>
            </p:cNvSpPr>
            <p:nvPr/>
          </p:nvSpPr>
          <p:spPr bwMode="auto">
            <a:xfrm>
              <a:off x="4310" y="3129"/>
              <a:ext cx="902" cy="250"/>
            </a:xfrm>
            <a:prstGeom prst="rect">
              <a:avLst/>
            </a:prstGeom>
            <a:noFill/>
            <a:ln w="9525">
              <a:noFill/>
              <a:miter lim="800000"/>
              <a:headEnd/>
              <a:tailEnd/>
            </a:ln>
          </p:spPr>
          <p:txBody>
            <a:bodyPr wrap="none">
              <a:spAutoFit/>
            </a:bodyPr>
            <a:lstStyle/>
            <a:p>
              <a:pPr eaLnBrk="0" hangingPunct="0"/>
              <a:r>
                <a:rPr lang="zh-CN" altLang="en-US" sz="2000">
                  <a:latin typeface="Times New Roman" pitchFamily="18" charset="0"/>
                  <a:ea typeface="SimSun" pitchFamily="2" charset="-122"/>
                </a:rPr>
                <a:t>3-</a:t>
              </a:r>
              <a:r>
                <a:rPr lang="en-US" altLang="zh-CN" sz="2000">
                  <a:latin typeface="Times New Roman" pitchFamily="18" charset="0"/>
                  <a:ea typeface="SimSun" pitchFamily="2" charset="-122"/>
                </a:rPr>
                <a:t>D cuboids</a:t>
              </a:r>
              <a:endParaRPr lang="en-US" altLang="zh-CN">
                <a:latin typeface="Times New Roman" pitchFamily="18" charset="0"/>
                <a:ea typeface="SimSun" pitchFamily="2" charset="-122"/>
              </a:endParaRPr>
            </a:p>
          </p:txBody>
        </p:sp>
        <p:sp>
          <p:nvSpPr>
            <p:cNvPr id="23625" name="Text Box 72"/>
            <p:cNvSpPr txBox="1">
              <a:spLocks noChangeArrowheads="1"/>
            </p:cNvSpPr>
            <p:nvPr/>
          </p:nvSpPr>
          <p:spPr bwMode="auto">
            <a:xfrm>
              <a:off x="4358" y="3705"/>
              <a:ext cx="1279" cy="250"/>
            </a:xfrm>
            <a:prstGeom prst="rect">
              <a:avLst/>
            </a:prstGeom>
            <a:noFill/>
            <a:ln w="9525">
              <a:noFill/>
              <a:miter lim="800000"/>
              <a:headEnd/>
              <a:tailEnd/>
            </a:ln>
          </p:spPr>
          <p:txBody>
            <a:bodyPr wrap="none">
              <a:spAutoFit/>
            </a:bodyPr>
            <a:lstStyle/>
            <a:p>
              <a:pPr eaLnBrk="0" hangingPunct="0"/>
              <a:r>
                <a:rPr lang="zh-CN" altLang="en-US" sz="2000">
                  <a:latin typeface="Times New Roman" pitchFamily="18" charset="0"/>
                  <a:ea typeface="SimSun" pitchFamily="2" charset="-122"/>
                </a:rPr>
                <a:t>4-</a:t>
              </a:r>
              <a:r>
                <a:rPr lang="en-US" altLang="zh-CN" sz="2000">
                  <a:latin typeface="Times New Roman" pitchFamily="18" charset="0"/>
                  <a:ea typeface="SimSun" pitchFamily="2" charset="-122"/>
                </a:rPr>
                <a:t>D (</a:t>
              </a:r>
              <a:r>
                <a:rPr lang="en-US" altLang="zh-CN" sz="2000" i="1">
                  <a:latin typeface="Times New Roman" pitchFamily="18" charset="0"/>
                  <a:ea typeface="SimSun" pitchFamily="2" charset="-122"/>
                </a:rPr>
                <a:t>base</a:t>
              </a:r>
              <a:r>
                <a:rPr lang="en-US" altLang="zh-CN" sz="2000">
                  <a:latin typeface="Times New Roman" pitchFamily="18" charset="0"/>
                  <a:ea typeface="SimSun" pitchFamily="2" charset="-122"/>
                </a:rPr>
                <a:t>) cuboid</a:t>
              </a:r>
              <a:endParaRPr lang="en-US" altLang="zh-CN">
                <a:latin typeface="Times New Roman" pitchFamily="18" charset="0"/>
                <a:ea typeface="SimSun" pitchFamily="2" charset="-122"/>
              </a:endParaRPr>
            </a:p>
          </p:txBody>
        </p:sp>
      </p:gr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 </a:t>
            </a:r>
            <a:r>
              <a:rPr lang="en-US" dirty="0" smtClean="0">
                <a:solidFill>
                  <a:srgbClr val="0070C0"/>
                </a:solidFill>
                <a:latin typeface="Bernard MT Condensed" pitchFamily="18" charset="0"/>
              </a:rPr>
              <a:t>Multiples of Byte</a:t>
            </a:r>
          </a:p>
        </p:txBody>
      </p:sp>
      <p:pic>
        <p:nvPicPr>
          <p:cNvPr id="4" name="Content Placeholder 3" descr="bytekilobye-petabyte-more-medium.jpg"/>
          <p:cNvPicPr>
            <a:picLocks noGrp="1" noChangeAspect="1"/>
          </p:cNvPicPr>
          <p:nvPr>
            <p:ph sz="quarter" idx="1"/>
          </p:nvPr>
        </p:nvPicPr>
        <p:blipFill>
          <a:blip r:embed="rId2" cstate="print"/>
          <a:stretch>
            <a:fillRect/>
          </a:stretch>
        </p:blipFill>
        <p:spPr>
          <a:xfrm>
            <a:off x="685800" y="1524000"/>
            <a:ext cx="8077200" cy="4572000"/>
          </a:xfr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900" dirty="0" smtClean="0">
                <a:solidFill>
                  <a:srgbClr val="0070C0"/>
                </a:solidFill>
                <a:latin typeface="Bernard MT Condensed" pitchFamily="18" charset="0"/>
              </a:rPr>
              <a:t/>
            </a:r>
            <a:br>
              <a:rPr lang="en-US" sz="4900" dirty="0" smtClean="0">
                <a:solidFill>
                  <a:srgbClr val="0070C0"/>
                </a:solidFill>
                <a:latin typeface="Bernard MT Condensed" pitchFamily="18" charset="0"/>
              </a:rPr>
            </a:br>
            <a:r>
              <a:rPr lang="en-US" sz="4900" dirty="0" smtClean="0">
                <a:solidFill>
                  <a:srgbClr val="0070C0"/>
                </a:solidFill>
                <a:latin typeface="Bernard MT Condensed" pitchFamily="18" charset="0"/>
              </a:rPr>
              <a:t>OLAP Operations</a:t>
            </a:r>
            <a:r>
              <a:rPr lang="en-US" dirty="0" smtClean="0">
                <a:solidFill>
                  <a:srgbClr val="C00000"/>
                </a:solidFill>
              </a:rPr>
              <a:t/>
            </a:r>
            <a:br>
              <a:rPr lang="en-US" dirty="0" smtClean="0">
                <a:solidFill>
                  <a:srgbClr val="C00000"/>
                </a:solidFill>
              </a:rPr>
            </a:br>
            <a:endParaRPr lang="en-US" dirty="0"/>
          </a:p>
        </p:txBody>
      </p:sp>
      <p:sp>
        <p:nvSpPr>
          <p:cNvPr id="3" name="Content Placeholder 2"/>
          <p:cNvSpPr>
            <a:spLocks noGrp="1"/>
          </p:cNvSpPr>
          <p:nvPr>
            <p:ph sz="quarter" idx="1"/>
          </p:nvPr>
        </p:nvSpPr>
        <p:spPr>
          <a:xfrm>
            <a:off x="0" y="1524000"/>
            <a:ext cx="9144000" cy="5105400"/>
          </a:xfrm>
        </p:spPr>
        <p:txBody>
          <a:bodyPr>
            <a:normAutofit/>
          </a:bodyPr>
          <a:lstStyle/>
          <a:p>
            <a:r>
              <a:rPr lang="en-US" sz="2000" dirty="0" smtClean="0">
                <a:solidFill>
                  <a:srgbClr val="C00000"/>
                </a:solidFill>
              </a:rPr>
              <a:t>Roll up (drill-up): </a:t>
            </a:r>
            <a:r>
              <a:rPr lang="en-US" sz="2000" dirty="0" smtClean="0"/>
              <a:t>summarize data</a:t>
            </a:r>
          </a:p>
          <a:p>
            <a:pPr lvl="1"/>
            <a:r>
              <a:rPr lang="en-US" sz="2400" i="1" dirty="0" smtClean="0"/>
              <a:t>by climbing up hierarchy or by dimension reduction</a:t>
            </a:r>
            <a:endParaRPr lang="en-US" sz="2400" dirty="0" smtClean="0"/>
          </a:p>
          <a:p>
            <a:r>
              <a:rPr lang="en-US" sz="2000" dirty="0" smtClean="0">
                <a:solidFill>
                  <a:srgbClr val="C00000"/>
                </a:solidFill>
              </a:rPr>
              <a:t>Drill down (roll down</a:t>
            </a:r>
            <a:r>
              <a:rPr lang="en-US" sz="2000" dirty="0" smtClean="0">
                <a:solidFill>
                  <a:schemeClr val="hlink"/>
                </a:solidFill>
              </a:rPr>
              <a:t>):</a:t>
            </a:r>
            <a:r>
              <a:rPr lang="en-US" sz="2000" dirty="0" smtClean="0"/>
              <a:t> reverse of roll-up</a:t>
            </a:r>
          </a:p>
          <a:p>
            <a:pPr lvl="1"/>
            <a:r>
              <a:rPr lang="en-US" sz="2400" i="1" dirty="0" smtClean="0"/>
              <a:t>from higher level summary to lower level summary or detailed data, or introducing new dimensions</a:t>
            </a:r>
          </a:p>
          <a:p>
            <a:r>
              <a:rPr lang="en-US" sz="2000" dirty="0" smtClean="0">
                <a:solidFill>
                  <a:srgbClr val="C00000"/>
                </a:solidFill>
              </a:rPr>
              <a:t>Slice and dice: </a:t>
            </a:r>
            <a:r>
              <a:rPr lang="en-US" sz="2400" i="1" dirty="0" smtClean="0"/>
              <a:t>project and select</a:t>
            </a:r>
            <a:r>
              <a:rPr lang="en-US" sz="2400" dirty="0" smtClean="0"/>
              <a:t> </a:t>
            </a:r>
          </a:p>
          <a:p>
            <a:r>
              <a:rPr lang="en-US" sz="2000" dirty="0" smtClean="0">
                <a:solidFill>
                  <a:srgbClr val="C00000"/>
                </a:solidFill>
              </a:rPr>
              <a:t>Pivot (rotate): </a:t>
            </a:r>
          </a:p>
          <a:p>
            <a:pPr lvl="1"/>
            <a:r>
              <a:rPr lang="en-US" sz="2400" i="1" dirty="0" smtClean="0"/>
              <a:t>reorient the cube, visualization, 3D to series of 2D planes</a:t>
            </a:r>
          </a:p>
          <a:p>
            <a:r>
              <a:rPr lang="en-US" sz="2000" dirty="0" smtClean="0"/>
              <a:t>Other operations</a:t>
            </a:r>
          </a:p>
          <a:p>
            <a:pPr lvl="1"/>
            <a:r>
              <a:rPr lang="en-US" sz="2400" i="1" dirty="0" smtClean="0">
                <a:solidFill>
                  <a:srgbClr val="C00000"/>
                </a:solidFill>
              </a:rPr>
              <a:t>drill across: </a:t>
            </a:r>
            <a:r>
              <a:rPr lang="en-US" sz="2400" i="1" dirty="0" smtClean="0"/>
              <a:t>involving (across) more than one fact table</a:t>
            </a:r>
            <a:endParaRPr lang="en-US" sz="2400" dirty="0" smtClean="0"/>
          </a:p>
          <a:p>
            <a:pPr lvl="1"/>
            <a:r>
              <a:rPr lang="en-US" sz="2400" i="1" dirty="0" smtClean="0">
                <a:solidFill>
                  <a:srgbClr val="C00000"/>
                </a:solidFill>
              </a:rPr>
              <a:t>drill through</a:t>
            </a:r>
            <a:r>
              <a:rPr lang="en-US" sz="2400" i="1" dirty="0" smtClean="0">
                <a:solidFill>
                  <a:schemeClr val="hlink"/>
                </a:solidFill>
              </a:rPr>
              <a:t>:</a:t>
            </a:r>
            <a:r>
              <a:rPr lang="en-US" sz="2400" i="1" dirty="0" smtClean="0"/>
              <a:t> complete the bottom level of the cube to its back-end relational tables (using SQL)</a:t>
            </a:r>
            <a:endParaRPr lang="en-US" sz="2000" dirty="0" smtClean="0"/>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solidFill>
                  <a:srgbClr val="0070C0"/>
                </a:solidFill>
                <a:latin typeface="Bernard MT Condensed" pitchFamily="18" charset="0"/>
              </a:rPr>
              <a:t>Data mart and types of data marts</a:t>
            </a:r>
          </a:p>
        </p:txBody>
      </p:sp>
      <p:sp>
        <p:nvSpPr>
          <p:cNvPr id="3" name="Content Placeholder 2"/>
          <p:cNvSpPr>
            <a:spLocks noGrp="1"/>
          </p:cNvSpPr>
          <p:nvPr>
            <p:ph sz="quarter" idx="1"/>
          </p:nvPr>
        </p:nvSpPr>
        <p:spPr>
          <a:xfrm>
            <a:off x="228600" y="1600200"/>
            <a:ext cx="8915400" cy="4495800"/>
          </a:xfrm>
        </p:spPr>
        <p:txBody>
          <a:bodyPr>
            <a:normAutofit/>
          </a:bodyPr>
          <a:lstStyle/>
          <a:p>
            <a:pPr algn="just"/>
            <a:r>
              <a:rPr lang="en-US" b="1" dirty="0" smtClean="0"/>
              <a:t>What Is a Data Mart?:-</a:t>
            </a:r>
            <a:r>
              <a:rPr lang="en-US" dirty="0" smtClean="0"/>
              <a:t>A </a:t>
            </a:r>
            <a:r>
              <a:rPr lang="en-US" i="1" dirty="0" smtClean="0"/>
              <a:t>data</a:t>
            </a:r>
            <a:r>
              <a:rPr lang="en-US" dirty="0" smtClean="0"/>
              <a:t> </a:t>
            </a:r>
            <a:r>
              <a:rPr lang="en-US" i="1" dirty="0" smtClean="0"/>
              <a:t>mart</a:t>
            </a:r>
            <a:r>
              <a:rPr lang="en-US" dirty="0" smtClean="0"/>
              <a:t> is a simple form of a data warehouse that is focused on a single subject (or functional area), such as Sales or Finance or Marketing. Data marts are often built and controlled by a single department within an organization. </a:t>
            </a:r>
          </a:p>
          <a:p>
            <a:pPr algn="just"/>
            <a:r>
              <a:rPr lang="en-US" dirty="0" smtClean="0"/>
              <a:t>Given their single-subject focus, data marts usually draw data from only a few sources. The sources could be internal operational systems, a central data warehouse, or external data. </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6200"/>
            <a:ext cx="9144000" cy="1219200"/>
          </a:xfrm>
        </p:spPr>
        <p:txBody>
          <a:bodyPr>
            <a:normAutofit fontScale="90000"/>
          </a:bodyPr>
          <a:lstStyle/>
          <a:p>
            <a:pPr algn="ctr"/>
            <a:r>
              <a:rPr lang="en-US" dirty="0" smtClean="0"/>
              <a:t/>
            </a:r>
            <a:br>
              <a:rPr lang="en-US" dirty="0" smtClean="0"/>
            </a:br>
            <a:r>
              <a:rPr lang="en-US" sz="4900" dirty="0" smtClean="0">
                <a:solidFill>
                  <a:srgbClr val="0070C0"/>
                </a:solidFill>
                <a:latin typeface="Bernard MT Condensed" pitchFamily="18" charset="0"/>
              </a:rPr>
              <a:t>There are two approaches to data warehouse</a:t>
            </a:r>
            <a:r>
              <a:rPr lang="en-US" dirty="0" smtClean="0"/>
              <a:t/>
            </a:r>
            <a:br>
              <a:rPr lang="en-US" dirty="0" smtClean="0"/>
            </a:br>
            <a:endParaRPr lang="en-US" dirty="0"/>
          </a:p>
        </p:txBody>
      </p:sp>
      <p:sp>
        <p:nvSpPr>
          <p:cNvPr id="3" name="Content Placeholder 2"/>
          <p:cNvSpPr>
            <a:spLocks noGrp="1"/>
          </p:cNvSpPr>
          <p:nvPr>
            <p:ph sz="quarter" idx="1"/>
          </p:nvPr>
        </p:nvSpPr>
        <p:spPr/>
        <p:txBody>
          <a:bodyPr>
            <a:normAutofit lnSpcReduction="10000"/>
          </a:bodyPr>
          <a:lstStyle/>
          <a:p>
            <a:pPr>
              <a:buNone/>
            </a:pPr>
            <a:r>
              <a:rPr lang="en-US" b="1" dirty="0" smtClean="0">
                <a:solidFill>
                  <a:srgbClr val="C00000"/>
                </a:solidFill>
              </a:rPr>
              <a:t>Top-down data warehousing approach:-</a:t>
            </a:r>
          </a:p>
          <a:p>
            <a:pPr algn="just">
              <a:buNone/>
            </a:pPr>
            <a:r>
              <a:rPr lang="en-US" dirty="0" smtClean="0"/>
              <a:t>   According to W.H. </a:t>
            </a:r>
            <a:r>
              <a:rPr lang="en-US" dirty="0" err="1" smtClean="0"/>
              <a:t>inman</a:t>
            </a:r>
            <a:r>
              <a:rPr lang="en-US" dirty="0" smtClean="0"/>
              <a:t> first we need to build an enterprise data warehouse, and then from the enterprise data warehouse build a subject oriented database known as </a:t>
            </a:r>
            <a:r>
              <a:rPr lang="en-US" u="sng" dirty="0" smtClean="0"/>
              <a:t>data marts</a:t>
            </a:r>
          </a:p>
          <a:p>
            <a:pPr algn="just"/>
            <a:r>
              <a:rPr lang="en-US" b="1" dirty="0" smtClean="0">
                <a:solidFill>
                  <a:srgbClr val="C00000"/>
                </a:solidFill>
              </a:rPr>
              <a:t>Bottom-up data warehousing approach:</a:t>
            </a:r>
          </a:p>
          <a:p>
            <a:pPr algn="just">
              <a:buNone/>
            </a:pPr>
            <a:r>
              <a:rPr lang="en-US" b="1" dirty="0" smtClean="0">
                <a:solidFill>
                  <a:srgbClr val="C00000"/>
                </a:solidFill>
              </a:rPr>
              <a:t>   </a:t>
            </a:r>
            <a:r>
              <a:rPr lang="en-US" dirty="0" smtClean="0"/>
              <a:t>According to Ralph Kimball first we need to develop a subject oriented database known as “data marts”, then integrate the data marts into data warehouse.</a:t>
            </a:r>
          </a:p>
          <a:p>
            <a:pPr algn="just"/>
            <a:endParaRPr lang="en-US" dirty="0" smtClean="0"/>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0"/>
            <a:ext cx="9144000" cy="869950"/>
          </a:xfrm>
        </p:spPr>
        <p:txBody>
          <a:bodyPr>
            <a:normAutofit/>
          </a:bodyPr>
          <a:lstStyle/>
          <a:p>
            <a:pPr algn="ctr"/>
            <a:r>
              <a:rPr lang="en-US" sz="4000" dirty="0" smtClean="0">
                <a:solidFill>
                  <a:srgbClr val="0070C0"/>
                </a:solidFill>
                <a:latin typeface="Bernard MT Condensed" pitchFamily="18" charset="0"/>
              </a:rPr>
              <a:t>Data Warehouse  </a:t>
            </a:r>
            <a:r>
              <a:rPr lang="en-US" sz="4000" dirty="0" smtClean="0">
                <a:solidFill>
                  <a:srgbClr val="FF0000"/>
                </a:solidFill>
                <a:latin typeface="Bernard MT Condensed" pitchFamily="18" charset="0"/>
              </a:rPr>
              <a:t>Vs</a:t>
            </a:r>
            <a:r>
              <a:rPr lang="en-US" sz="4000" dirty="0" smtClean="0">
                <a:solidFill>
                  <a:srgbClr val="0070C0"/>
                </a:solidFill>
                <a:latin typeface="Bernard MT Condensed" pitchFamily="18" charset="0"/>
              </a:rPr>
              <a:t> Data Marts</a:t>
            </a:r>
          </a:p>
        </p:txBody>
      </p:sp>
      <p:sp>
        <p:nvSpPr>
          <p:cNvPr id="6" name="Content Placeholder 5"/>
          <p:cNvSpPr>
            <a:spLocks noGrp="1"/>
          </p:cNvSpPr>
          <p:nvPr>
            <p:ph sz="quarter" idx="2"/>
          </p:nvPr>
        </p:nvSpPr>
        <p:spPr>
          <a:xfrm>
            <a:off x="0" y="1524000"/>
            <a:ext cx="4572000" cy="5334000"/>
          </a:xfrm>
        </p:spPr>
        <p:style>
          <a:lnRef idx="2">
            <a:schemeClr val="accent2"/>
          </a:lnRef>
          <a:fillRef idx="1">
            <a:schemeClr val="lt1"/>
          </a:fillRef>
          <a:effectRef idx="0">
            <a:schemeClr val="accent2"/>
          </a:effectRef>
          <a:fontRef idx="minor">
            <a:schemeClr val="dk1"/>
          </a:fontRef>
        </p:style>
        <p:txBody>
          <a:bodyPr>
            <a:normAutofit fontScale="77500" lnSpcReduction="20000"/>
          </a:bodyPr>
          <a:lstStyle/>
          <a:p>
            <a:r>
              <a:rPr lang="en-US" b="1" dirty="0" smtClean="0">
                <a:solidFill>
                  <a:srgbClr val="C00000"/>
                </a:solidFill>
              </a:rPr>
              <a:t>Scope</a:t>
            </a:r>
          </a:p>
          <a:p>
            <a:pPr lvl="1"/>
            <a:r>
              <a:rPr lang="en-US" dirty="0" smtClean="0"/>
              <a:t>Application independent</a:t>
            </a:r>
          </a:p>
          <a:p>
            <a:pPr lvl="1"/>
            <a:r>
              <a:rPr lang="en-US" dirty="0" smtClean="0"/>
              <a:t>Centralized or Enterprise</a:t>
            </a:r>
          </a:p>
          <a:p>
            <a:pPr lvl="1"/>
            <a:r>
              <a:rPr lang="en-US" dirty="0" smtClean="0"/>
              <a:t>Planned</a:t>
            </a:r>
          </a:p>
          <a:p>
            <a:r>
              <a:rPr lang="en-US" b="1" dirty="0" smtClean="0">
                <a:solidFill>
                  <a:srgbClr val="C00000"/>
                </a:solidFill>
              </a:rPr>
              <a:t>Data</a:t>
            </a:r>
          </a:p>
          <a:p>
            <a:pPr lvl="1"/>
            <a:r>
              <a:rPr lang="en-US" dirty="0" smtClean="0"/>
              <a:t>Historical, detailed, summary</a:t>
            </a:r>
          </a:p>
          <a:p>
            <a:pPr lvl="1"/>
            <a:r>
              <a:rPr lang="en-US" dirty="0" smtClean="0"/>
              <a:t>Some demoralization</a:t>
            </a:r>
          </a:p>
          <a:p>
            <a:r>
              <a:rPr lang="en-US" b="1" dirty="0" smtClean="0">
                <a:solidFill>
                  <a:srgbClr val="C00000"/>
                </a:solidFill>
              </a:rPr>
              <a:t>Subject</a:t>
            </a:r>
            <a:r>
              <a:rPr lang="en-US" dirty="0" smtClean="0">
                <a:solidFill>
                  <a:srgbClr val="C00000"/>
                </a:solidFill>
              </a:rPr>
              <a:t>s</a:t>
            </a:r>
          </a:p>
          <a:p>
            <a:pPr lvl="1"/>
            <a:r>
              <a:rPr lang="en-US" dirty="0" smtClean="0"/>
              <a:t>Multiple subjects</a:t>
            </a:r>
          </a:p>
          <a:p>
            <a:r>
              <a:rPr lang="en-US" b="1" dirty="0" smtClean="0">
                <a:solidFill>
                  <a:srgbClr val="C00000"/>
                </a:solidFill>
              </a:rPr>
              <a:t>Source</a:t>
            </a:r>
          </a:p>
          <a:p>
            <a:pPr lvl="1"/>
            <a:r>
              <a:rPr lang="en-US" dirty="0" smtClean="0"/>
              <a:t>Many internal and external sources</a:t>
            </a:r>
          </a:p>
          <a:p>
            <a:r>
              <a:rPr lang="en-US" b="1" dirty="0" smtClean="0">
                <a:solidFill>
                  <a:srgbClr val="C00000"/>
                </a:solidFill>
              </a:rPr>
              <a:t>Other</a:t>
            </a:r>
          </a:p>
          <a:p>
            <a:pPr lvl="1"/>
            <a:r>
              <a:rPr lang="en-US" dirty="0" smtClean="0"/>
              <a:t>Flexible</a:t>
            </a:r>
          </a:p>
          <a:p>
            <a:pPr lvl="1"/>
            <a:r>
              <a:rPr lang="en-US" dirty="0" smtClean="0"/>
              <a:t>Data oriented</a:t>
            </a:r>
          </a:p>
          <a:p>
            <a:pPr lvl="1"/>
            <a:r>
              <a:rPr lang="en-US" dirty="0" smtClean="0"/>
              <a:t>Long life</a:t>
            </a:r>
          </a:p>
          <a:p>
            <a:pPr lvl="1"/>
            <a:r>
              <a:rPr lang="en-US" dirty="0" smtClean="0"/>
              <a:t>Single complex structure</a:t>
            </a:r>
            <a:endParaRPr lang="en-US" dirty="0"/>
          </a:p>
        </p:txBody>
      </p:sp>
      <p:sp>
        <p:nvSpPr>
          <p:cNvPr id="8" name="Content Placeholder 7"/>
          <p:cNvSpPr>
            <a:spLocks noGrp="1"/>
          </p:cNvSpPr>
          <p:nvPr>
            <p:ph sz="quarter" idx="4"/>
          </p:nvPr>
        </p:nvSpPr>
        <p:spPr>
          <a:xfrm>
            <a:off x="4572000" y="1524000"/>
            <a:ext cx="4572000" cy="5334000"/>
          </a:xfrm>
        </p:spPr>
        <p:style>
          <a:lnRef idx="2">
            <a:schemeClr val="accent2"/>
          </a:lnRef>
          <a:fillRef idx="1">
            <a:schemeClr val="lt1"/>
          </a:fillRef>
          <a:effectRef idx="0">
            <a:schemeClr val="accent2"/>
          </a:effectRef>
          <a:fontRef idx="minor">
            <a:schemeClr val="dk1"/>
          </a:fontRef>
        </p:style>
        <p:txBody>
          <a:bodyPr>
            <a:normAutofit fontScale="70000" lnSpcReduction="20000"/>
          </a:bodyPr>
          <a:lstStyle/>
          <a:p>
            <a:r>
              <a:rPr lang="en-US" b="1" dirty="0" smtClean="0">
                <a:solidFill>
                  <a:srgbClr val="C00000"/>
                </a:solidFill>
              </a:rPr>
              <a:t>Scope</a:t>
            </a:r>
          </a:p>
          <a:p>
            <a:pPr lvl="1"/>
            <a:r>
              <a:rPr lang="en-US" dirty="0" smtClean="0"/>
              <a:t>Specific application</a:t>
            </a:r>
          </a:p>
          <a:p>
            <a:pPr lvl="1"/>
            <a:r>
              <a:rPr lang="en-US" dirty="0" smtClean="0"/>
              <a:t>Decentralized by group</a:t>
            </a:r>
          </a:p>
          <a:p>
            <a:pPr lvl="1"/>
            <a:r>
              <a:rPr lang="en-US" dirty="0" smtClean="0"/>
              <a:t>Organic but may be planned</a:t>
            </a:r>
          </a:p>
          <a:p>
            <a:r>
              <a:rPr lang="en-US" b="1" dirty="0" smtClean="0">
                <a:solidFill>
                  <a:srgbClr val="C00000"/>
                </a:solidFill>
              </a:rPr>
              <a:t>Data</a:t>
            </a:r>
          </a:p>
          <a:p>
            <a:pPr lvl="1"/>
            <a:r>
              <a:rPr lang="en-US" dirty="0" smtClean="0"/>
              <a:t>Some history, detailed, summary</a:t>
            </a:r>
          </a:p>
          <a:p>
            <a:pPr lvl="1"/>
            <a:r>
              <a:rPr lang="en-US" dirty="0" smtClean="0"/>
              <a:t>High demoralization</a:t>
            </a:r>
          </a:p>
          <a:p>
            <a:r>
              <a:rPr lang="en-US" b="1" dirty="0" smtClean="0">
                <a:solidFill>
                  <a:srgbClr val="C00000"/>
                </a:solidFill>
              </a:rPr>
              <a:t>Subjects</a:t>
            </a:r>
          </a:p>
          <a:p>
            <a:pPr lvl="1"/>
            <a:r>
              <a:rPr lang="en-US" dirty="0" smtClean="0"/>
              <a:t>Single central subject area</a:t>
            </a:r>
          </a:p>
          <a:p>
            <a:r>
              <a:rPr lang="en-US" b="1" dirty="0" smtClean="0">
                <a:solidFill>
                  <a:srgbClr val="C00000"/>
                </a:solidFill>
              </a:rPr>
              <a:t>Source</a:t>
            </a:r>
          </a:p>
          <a:p>
            <a:pPr lvl="1"/>
            <a:r>
              <a:rPr lang="en-US" dirty="0" smtClean="0"/>
              <a:t>Few internal and external sources</a:t>
            </a:r>
          </a:p>
          <a:p>
            <a:r>
              <a:rPr lang="en-US" b="1" dirty="0" smtClean="0">
                <a:solidFill>
                  <a:srgbClr val="C00000"/>
                </a:solidFill>
              </a:rPr>
              <a:t>Other</a:t>
            </a:r>
          </a:p>
          <a:p>
            <a:pPr lvl="1"/>
            <a:r>
              <a:rPr lang="en-US" dirty="0" smtClean="0"/>
              <a:t>Restrictive</a:t>
            </a:r>
          </a:p>
          <a:p>
            <a:pPr lvl="1"/>
            <a:r>
              <a:rPr lang="en-US" dirty="0" smtClean="0"/>
              <a:t>Project oriented</a:t>
            </a:r>
          </a:p>
          <a:p>
            <a:pPr lvl="1"/>
            <a:r>
              <a:rPr lang="en-US" dirty="0" smtClean="0"/>
              <a:t>Short life</a:t>
            </a:r>
          </a:p>
          <a:p>
            <a:pPr lvl="1"/>
            <a:r>
              <a:rPr lang="en-US" dirty="0" smtClean="0"/>
              <a:t>Multiple simple structures that may</a:t>
            </a:r>
          </a:p>
          <a:p>
            <a:pPr lvl="1"/>
            <a:r>
              <a:rPr lang="en-US" dirty="0" smtClean="0"/>
              <a:t>form a complex structure</a:t>
            </a:r>
            <a:endParaRPr lang="en-US" dirty="0"/>
          </a:p>
        </p:txBody>
      </p:sp>
      <p:sp>
        <p:nvSpPr>
          <p:cNvPr id="5" name="Text Placeholder 4"/>
          <p:cNvSpPr>
            <a:spLocks noGrp="1"/>
          </p:cNvSpPr>
          <p:nvPr>
            <p:ph type="body" sz="quarter" idx="1"/>
          </p:nvPr>
        </p:nvSpPr>
        <p:spPr>
          <a:xfrm>
            <a:off x="0" y="1219200"/>
            <a:ext cx="4572000" cy="381000"/>
          </a:xfrm>
        </p:spPr>
        <p:style>
          <a:lnRef idx="2">
            <a:schemeClr val="accent2"/>
          </a:lnRef>
          <a:fillRef idx="1">
            <a:schemeClr val="lt1"/>
          </a:fillRef>
          <a:effectRef idx="0">
            <a:schemeClr val="accent2"/>
          </a:effectRef>
          <a:fontRef idx="minor">
            <a:schemeClr val="dk1"/>
          </a:fontRef>
        </p:style>
        <p:txBody>
          <a:bodyPr>
            <a:normAutofit lnSpcReduction="10000"/>
          </a:bodyPr>
          <a:lstStyle/>
          <a:p>
            <a:pPr algn="ctr"/>
            <a:r>
              <a:rPr lang="en-US"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Bernard MT Condensed" pitchFamily="18" charset="0"/>
              </a:rPr>
              <a:t>Data Warehouse</a:t>
            </a:r>
            <a:endParaRPr lang="en-US"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7" name="Text Placeholder 6"/>
          <p:cNvSpPr>
            <a:spLocks noGrp="1"/>
          </p:cNvSpPr>
          <p:nvPr>
            <p:ph type="body" sz="quarter" idx="3"/>
          </p:nvPr>
        </p:nvSpPr>
        <p:spPr>
          <a:xfrm>
            <a:off x="4572000" y="1219200"/>
            <a:ext cx="4572000" cy="304800"/>
          </a:xfrm>
        </p:spPr>
        <p:style>
          <a:lnRef idx="2">
            <a:schemeClr val="accent1"/>
          </a:lnRef>
          <a:fillRef idx="1">
            <a:schemeClr val="lt1"/>
          </a:fillRef>
          <a:effectRef idx="0">
            <a:schemeClr val="accent1"/>
          </a:effectRef>
          <a:fontRef idx="minor">
            <a:schemeClr val="dk1"/>
          </a:fontRef>
        </p:style>
        <p:txBody>
          <a:bodyPr>
            <a:normAutofit fontScale="85000" lnSpcReduction="20000"/>
          </a:bodyPr>
          <a:lstStyle/>
          <a:p>
            <a:pPr algn="ctr"/>
            <a:r>
              <a:rPr lang="en-US"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Bernard MT Condensed" pitchFamily="18" charset="0"/>
              </a:rPr>
              <a:t>Data Marts</a:t>
            </a:r>
            <a:endParaRPr lang="en-US"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smtClean="0">
                <a:solidFill>
                  <a:srgbClr val="0070C0"/>
                </a:solidFill>
                <a:latin typeface="Bernard MT Condensed" pitchFamily="18" charset="0"/>
              </a:rPr>
              <a:t>Types  of  data marts</a:t>
            </a:r>
            <a:endParaRPr lang="en-US" dirty="0">
              <a:solidFill>
                <a:srgbClr val="0070C0"/>
              </a:solidFill>
              <a:latin typeface="Bernard MT Condensed" pitchFamily="18" charset="0"/>
            </a:endParaRPr>
          </a:p>
        </p:txBody>
      </p:sp>
      <p:sp>
        <p:nvSpPr>
          <p:cNvPr id="3" name="Content Placeholder 2"/>
          <p:cNvSpPr>
            <a:spLocks noGrp="1"/>
          </p:cNvSpPr>
          <p:nvPr>
            <p:ph sz="quarter" idx="1"/>
          </p:nvPr>
        </p:nvSpPr>
        <p:spPr/>
        <p:txBody>
          <a:bodyPr/>
          <a:lstStyle/>
          <a:p>
            <a:r>
              <a:rPr lang="en-US" b="1" dirty="0" smtClean="0"/>
              <a:t>Dependent, </a:t>
            </a:r>
          </a:p>
          <a:p>
            <a:r>
              <a:rPr lang="en-US" b="1" dirty="0" smtClean="0"/>
              <a:t>Independent, </a:t>
            </a:r>
          </a:p>
          <a:p>
            <a:r>
              <a:rPr lang="en-US" b="1" dirty="0" smtClean="0"/>
              <a:t>Hybrid Data Marts</a:t>
            </a: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smtClean="0">
                <a:solidFill>
                  <a:srgbClr val="0070C0"/>
                </a:solidFill>
                <a:latin typeface="Bernard MT Condensed" pitchFamily="18" charset="0"/>
              </a:rPr>
              <a:t>Dependent Data  Marts</a:t>
            </a:r>
            <a:endParaRPr lang="en-US" dirty="0">
              <a:solidFill>
                <a:srgbClr val="0070C0"/>
              </a:solidFill>
              <a:latin typeface="Bernard MT Condensed" pitchFamily="18" charset="0"/>
            </a:endParaRPr>
          </a:p>
        </p:txBody>
      </p:sp>
      <p:sp>
        <p:nvSpPr>
          <p:cNvPr id="3" name="Content Placeholder 2"/>
          <p:cNvSpPr>
            <a:spLocks noGrp="1"/>
          </p:cNvSpPr>
          <p:nvPr>
            <p:ph sz="quarter" idx="1"/>
          </p:nvPr>
        </p:nvSpPr>
        <p:spPr>
          <a:xfrm>
            <a:off x="612648" y="1600200"/>
            <a:ext cx="8153400" cy="4495800"/>
          </a:xfrm>
        </p:spPr>
        <p:txBody>
          <a:bodyPr/>
          <a:lstStyle/>
          <a:p>
            <a:pPr algn="just"/>
            <a:r>
              <a:rPr lang="en-US" dirty="0" smtClean="0"/>
              <a:t>A dependent data mart allows you to unite your organization's data in one data warehouse. This gives you the usual advantages of centralization. </a:t>
            </a:r>
          </a:p>
          <a:p>
            <a:pPr algn="just"/>
            <a:r>
              <a:rPr lang="en-US" dirty="0" smtClean="0"/>
              <a:t>In a top-down data ware approach a data mart development is independent of enterprise data warehousing, such data marts are known as </a:t>
            </a:r>
            <a:r>
              <a:rPr lang="en-US" u="sng" dirty="0" smtClean="0"/>
              <a:t>dependent data marts.</a:t>
            </a:r>
            <a:endParaRPr lang="en-US" dirty="0" smtClean="0"/>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8600"/>
            <a:ext cx="9144000" cy="990600"/>
          </a:xfrm>
        </p:spPr>
        <p:txBody>
          <a:bodyPr>
            <a:normAutofit/>
          </a:bodyPr>
          <a:lstStyle/>
          <a:p>
            <a:pPr algn="ctr"/>
            <a:r>
              <a:rPr lang="en-US" dirty="0" smtClean="0">
                <a:solidFill>
                  <a:srgbClr val="0070C0"/>
                </a:solidFill>
                <a:latin typeface="Bernard MT Condensed" pitchFamily="18" charset="0"/>
              </a:rPr>
              <a:t>Dependent Data  Marts</a:t>
            </a:r>
            <a:endParaRPr lang="en-US" dirty="0">
              <a:solidFill>
                <a:srgbClr val="0070C0"/>
              </a:solidFill>
              <a:latin typeface="Bernard MT Condensed" pitchFamily="18" charset="0"/>
            </a:endParaRPr>
          </a:p>
        </p:txBody>
      </p:sp>
      <p:pic>
        <p:nvPicPr>
          <p:cNvPr id="4" name="Content Placeholder 3" descr="marts2.gif"/>
          <p:cNvPicPr>
            <a:picLocks noGrp="1" noChangeAspect="1"/>
          </p:cNvPicPr>
          <p:nvPr>
            <p:ph sz="quarter" idx="1"/>
          </p:nvPr>
        </p:nvPicPr>
        <p:blipFill>
          <a:blip r:embed="rId2" cstate="print"/>
          <a:stretch>
            <a:fillRect/>
          </a:stretch>
        </p:blipFill>
        <p:spPr>
          <a:xfrm>
            <a:off x="228600" y="1219200"/>
            <a:ext cx="8915400" cy="5410200"/>
          </a:xfr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rgbClr val="0070C0"/>
                </a:solidFill>
                <a:latin typeface="Bernard MT Condensed" pitchFamily="18" charset="0"/>
              </a:rPr>
              <a:t>Independent Data  Marts</a:t>
            </a:r>
            <a:endParaRPr lang="en-US" dirty="0"/>
          </a:p>
        </p:txBody>
      </p:sp>
      <p:sp>
        <p:nvSpPr>
          <p:cNvPr id="3" name="Content Placeholder 2"/>
          <p:cNvSpPr>
            <a:spLocks noGrp="1"/>
          </p:cNvSpPr>
          <p:nvPr>
            <p:ph sz="quarter" idx="1"/>
          </p:nvPr>
        </p:nvSpPr>
        <p:spPr/>
        <p:txBody>
          <a:bodyPr/>
          <a:lstStyle/>
          <a:p>
            <a:pPr algn="just">
              <a:buFont typeface="Wingdings" pitchFamily="2" charset="2"/>
              <a:buChar char="q"/>
            </a:pPr>
            <a:r>
              <a:rPr lang="en-US" dirty="0" smtClean="0"/>
              <a:t> An independent data mart is created without the use of a central data warehouse. This could be desirable for smaller groups within an organization. </a:t>
            </a:r>
          </a:p>
          <a:p>
            <a:pPr algn="just">
              <a:buFont typeface="Wingdings" pitchFamily="2" charset="2"/>
              <a:buChar char="q"/>
            </a:pPr>
            <a:r>
              <a:rPr lang="en-US" dirty="0" smtClean="0"/>
              <a:t>In bottom-up approach a data mart development is independent of data warehouse. Such data marts are called </a:t>
            </a:r>
            <a:r>
              <a:rPr lang="en-US" u="sng" dirty="0" smtClean="0"/>
              <a:t>‘</a:t>
            </a:r>
            <a:r>
              <a:rPr lang="en-US" u="sng" dirty="0" smtClean="0">
                <a:solidFill>
                  <a:srgbClr val="C00000"/>
                </a:solidFill>
              </a:rPr>
              <a:t>independent data marts’</a:t>
            </a:r>
            <a:r>
              <a:rPr lang="en-US" dirty="0" smtClean="0">
                <a:solidFill>
                  <a:srgbClr val="C00000"/>
                </a:solidFill>
              </a:rPr>
              <a:t>.</a:t>
            </a:r>
          </a:p>
          <a:p>
            <a:pPr algn="just">
              <a:buNone/>
            </a:pP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rgbClr val="0070C0"/>
                </a:solidFill>
                <a:latin typeface="Bernard MT Condensed" pitchFamily="18" charset="0"/>
              </a:rPr>
              <a:t>Independent Data  Marts</a:t>
            </a:r>
            <a:endParaRPr lang="en-US" dirty="0"/>
          </a:p>
        </p:txBody>
      </p:sp>
      <p:pic>
        <p:nvPicPr>
          <p:cNvPr id="4" name="Content Placeholder 3" descr="marts3.gif"/>
          <p:cNvPicPr>
            <a:picLocks noGrp="1" noChangeAspect="1"/>
          </p:cNvPicPr>
          <p:nvPr>
            <p:ph sz="quarter" idx="1"/>
          </p:nvPr>
        </p:nvPicPr>
        <p:blipFill>
          <a:blip r:embed="rId2" cstate="print"/>
          <a:stretch>
            <a:fillRect/>
          </a:stretch>
        </p:blipFill>
        <p:spPr>
          <a:xfrm>
            <a:off x="0" y="1371600"/>
            <a:ext cx="9144000" cy="5486400"/>
          </a:xfr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rgbClr val="0070C0"/>
                </a:solidFill>
                <a:latin typeface="Bernard MT Condensed" pitchFamily="18" charset="0"/>
              </a:rPr>
              <a:t>Hybrid Data  Marts</a:t>
            </a:r>
            <a:endParaRPr lang="en-US" dirty="0"/>
          </a:p>
        </p:txBody>
      </p:sp>
      <p:sp>
        <p:nvSpPr>
          <p:cNvPr id="3" name="Content Placeholder 2"/>
          <p:cNvSpPr>
            <a:spLocks noGrp="1"/>
          </p:cNvSpPr>
          <p:nvPr>
            <p:ph sz="quarter" idx="1"/>
          </p:nvPr>
        </p:nvSpPr>
        <p:spPr/>
        <p:txBody>
          <a:bodyPr/>
          <a:lstStyle/>
          <a:p>
            <a:pPr algn="just"/>
            <a:r>
              <a:rPr lang="en-US" dirty="0" smtClean="0"/>
              <a:t>A hybrid data mart allows you to combine input from sources other than a data warehouse. This could be useful for many situations, especially when you need ad hoc integration, such as after a new group or product is added to the organization</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rgbClr val="0070C0"/>
                </a:solidFill>
                <a:latin typeface="Bernard MT Condensed" pitchFamily="18" charset="0"/>
              </a:rPr>
              <a:t>Hybrid Data  Marts</a:t>
            </a:r>
            <a:endParaRPr lang="en-US" dirty="0"/>
          </a:p>
        </p:txBody>
      </p:sp>
      <p:pic>
        <p:nvPicPr>
          <p:cNvPr id="4" name="Content Placeholder 3" descr="martsa.gif"/>
          <p:cNvPicPr>
            <a:picLocks noGrp="1" noChangeAspect="1"/>
          </p:cNvPicPr>
          <p:nvPr>
            <p:ph sz="quarter" idx="1"/>
          </p:nvPr>
        </p:nvPicPr>
        <p:blipFill>
          <a:blip r:embed="rId2" cstate="print"/>
          <a:stretch>
            <a:fillRect/>
          </a:stretch>
        </p:blipFill>
        <p:spPr>
          <a:xfrm>
            <a:off x="0" y="1524001"/>
            <a:ext cx="9144000" cy="5105399"/>
          </a:xfr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295400"/>
          </a:xfrm>
        </p:spPr>
        <p:txBody>
          <a:bodyPr>
            <a:normAutofit/>
          </a:bodyPr>
          <a:lstStyle/>
          <a:p>
            <a:pPr algn="ctr"/>
            <a:r>
              <a:rPr lang="en-US" dirty="0" smtClean="0">
                <a:solidFill>
                  <a:srgbClr val="0070C0"/>
                </a:solidFill>
                <a:latin typeface="Bernard MT Condensed" pitchFamily="18" charset="0"/>
              </a:rPr>
              <a:t>Topic to be covered in unit-1</a:t>
            </a:r>
          </a:p>
        </p:txBody>
      </p:sp>
      <p:sp>
        <p:nvSpPr>
          <p:cNvPr id="3" name="Content Placeholder 2"/>
          <p:cNvSpPr>
            <a:spLocks noGrp="1"/>
          </p:cNvSpPr>
          <p:nvPr>
            <p:ph sz="quarter" idx="1"/>
          </p:nvPr>
        </p:nvSpPr>
        <p:spPr>
          <a:xfrm>
            <a:off x="533400" y="1524000"/>
            <a:ext cx="8305800" cy="4572000"/>
          </a:xfrm>
        </p:spPr>
        <p:txBody>
          <a:bodyPr>
            <a:normAutofit/>
          </a:bodyPr>
          <a:lstStyle/>
          <a:p>
            <a:r>
              <a:rPr lang="en-US" dirty="0" smtClean="0">
                <a:solidFill>
                  <a:srgbClr val="C00000"/>
                </a:solidFill>
              </a:rPr>
              <a:t>Design of data warehouse</a:t>
            </a:r>
          </a:p>
          <a:p>
            <a:r>
              <a:rPr lang="en-US" dirty="0" smtClean="0">
                <a:solidFill>
                  <a:srgbClr val="0070C0"/>
                </a:solidFill>
              </a:rPr>
              <a:t>Process of data warehouse design</a:t>
            </a:r>
          </a:p>
          <a:p>
            <a:r>
              <a:rPr lang="en-US" dirty="0" smtClean="0">
                <a:solidFill>
                  <a:srgbClr val="C00000"/>
                </a:solidFill>
              </a:rPr>
              <a:t>Tree tier data warehouse architecture.</a:t>
            </a:r>
          </a:p>
          <a:p>
            <a:r>
              <a:rPr lang="en-US" dirty="0" smtClean="0">
                <a:solidFill>
                  <a:srgbClr val="0070C0"/>
                </a:solidFill>
              </a:rPr>
              <a:t>Types of OLAP Servers</a:t>
            </a:r>
          </a:p>
          <a:p>
            <a:pPr marL="594360" lvl="2" indent="-320040">
              <a:spcBef>
                <a:spcPts val="700"/>
              </a:spcBef>
              <a:buSzPct val="60000"/>
              <a:buFont typeface="Wingdings"/>
              <a:buChar char=""/>
            </a:pPr>
            <a:r>
              <a:rPr lang="en-US" b="1" dirty="0" smtClean="0">
                <a:solidFill>
                  <a:srgbClr val="C00000"/>
                </a:solidFill>
              </a:rPr>
              <a:t>ROLAP</a:t>
            </a:r>
          </a:p>
          <a:p>
            <a:pPr marL="594360" lvl="2" indent="-320040">
              <a:spcBef>
                <a:spcPts val="700"/>
              </a:spcBef>
              <a:buSzPct val="60000"/>
              <a:buFont typeface="Wingdings"/>
              <a:buChar char=""/>
            </a:pPr>
            <a:r>
              <a:rPr lang="en-US" b="1" dirty="0" smtClean="0">
                <a:solidFill>
                  <a:srgbClr val="C00000"/>
                </a:solidFill>
              </a:rPr>
              <a:t>MOLAP</a:t>
            </a:r>
          </a:p>
          <a:p>
            <a:pPr marL="594360" lvl="2" indent="-320040">
              <a:spcBef>
                <a:spcPts val="700"/>
              </a:spcBef>
              <a:buSzPct val="60000"/>
              <a:buFont typeface="Wingdings"/>
              <a:buChar char=""/>
            </a:pPr>
            <a:r>
              <a:rPr lang="en-US" b="1" dirty="0" smtClean="0">
                <a:solidFill>
                  <a:srgbClr val="C00000"/>
                </a:solidFill>
              </a:rPr>
              <a:t>HOLAP</a:t>
            </a:r>
          </a:p>
          <a:p>
            <a:r>
              <a:rPr lang="en-US" dirty="0" smtClean="0">
                <a:solidFill>
                  <a:srgbClr val="0070C0"/>
                </a:solidFill>
              </a:rPr>
              <a:t>Data were house  backend tools &amp; utility.</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5"/>
          <p:cNvSpPr>
            <a:spLocks noGrp="1"/>
          </p:cNvSpPr>
          <p:nvPr>
            <p:ph type="sldNum" sz="quarter" idx="12"/>
          </p:nvPr>
        </p:nvSpPr>
        <p:spPr>
          <a:noFill/>
        </p:spPr>
        <p:txBody>
          <a:bodyPr>
            <a:normAutofit fontScale="85000" lnSpcReduction="20000"/>
          </a:bodyPr>
          <a:lstStyle/>
          <a:p>
            <a:fld id="{67EABF0F-3F77-4CE1-A101-F47B7F83FC00}" type="slidenum">
              <a:rPr lang="en-US" smtClean="0"/>
              <a:pPr/>
              <a:t>31</a:t>
            </a:fld>
            <a:endParaRPr lang="en-US" smtClean="0"/>
          </a:p>
        </p:txBody>
      </p:sp>
      <p:sp>
        <p:nvSpPr>
          <p:cNvPr id="39939" name="Rectangle 2"/>
          <p:cNvSpPr>
            <a:spLocks noGrp="1" noChangeArrowheads="1"/>
          </p:cNvSpPr>
          <p:nvPr>
            <p:ph type="title"/>
          </p:nvPr>
        </p:nvSpPr>
        <p:spPr>
          <a:xfrm>
            <a:off x="0" y="0"/>
            <a:ext cx="9144000" cy="1143000"/>
          </a:xfrm>
          <a:noFill/>
        </p:spPr>
        <p:txBody>
          <a:bodyPr lIns="92075" tIns="46038" rIns="92075" bIns="46038">
            <a:noAutofit/>
          </a:bodyPr>
          <a:lstStyle/>
          <a:p>
            <a:pPr algn="ctr" eaLnBrk="1" hangingPunct="1"/>
            <a:r>
              <a:rPr lang="en-US" sz="3600" dirty="0" smtClean="0">
                <a:solidFill>
                  <a:srgbClr val="0070C0"/>
                </a:solidFill>
                <a:latin typeface="Bernard MT Condensed" pitchFamily="18" charset="0"/>
              </a:rPr>
              <a:t>Design of Data Warehouse: A Business Analysis Framework</a:t>
            </a:r>
          </a:p>
        </p:txBody>
      </p:sp>
      <p:sp>
        <p:nvSpPr>
          <p:cNvPr id="39940" name="Rectangle 3"/>
          <p:cNvSpPr>
            <a:spLocks noGrp="1" noChangeArrowheads="1"/>
          </p:cNvSpPr>
          <p:nvPr>
            <p:ph type="body" idx="1"/>
          </p:nvPr>
        </p:nvSpPr>
        <p:spPr>
          <a:xfrm>
            <a:off x="381000" y="1447800"/>
            <a:ext cx="8305800" cy="5181600"/>
          </a:xfrm>
          <a:noFill/>
        </p:spPr>
        <p:txBody>
          <a:bodyPr lIns="92075" tIns="46038" rIns="92075" bIns="46038">
            <a:normAutofit fontScale="92500"/>
          </a:bodyPr>
          <a:lstStyle/>
          <a:p>
            <a:pPr eaLnBrk="1" hangingPunct="1">
              <a:lnSpc>
                <a:spcPct val="110000"/>
              </a:lnSpc>
            </a:pPr>
            <a:r>
              <a:rPr lang="en-US" sz="2400" dirty="0" smtClean="0"/>
              <a:t>Four views regarding the design of a data warehouse </a:t>
            </a:r>
          </a:p>
          <a:p>
            <a:pPr lvl="1" eaLnBrk="1" hangingPunct="1">
              <a:lnSpc>
                <a:spcPct val="110000"/>
              </a:lnSpc>
            </a:pPr>
            <a:r>
              <a:rPr lang="en-US" sz="2400" b="1" dirty="0" smtClean="0">
                <a:solidFill>
                  <a:srgbClr val="FF0000"/>
                </a:solidFill>
              </a:rPr>
              <a:t>Top-down view</a:t>
            </a:r>
          </a:p>
          <a:p>
            <a:pPr lvl="2" eaLnBrk="1" hangingPunct="1">
              <a:lnSpc>
                <a:spcPct val="110000"/>
              </a:lnSpc>
            </a:pPr>
            <a:r>
              <a:rPr lang="en-US" sz="2000" dirty="0" smtClean="0"/>
              <a:t>Allows selection of the relevant information necessary for the data warehouse</a:t>
            </a:r>
          </a:p>
          <a:p>
            <a:pPr lvl="1" eaLnBrk="1" hangingPunct="1">
              <a:lnSpc>
                <a:spcPct val="110000"/>
              </a:lnSpc>
            </a:pPr>
            <a:r>
              <a:rPr lang="en-US" sz="2400" dirty="0" smtClean="0">
                <a:solidFill>
                  <a:srgbClr val="FF0000"/>
                </a:solidFill>
              </a:rPr>
              <a:t>Data source view</a:t>
            </a:r>
          </a:p>
          <a:p>
            <a:pPr lvl="2" eaLnBrk="1" hangingPunct="1">
              <a:lnSpc>
                <a:spcPct val="110000"/>
              </a:lnSpc>
            </a:pPr>
            <a:r>
              <a:rPr lang="en-US" sz="2000" dirty="0" smtClean="0"/>
              <a:t>Exposes the information being captured, stored, and managed by operational systems</a:t>
            </a:r>
          </a:p>
          <a:p>
            <a:pPr lvl="1" eaLnBrk="1" hangingPunct="1">
              <a:lnSpc>
                <a:spcPct val="110000"/>
              </a:lnSpc>
            </a:pPr>
            <a:r>
              <a:rPr lang="en-US" sz="2400" dirty="0" smtClean="0">
                <a:solidFill>
                  <a:srgbClr val="FF0000"/>
                </a:solidFill>
              </a:rPr>
              <a:t>Data warehouse view</a:t>
            </a:r>
          </a:p>
          <a:p>
            <a:pPr lvl="2"/>
            <a:r>
              <a:rPr lang="en-US" sz="1400" dirty="0" smtClean="0"/>
              <a:t> </a:t>
            </a:r>
            <a:r>
              <a:rPr lang="en-US" sz="2000" dirty="0" smtClean="0"/>
              <a:t>Includes the fact tables and dimension tables. It represents the information that is stored with in the data warehouse as well as information regarding the data, time of origin of the source data to provide the historical context</a:t>
            </a:r>
            <a:r>
              <a:rPr lang="en-US" sz="1500" dirty="0" smtClean="0"/>
              <a:t>. </a:t>
            </a:r>
          </a:p>
          <a:p>
            <a:pPr lvl="1"/>
            <a:r>
              <a:rPr lang="en-US" sz="2700" dirty="0" smtClean="0">
                <a:solidFill>
                  <a:srgbClr val="FF0000"/>
                </a:solidFill>
              </a:rPr>
              <a:t>Business query view </a:t>
            </a:r>
          </a:p>
          <a:p>
            <a:pPr lvl="2" eaLnBrk="1" hangingPunct="1">
              <a:lnSpc>
                <a:spcPct val="110000"/>
              </a:lnSpc>
            </a:pPr>
            <a:r>
              <a:rPr lang="en-US" sz="2000" dirty="0" smtClean="0"/>
              <a:t>Sees the perspectives of data in the warehouse from the view of end-user</a:t>
            </a:r>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p:cNvSpPr>
            <a:spLocks noGrp="1"/>
          </p:cNvSpPr>
          <p:nvPr>
            <p:ph type="sldNum" sz="quarter" idx="12"/>
          </p:nvPr>
        </p:nvSpPr>
        <p:spPr>
          <a:noFill/>
        </p:spPr>
        <p:txBody>
          <a:bodyPr>
            <a:normAutofit fontScale="85000" lnSpcReduction="20000"/>
          </a:bodyPr>
          <a:lstStyle/>
          <a:p>
            <a:fld id="{2F092BFA-A7CD-4AE6-924E-7BE7DAD338AC}" type="slidenum">
              <a:rPr lang="en-US" smtClean="0"/>
              <a:pPr/>
              <a:t>32</a:t>
            </a:fld>
            <a:endParaRPr lang="en-US" smtClean="0"/>
          </a:p>
        </p:txBody>
      </p:sp>
      <p:sp>
        <p:nvSpPr>
          <p:cNvPr id="40963" name="Rectangle 2"/>
          <p:cNvSpPr>
            <a:spLocks noGrp="1" noChangeArrowheads="1"/>
          </p:cNvSpPr>
          <p:nvPr>
            <p:ph type="title"/>
          </p:nvPr>
        </p:nvSpPr>
        <p:spPr>
          <a:xfrm>
            <a:off x="0" y="304800"/>
            <a:ext cx="9144000" cy="685800"/>
          </a:xfrm>
          <a:noFill/>
        </p:spPr>
        <p:txBody>
          <a:bodyPr lIns="92075" tIns="46038" rIns="92075" bIns="46038">
            <a:normAutofit/>
          </a:bodyPr>
          <a:lstStyle/>
          <a:p>
            <a:pPr algn="ctr" eaLnBrk="1" hangingPunct="1"/>
            <a:r>
              <a:rPr lang="en-US" sz="3600" dirty="0" smtClean="0">
                <a:solidFill>
                  <a:srgbClr val="0070C0"/>
                </a:solidFill>
                <a:latin typeface="Bernard MT Condensed" pitchFamily="18" charset="0"/>
              </a:rPr>
              <a:t>Data Warehouse Design Process </a:t>
            </a:r>
          </a:p>
        </p:txBody>
      </p:sp>
      <p:sp>
        <p:nvSpPr>
          <p:cNvPr id="40964" name="Rectangle 3"/>
          <p:cNvSpPr>
            <a:spLocks noGrp="1" noChangeArrowheads="1"/>
          </p:cNvSpPr>
          <p:nvPr>
            <p:ph type="body" idx="1"/>
          </p:nvPr>
        </p:nvSpPr>
        <p:spPr>
          <a:xfrm>
            <a:off x="304800" y="1371600"/>
            <a:ext cx="8458200" cy="5181600"/>
          </a:xfrm>
          <a:noFill/>
        </p:spPr>
        <p:txBody>
          <a:bodyPr lIns="92075" tIns="46038" rIns="92075" bIns="46038">
            <a:normAutofit lnSpcReduction="10000"/>
          </a:bodyPr>
          <a:lstStyle/>
          <a:p>
            <a:pPr eaLnBrk="1" hangingPunct="1">
              <a:lnSpc>
                <a:spcPct val="110000"/>
              </a:lnSpc>
            </a:pPr>
            <a:r>
              <a:rPr lang="en-US" sz="2000" b="1" dirty="0" smtClean="0">
                <a:solidFill>
                  <a:srgbClr val="FF0000"/>
                </a:solidFill>
              </a:rPr>
              <a:t>Top-down, bottom-up approaches or a combination</a:t>
            </a:r>
            <a:r>
              <a:rPr lang="en-US" sz="2000" dirty="0" smtClean="0">
                <a:solidFill>
                  <a:srgbClr val="FF0000"/>
                </a:solidFill>
              </a:rPr>
              <a:t> </a:t>
            </a:r>
            <a:r>
              <a:rPr lang="en-US" sz="2000" dirty="0" smtClean="0"/>
              <a:t>of both</a:t>
            </a:r>
          </a:p>
          <a:p>
            <a:pPr lvl="1" eaLnBrk="1" hangingPunct="1">
              <a:lnSpc>
                <a:spcPct val="110000"/>
              </a:lnSpc>
            </a:pPr>
            <a:r>
              <a:rPr lang="en-US" sz="2000" u="sng" dirty="0" smtClean="0"/>
              <a:t>Top-down</a:t>
            </a:r>
            <a:r>
              <a:rPr lang="en-US" sz="2000" dirty="0" smtClean="0"/>
              <a:t>: Starts with overall design and planning (mature)</a:t>
            </a:r>
          </a:p>
          <a:p>
            <a:pPr lvl="1" eaLnBrk="1" hangingPunct="1">
              <a:lnSpc>
                <a:spcPct val="110000"/>
              </a:lnSpc>
            </a:pPr>
            <a:r>
              <a:rPr lang="en-US" sz="2000" u="sng" dirty="0" smtClean="0"/>
              <a:t>Bottom-up</a:t>
            </a:r>
            <a:r>
              <a:rPr lang="en-US" sz="2000" dirty="0" smtClean="0"/>
              <a:t>: Starts with experiments and prototypes (rapid)</a:t>
            </a:r>
          </a:p>
          <a:p>
            <a:pPr eaLnBrk="1" hangingPunct="1">
              <a:lnSpc>
                <a:spcPct val="110000"/>
              </a:lnSpc>
            </a:pPr>
            <a:r>
              <a:rPr lang="en-US" sz="2000" b="1" dirty="0" smtClean="0">
                <a:solidFill>
                  <a:srgbClr val="FF0000"/>
                </a:solidFill>
              </a:rPr>
              <a:t>From software engineering point of view</a:t>
            </a:r>
          </a:p>
          <a:p>
            <a:pPr lvl="1" eaLnBrk="1" hangingPunct="1">
              <a:lnSpc>
                <a:spcPct val="110000"/>
              </a:lnSpc>
            </a:pPr>
            <a:r>
              <a:rPr lang="en-US" sz="2000" u="sng" dirty="0" smtClean="0"/>
              <a:t>Waterfal</a:t>
            </a:r>
            <a:r>
              <a:rPr lang="en-US" sz="2000" dirty="0" smtClean="0"/>
              <a:t>l: structured and systematic analysis at each step before proceeding to the next</a:t>
            </a:r>
          </a:p>
          <a:p>
            <a:pPr lvl="1" eaLnBrk="1" hangingPunct="1">
              <a:lnSpc>
                <a:spcPct val="110000"/>
              </a:lnSpc>
            </a:pPr>
            <a:r>
              <a:rPr lang="en-US" sz="2000" u="sng" dirty="0" smtClean="0"/>
              <a:t>Spiral</a:t>
            </a:r>
            <a:r>
              <a:rPr lang="en-US" sz="2000" dirty="0" smtClean="0"/>
              <a:t>:  rapid generation of increasingly functional systems, short turn around time, quick turn around</a:t>
            </a:r>
          </a:p>
          <a:p>
            <a:pPr eaLnBrk="1" hangingPunct="1">
              <a:lnSpc>
                <a:spcPct val="110000"/>
              </a:lnSpc>
            </a:pPr>
            <a:r>
              <a:rPr lang="en-US" sz="2000" b="1" dirty="0" smtClean="0">
                <a:solidFill>
                  <a:srgbClr val="FF0000"/>
                </a:solidFill>
              </a:rPr>
              <a:t>Typical data warehouse design process</a:t>
            </a:r>
          </a:p>
          <a:p>
            <a:pPr lvl="1" eaLnBrk="1" hangingPunct="1">
              <a:lnSpc>
                <a:spcPct val="110000"/>
              </a:lnSpc>
            </a:pPr>
            <a:r>
              <a:rPr lang="en-US" sz="2000" dirty="0" smtClean="0"/>
              <a:t>Choose a </a:t>
            </a:r>
            <a:r>
              <a:rPr lang="en-US" sz="2000" dirty="0" smtClean="0">
                <a:solidFill>
                  <a:srgbClr val="FF0000"/>
                </a:solidFill>
              </a:rPr>
              <a:t>business process </a:t>
            </a:r>
            <a:r>
              <a:rPr lang="en-US" sz="2000" dirty="0" smtClean="0"/>
              <a:t>to model, e.g., orders, invoices, etc.</a:t>
            </a:r>
          </a:p>
          <a:p>
            <a:pPr lvl="1" eaLnBrk="1" hangingPunct="1">
              <a:lnSpc>
                <a:spcPct val="110000"/>
              </a:lnSpc>
            </a:pPr>
            <a:r>
              <a:rPr lang="en-US" sz="2000" dirty="0" smtClean="0"/>
              <a:t>Choose the </a:t>
            </a:r>
            <a:r>
              <a:rPr lang="en-US" sz="2000" i="1" u="sng" dirty="0" smtClean="0">
                <a:solidFill>
                  <a:srgbClr val="FF0000"/>
                </a:solidFill>
              </a:rPr>
              <a:t>grain</a:t>
            </a:r>
            <a:r>
              <a:rPr lang="en-US" sz="2000" dirty="0" smtClean="0">
                <a:solidFill>
                  <a:srgbClr val="FF0000"/>
                </a:solidFill>
              </a:rPr>
              <a:t> (</a:t>
            </a:r>
            <a:r>
              <a:rPr lang="en-US" sz="2000" i="1" dirty="0" smtClean="0">
                <a:solidFill>
                  <a:srgbClr val="FF0000"/>
                </a:solidFill>
              </a:rPr>
              <a:t>atomic level of data</a:t>
            </a:r>
            <a:r>
              <a:rPr lang="en-US" sz="2000" dirty="0" smtClean="0">
                <a:solidFill>
                  <a:srgbClr val="FF0000"/>
                </a:solidFill>
              </a:rPr>
              <a:t>) </a:t>
            </a:r>
            <a:r>
              <a:rPr lang="en-US" sz="2000" dirty="0" smtClean="0"/>
              <a:t>of the business process</a:t>
            </a:r>
          </a:p>
          <a:p>
            <a:pPr lvl="1" eaLnBrk="1" hangingPunct="1">
              <a:lnSpc>
                <a:spcPct val="110000"/>
              </a:lnSpc>
            </a:pPr>
            <a:r>
              <a:rPr lang="en-US" sz="2000" dirty="0" smtClean="0"/>
              <a:t>Choose the </a:t>
            </a:r>
            <a:r>
              <a:rPr lang="en-US" sz="2000" dirty="0" smtClean="0">
                <a:solidFill>
                  <a:srgbClr val="FF0000"/>
                </a:solidFill>
              </a:rPr>
              <a:t>dimensions</a:t>
            </a:r>
            <a:r>
              <a:rPr lang="en-US" sz="2000" dirty="0" smtClean="0"/>
              <a:t> that will apply to each fact table record</a:t>
            </a:r>
          </a:p>
          <a:p>
            <a:pPr lvl="1" eaLnBrk="1" hangingPunct="1">
              <a:lnSpc>
                <a:spcPct val="110000"/>
              </a:lnSpc>
            </a:pPr>
            <a:r>
              <a:rPr lang="en-US" sz="2000" dirty="0" smtClean="0"/>
              <a:t>Choose the </a:t>
            </a:r>
            <a:r>
              <a:rPr lang="en-US" sz="2000" dirty="0" smtClean="0">
                <a:solidFill>
                  <a:srgbClr val="FF0000"/>
                </a:solidFill>
              </a:rPr>
              <a:t>measure</a:t>
            </a:r>
            <a:r>
              <a:rPr lang="en-US" sz="2000" dirty="0" smtClean="0"/>
              <a:t> that will populate each fact table record</a:t>
            </a:r>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763000" cy="1219200"/>
          </a:xfrm>
        </p:spPr>
        <p:txBody>
          <a:bodyPr>
            <a:normAutofit fontScale="90000"/>
          </a:bodyPr>
          <a:lstStyle/>
          <a:p>
            <a:r>
              <a:rPr lang="en-US" b="1" dirty="0" smtClean="0">
                <a:solidFill>
                  <a:srgbClr val="FF0000"/>
                </a:solidFill>
              </a:rPr>
              <a:t/>
            </a:r>
            <a:br>
              <a:rPr lang="en-US" b="1" dirty="0" smtClean="0">
                <a:solidFill>
                  <a:srgbClr val="FF0000"/>
                </a:solidFill>
              </a:rPr>
            </a:br>
            <a:r>
              <a:rPr lang="en-US" b="1" dirty="0" smtClean="0">
                <a:solidFill>
                  <a:srgbClr val="FF0000"/>
                </a:solidFill>
              </a:rPr>
              <a:t>Typical data warehouse design process</a:t>
            </a:r>
            <a:br>
              <a:rPr lang="en-US" b="1" dirty="0" smtClean="0">
                <a:solidFill>
                  <a:srgbClr val="FF0000"/>
                </a:solidFill>
              </a:rPr>
            </a:br>
            <a:endParaRPr lang="en-US" dirty="0"/>
          </a:p>
        </p:txBody>
      </p:sp>
      <p:sp>
        <p:nvSpPr>
          <p:cNvPr id="3" name="Content Placeholder 2"/>
          <p:cNvSpPr>
            <a:spLocks noGrp="1"/>
          </p:cNvSpPr>
          <p:nvPr>
            <p:ph sz="quarter" idx="1"/>
          </p:nvPr>
        </p:nvSpPr>
        <p:spPr>
          <a:xfrm>
            <a:off x="0" y="1371600"/>
            <a:ext cx="9144000" cy="5257800"/>
          </a:xfrm>
        </p:spPr>
        <p:txBody>
          <a:bodyPr>
            <a:normAutofit lnSpcReduction="10000"/>
          </a:bodyPr>
          <a:lstStyle/>
          <a:p>
            <a:pPr marL="514350" indent="-514350" algn="just">
              <a:buFont typeface="+mj-lt"/>
              <a:buAutoNum type="arabicPeriod"/>
            </a:pPr>
            <a:r>
              <a:rPr lang="en-US" dirty="0" smtClean="0"/>
              <a:t>Choose the </a:t>
            </a:r>
            <a:r>
              <a:rPr lang="en-US" sz="2800" b="1" dirty="0" smtClean="0">
                <a:solidFill>
                  <a:srgbClr val="FF0000"/>
                </a:solidFill>
              </a:rPr>
              <a:t>business process to model</a:t>
            </a:r>
            <a:r>
              <a:rPr lang="en-US" b="1" dirty="0" smtClean="0"/>
              <a:t>, </a:t>
            </a:r>
            <a:r>
              <a:rPr lang="en-US" dirty="0" smtClean="0"/>
              <a:t>for example orders, invoices, shipments etc. If the business process is multiple and involves many parts of the organization a data warehouse model should be followed. On the other hand if the business process involves only one kind of process a data mart should be made.</a:t>
            </a:r>
          </a:p>
          <a:p>
            <a:pPr marL="514350" indent="-514350">
              <a:buFont typeface="+mj-lt"/>
              <a:buAutoNum type="arabicPeriod"/>
            </a:pPr>
            <a:r>
              <a:rPr lang="en-US" dirty="0" smtClean="0"/>
              <a:t>Choose the </a:t>
            </a:r>
            <a:r>
              <a:rPr lang="en-US" b="1" dirty="0" smtClean="0">
                <a:solidFill>
                  <a:srgbClr val="FF0000"/>
                </a:solidFill>
              </a:rPr>
              <a:t>grain of the business process</a:t>
            </a:r>
            <a:r>
              <a:rPr lang="en-US" b="1" dirty="0" smtClean="0"/>
              <a:t>. The grain is the fundamental atomic level at which a </a:t>
            </a:r>
            <a:r>
              <a:rPr lang="en-US" dirty="0" smtClean="0"/>
              <a:t>fact in a fact table is to be represented.</a:t>
            </a:r>
          </a:p>
          <a:p>
            <a:pPr marL="514350" indent="-514350" algn="just">
              <a:buFont typeface="+mj-lt"/>
              <a:buAutoNum type="arabicPeriod"/>
            </a:pPr>
            <a:r>
              <a:rPr lang="en-US" dirty="0" smtClean="0"/>
              <a:t>Choose the </a:t>
            </a:r>
            <a:r>
              <a:rPr lang="en-US" b="1" dirty="0" smtClean="0">
                <a:solidFill>
                  <a:srgbClr val="FF0000"/>
                </a:solidFill>
              </a:rPr>
              <a:t>dimensions </a:t>
            </a:r>
            <a:r>
              <a:rPr lang="en-US" dirty="0" smtClean="0"/>
              <a:t>that will apply to each fact table record. Typical dimensions are time, item, customer, supplier, warehouse transaction type and status.</a:t>
            </a:r>
          </a:p>
          <a:p>
            <a:pPr marL="514350" indent="-514350">
              <a:buFont typeface="+mj-lt"/>
              <a:buAutoNum type="arabicPeriod"/>
            </a:pPr>
            <a:endParaRPr lang="en-US" dirty="0" smtClean="0"/>
          </a:p>
          <a:p>
            <a:pPr marL="514350" indent="-514350">
              <a:buFont typeface="+mj-lt"/>
              <a:buAutoNum type="arabicPeriod"/>
            </a:pP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763000" cy="1219200"/>
          </a:xfrm>
        </p:spPr>
        <p:txBody>
          <a:bodyPr>
            <a:normAutofit fontScale="90000"/>
          </a:bodyPr>
          <a:lstStyle/>
          <a:p>
            <a:r>
              <a:rPr lang="en-US" b="1" dirty="0" smtClean="0">
                <a:solidFill>
                  <a:srgbClr val="FF0000"/>
                </a:solidFill>
              </a:rPr>
              <a:t/>
            </a:r>
            <a:br>
              <a:rPr lang="en-US" b="1" dirty="0" smtClean="0">
                <a:solidFill>
                  <a:srgbClr val="FF0000"/>
                </a:solidFill>
              </a:rPr>
            </a:br>
            <a:r>
              <a:rPr lang="en-US" b="1" dirty="0" smtClean="0">
                <a:solidFill>
                  <a:srgbClr val="FF0000"/>
                </a:solidFill>
              </a:rPr>
              <a:t>Typical data warehouse design process</a:t>
            </a:r>
            <a:br>
              <a:rPr lang="en-US" b="1" dirty="0" smtClean="0">
                <a:solidFill>
                  <a:srgbClr val="FF0000"/>
                </a:solidFill>
              </a:rPr>
            </a:br>
            <a:endParaRPr lang="en-US" dirty="0"/>
          </a:p>
        </p:txBody>
      </p:sp>
      <p:sp>
        <p:nvSpPr>
          <p:cNvPr id="3" name="Content Placeholder 2"/>
          <p:cNvSpPr>
            <a:spLocks noGrp="1"/>
          </p:cNvSpPr>
          <p:nvPr>
            <p:ph sz="quarter" idx="1"/>
          </p:nvPr>
        </p:nvSpPr>
        <p:spPr>
          <a:xfrm>
            <a:off x="0" y="1371600"/>
            <a:ext cx="9144000" cy="5257800"/>
          </a:xfrm>
        </p:spPr>
        <p:txBody>
          <a:bodyPr>
            <a:normAutofit/>
          </a:bodyPr>
          <a:lstStyle/>
          <a:p>
            <a:pPr marL="514350" indent="-514350">
              <a:buFont typeface="+mj-lt"/>
              <a:buAutoNum type="arabicPeriod" startAt="4"/>
            </a:pPr>
            <a:r>
              <a:rPr lang="en-US" dirty="0" smtClean="0"/>
              <a:t>Choose the </a:t>
            </a:r>
            <a:r>
              <a:rPr lang="en-US" b="1" dirty="0" smtClean="0">
                <a:solidFill>
                  <a:srgbClr val="FF0000"/>
                </a:solidFill>
              </a:rPr>
              <a:t>measures </a:t>
            </a:r>
            <a:r>
              <a:rPr lang="en-US" dirty="0" smtClean="0"/>
              <a:t>that will populate each fact table record. Typical measures are numeric additive quantities like dollars sold and units sold.</a:t>
            </a:r>
          </a:p>
          <a:p>
            <a:pPr marL="514350" indent="-514350">
              <a:buFont typeface="+mj-lt"/>
              <a:buAutoNum type="arabicPeriod" startAt="4"/>
            </a:pPr>
            <a:endParaRPr lang="en-US" dirty="0" smtClean="0"/>
          </a:p>
          <a:p>
            <a:pPr algn="just">
              <a:buNone/>
            </a:pPr>
            <a:r>
              <a:rPr lang="en-US" dirty="0" smtClean="0"/>
              <a:t>   Since data warehouse construction is a difficult and a long term task, its implementation scope should be clearly defined in the beginning. The goals of an initial data warehouse should be specific, achievable and measurable</a:t>
            </a:r>
          </a:p>
          <a:p>
            <a:pPr marL="514350" indent="-514350">
              <a:buFont typeface="+mj-lt"/>
              <a:buAutoNum type="arabicPeriod"/>
            </a:pP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p:cNvSpPr>
            <a:spLocks noGrp="1"/>
          </p:cNvSpPr>
          <p:nvPr>
            <p:ph type="sldNum" sz="quarter" idx="12"/>
          </p:nvPr>
        </p:nvSpPr>
        <p:spPr>
          <a:noFill/>
        </p:spPr>
        <p:txBody>
          <a:bodyPr>
            <a:normAutofit fontScale="85000" lnSpcReduction="20000"/>
          </a:bodyPr>
          <a:lstStyle/>
          <a:p>
            <a:fld id="{CB550257-8F4C-4BD4-8D1E-39F7ACCBDB6D}" type="slidenum">
              <a:rPr lang="en-US" smtClean="0"/>
              <a:pPr/>
              <a:t>35</a:t>
            </a:fld>
            <a:endParaRPr lang="en-US" smtClean="0"/>
          </a:p>
        </p:txBody>
      </p:sp>
      <p:sp>
        <p:nvSpPr>
          <p:cNvPr id="41987" name="Rectangle 2"/>
          <p:cNvSpPr>
            <a:spLocks noGrp="1" noChangeArrowheads="1"/>
          </p:cNvSpPr>
          <p:nvPr>
            <p:ph type="title"/>
          </p:nvPr>
        </p:nvSpPr>
        <p:spPr>
          <a:xfrm>
            <a:off x="0" y="0"/>
            <a:ext cx="9144000" cy="1295400"/>
          </a:xfrm>
          <a:noFill/>
        </p:spPr>
        <p:txBody>
          <a:bodyPr lIns="92075" tIns="46038" rIns="92075" bIns="46038">
            <a:noAutofit/>
          </a:bodyPr>
          <a:lstStyle/>
          <a:p>
            <a:pPr algn="ctr" eaLnBrk="1" hangingPunct="1"/>
            <a:r>
              <a:rPr lang="en-US" sz="3600" dirty="0" smtClean="0">
                <a:solidFill>
                  <a:srgbClr val="0070C0"/>
                </a:solidFill>
                <a:latin typeface="Bernard MT Condensed" pitchFamily="18" charset="0"/>
              </a:rPr>
              <a:t>Data Warehouse Development: A Recommended Approach</a:t>
            </a:r>
          </a:p>
        </p:txBody>
      </p:sp>
      <p:sp>
        <p:nvSpPr>
          <p:cNvPr id="41988" name="Rectangle 3"/>
          <p:cNvSpPr>
            <a:spLocks noChangeArrowheads="1"/>
          </p:cNvSpPr>
          <p:nvPr/>
        </p:nvSpPr>
        <p:spPr bwMode="auto">
          <a:xfrm>
            <a:off x="609600" y="6019800"/>
            <a:ext cx="7772400" cy="533400"/>
          </a:xfrm>
          <a:prstGeom prst="rect">
            <a:avLst/>
          </a:prstGeom>
          <a:noFill/>
          <a:ln w="9525">
            <a:solidFill>
              <a:schemeClr val="tx1"/>
            </a:solidFill>
            <a:miter lim="800000"/>
            <a:headEnd/>
            <a:tailEnd/>
          </a:ln>
        </p:spPr>
        <p:txBody>
          <a:bodyPr wrap="none" anchor="ctr"/>
          <a:lstStyle/>
          <a:p>
            <a:endParaRPr lang="en-US"/>
          </a:p>
        </p:txBody>
      </p:sp>
      <p:sp>
        <p:nvSpPr>
          <p:cNvPr id="41989" name="Text Box 4"/>
          <p:cNvSpPr txBox="1">
            <a:spLocks noChangeArrowheads="1"/>
          </p:cNvSpPr>
          <p:nvPr/>
        </p:nvSpPr>
        <p:spPr bwMode="auto">
          <a:xfrm>
            <a:off x="1371600" y="6019800"/>
            <a:ext cx="6356350" cy="519113"/>
          </a:xfrm>
          <a:prstGeom prst="rect">
            <a:avLst/>
          </a:prstGeom>
          <a:noFill/>
          <a:ln w="9525">
            <a:noFill/>
            <a:miter lim="800000"/>
            <a:headEnd/>
            <a:tailEnd/>
          </a:ln>
        </p:spPr>
        <p:txBody>
          <a:bodyPr wrap="none">
            <a:spAutoFit/>
          </a:bodyPr>
          <a:lstStyle/>
          <a:p>
            <a:pPr eaLnBrk="0" hangingPunct="0"/>
            <a:r>
              <a:rPr lang="en-US" sz="2800" b="1">
                <a:latin typeface="Times New Roman" pitchFamily="18" charset="0"/>
              </a:rPr>
              <a:t>Define a high-level corporate data model</a:t>
            </a:r>
            <a:endParaRPr lang="en-US">
              <a:latin typeface="Times New Roman" pitchFamily="18" charset="0"/>
            </a:endParaRPr>
          </a:p>
        </p:txBody>
      </p:sp>
      <p:sp>
        <p:nvSpPr>
          <p:cNvPr id="41990" name="Rectangle 5"/>
          <p:cNvSpPr>
            <a:spLocks noChangeArrowheads="1"/>
          </p:cNvSpPr>
          <p:nvPr/>
        </p:nvSpPr>
        <p:spPr bwMode="auto">
          <a:xfrm>
            <a:off x="1066800" y="3886200"/>
            <a:ext cx="1295400" cy="762000"/>
          </a:xfrm>
          <a:prstGeom prst="rect">
            <a:avLst/>
          </a:prstGeom>
          <a:noFill/>
          <a:ln w="9525">
            <a:solidFill>
              <a:schemeClr val="tx1"/>
            </a:solidFill>
            <a:miter lim="800000"/>
            <a:headEnd/>
            <a:tailEnd/>
          </a:ln>
        </p:spPr>
        <p:txBody>
          <a:bodyPr wrap="none" anchor="ctr"/>
          <a:lstStyle/>
          <a:p>
            <a:endParaRPr lang="en-US"/>
          </a:p>
        </p:txBody>
      </p:sp>
      <p:sp>
        <p:nvSpPr>
          <p:cNvPr id="41991" name="Text Box 6"/>
          <p:cNvSpPr txBox="1">
            <a:spLocks noChangeArrowheads="1"/>
          </p:cNvSpPr>
          <p:nvPr/>
        </p:nvSpPr>
        <p:spPr bwMode="auto">
          <a:xfrm>
            <a:off x="1219200" y="3886200"/>
            <a:ext cx="1082675" cy="822325"/>
          </a:xfrm>
          <a:prstGeom prst="rect">
            <a:avLst/>
          </a:prstGeom>
          <a:noFill/>
          <a:ln w="9525">
            <a:noFill/>
            <a:miter lim="800000"/>
            <a:headEnd/>
            <a:tailEnd/>
          </a:ln>
        </p:spPr>
        <p:txBody>
          <a:bodyPr>
            <a:spAutoFit/>
          </a:bodyPr>
          <a:lstStyle/>
          <a:p>
            <a:pPr eaLnBrk="0" hangingPunct="0"/>
            <a:r>
              <a:rPr lang="en-US" b="1">
                <a:latin typeface="Times New Roman" pitchFamily="18" charset="0"/>
              </a:rPr>
              <a:t>Data Mart</a:t>
            </a:r>
          </a:p>
        </p:txBody>
      </p:sp>
      <p:sp>
        <p:nvSpPr>
          <p:cNvPr id="41992" name="Line 7"/>
          <p:cNvSpPr>
            <a:spLocks noChangeShapeType="1"/>
          </p:cNvSpPr>
          <p:nvPr/>
        </p:nvSpPr>
        <p:spPr bwMode="auto">
          <a:xfrm>
            <a:off x="2362200" y="4191000"/>
            <a:ext cx="152400" cy="0"/>
          </a:xfrm>
          <a:prstGeom prst="line">
            <a:avLst/>
          </a:prstGeom>
          <a:noFill/>
          <a:ln w="9525">
            <a:solidFill>
              <a:schemeClr val="tx1"/>
            </a:solidFill>
            <a:round/>
            <a:headEnd/>
            <a:tailEnd/>
          </a:ln>
        </p:spPr>
        <p:txBody>
          <a:bodyPr wrap="none" anchor="ctr"/>
          <a:lstStyle/>
          <a:p>
            <a:endParaRPr lang="en-US"/>
          </a:p>
        </p:txBody>
      </p:sp>
      <p:sp>
        <p:nvSpPr>
          <p:cNvPr id="41993" name="Line 8"/>
          <p:cNvSpPr>
            <a:spLocks noChangeShapeType="1"/>
          </p:cNvSpPr>
          <p:nvPr/>
        </p:nvSpPr>
        <p:spPr bwMode="auto">
          <a:xfrm>
            <a:off x="2514600" y="4191000"/>
            <a:ext cx="0" cy="1828800"/>
          </a:xfrm>
          <a:prstGeom prst="line">
            <a:avLst/>
          </a:prstGeom>
          <a:noFill/>
          <a:ln w="28575">
            <a:solidFill>
              <a:schemeClr val="tx1"/>
            </a:solidFill>
            <a:round/>
            <a:headEnd/>
            <a:tailEnd type="triangle" w="med" len="lg"/>
          </a:ln>
        </p:spPr>
        <p:txBody>
          <a:bodyPr wrap="none" anchor="ctr"/>
          <a:lstStyle/>
          <a:p>
            <a:endParaRPr lang="en-US"/>
          </a:p>
        </p:txBody>
      </p:sp>
      <p:sp>
        <p:nvSpPr>
          <p:cNvPr id="41994" name="Rectangle 9"/>
          <p:cNvSpPr>
            <a:spLocks noChangeArrowheads="1"/>
          </p:cNvSpPr>
          <p:nvPr/>
        </p:nvSpPr>
        <p:spPr bwMode="auto">
          <a:xfrm>
            <a:off x="2971800" y="3886200"/>
            <a:ext cx="1295400" cy="762000"/>
          </a:xfrm>
          <a:prstGeom prst="rect">
            <a:avLst/>
          </a:prstGeom>
          <a:noFill/>
          <a:ln w="9525">
            <a:solidFill>
              <a:schemeClr val="tx1"/>
            </a:solidFill>
            <a:miter lim="800000"/>
            <a:headEnd/>
            <a:tailEnd/>
          </a:ln>
        </p:spPr>
        <p:txBody>
          <a:bodyPr wrap="none" anchor="ctr"/>
          <a:lstStyle/>
          <a:p>
            <a:endParaRPr lang="en-US"/>
          </a:p>
        </p:txBody>
      </p:sp>
      <p:sp>
        <p:nvSpPr>
          <p:cNvPr id="41995" name="Text Box 10"/>
          <p:cNvSpPr txBox="1">
            <a:spLocks noChangeArrowheads="1"/>
          </p:cNvSpPr>
          <p:nvPr/>
        </p:nvSpPr>
        <p:spPr bwMode="auto">
          <a:xfrm>
            <a:off x="3124200" y="3886200"/>
            <a:ext cx="1082675" cy="822325"/>
          </a:xfrm>
          <a:prstGeom prst="rect">
            <a:avLst/>
          </a:prstGeom>
          <a:noFill/>
          <a:ln w="9525">
            <a:noFill/>
            <a:miter lim="800000"/>
            <a:headEnd/>
            <a:tailEnd/>
          </a:ln>
        </p:spPr>
        <p:txBody>
          <a:bodyPr>
            <a:spAutoFit/>
          </a:bodyPr>
          <a:lstStyle/>
          <a:p>
            <a:pPr eaLnBrk="0" hangingPunct="0"/>
            <a:r>
              <a:rPr lang="en-US" b="1">
                <a:latin typeface="Times New Roman" pitchFamily="18" charset="0"/>
              </a:rPr>
              <a:t>Data Mart</a:t>
            </a:r>
          </a:p>
        </p:txBody>
      </p:sp>
      <p:sp>
        <p:nvSpPr>
          <p:cNvPr id="41996" name="Line 11"/>
          <p:cNvSpPr>
            <a:spLocks noChangeShapeType="1"/>
          </p:cNvSpPr>
          <p:nvPr/>
        </p:nvSpPr>
        <p:spPr bwMode="auto">
          <a:xfrm>
            <a:off x="4267200" y="4191000"/>
            <a:ext cx="152400" cy="0"/>
          </a:xfrm>
          <a:prstGeom prst="line">
            <a:avLst/>
          </a:prstGeom>
          <a:noFill/>
          <a:ln w="9525">
            <a:solidFill>
              <a:schemeClr val="tx1"/>
            </a:solidFill>
            <a:round/>
            <a:headEnd/>
            <a:tailEnd/>
          </a:ln>
        </p:spPr>
        <p:txBody>
          <a:bodyPr wrap="none" anchor="ctr"/>
          <a:lstStyle/>
          <a:p>
            <a:endParaRPr lang="en-US"/>
          </a:p>
        </p:txBody>
      </p:sp>
      <p:sp>
        <p:nvSpPr>
          <p:cNvPr id="41997" name="Line 12"/>
          <p:cNvSpPr>
            <a:spLocks noChangeShapeType="1"/>
          </p:cNvSpPr>
          <p:nvPr/>
        </p:nvSpPr>
        <p:spPr bwMode="auto">
          <a:xfrm>
            <a:off x="4419600" y="4191000"/>
            <a:ext cx="0" cy="1828800"/>
          </a:xfrm>
          <a:prstGeom prst="line">
            <a:avLst/>
          </a:prstGeom>
          <a:noFill/>
          <a:ln w="28575">
            <a:solidFill>
              <a:schemeClr val="tx1"/>
            </a:solidFill>
            <a:round/>
            <a:headEnd/>
            <a:tailEnd type="triangle" w="med" len="lg"/>
          </a:ln>
        </p:spPr>
        <p:txBody>
          <a:bodyPr wrap="none" anchor="ctr"/>
          <a:lstStyle/>
          <a:p>
            <a:endParaRPr lang="en-US"/>
          </a:p>
        </p:txBody>
      </p:sp>
      <p:sp>
        <p:nvSpPr>
          <p:cNvPr id="41998" name="Line 13"/>
          <p:cNvSpPr>
            <a:spLocks noChangeShapeType="1"/>
          </p:cNvSpPr>
          <p:nvPr/>
        </p:nvSpPr>
        <p:spPr bwMode="auto">
          <a:xfrm flipV="1">
            <a:off x="3505200" y="4648200"/>
            <a:ext cx="0" cy="1371600"/>
          </a:xfrm>
          <a:prstGeom prst="line">
            <a:avLst/>
          </a:prstGeom>
          <a:noFill/>
          <a:ln w="28575">
            <a:solidFill>
              <a:schemeClr val="tx1"/>
            </a:solidFill>
            <a:round/>
            <a:headEnd/>
            <a:tailEnd type="triangle" w="lg" len="lg"/>
          </a:ln>
        </p:spPr>
        <p:txBody>
          <a:bodyPr wrap="none" anchor="ctr"/>
          <a:lstStyle/>
          <a:p>
            <a:endParaRPr lang="en-US"/>
          </a:p>
        </p:txBody>
      </p:sp>
      <p:sp>
        <p:nvSpPr>
          <p:cNvPr id="41999" name="Line 14"/>
          <p:cNvSpPr>
            <a:spLocks noChangeShapeType="1"/>
          </p:cNvSpPr>
          <p:nvPr/>
        </p:nvSpPr>
        <p:spPr bwMode="auto">
          <a:xfrm flipV="1">
            <a:off x="1676400" y="4648200"/>
            <a:ext cx="0" cy="1371600"/>
          </a:xfrm>
          <a:prstGeom prst="line">
            <a:avLst/>
          </a:prstGeom>
          <a:noFill/>
          <a:ln w="28575">
            <a:solidFill>
              <a:schemeClr val="tx1"/>
            </a:solidFill>
            <a:round/>
            <a:headEnd/>
            <a:tailEnd type="triangle" w="lg" len="lg"/>
          </a:ln>
        </p:spPr>
        <p:txBody>
          <a:bodyPr wrap="none" anchor="ctr"/>
          <a:lstStyle/>
          <a:p>
            <a:endParaRPr lang="en-US"/>
          </a:p>
        </p:txBody>
      </p:sp>
      <p:sp>
        <p:nvSpPr>
          <p:cNvPr id="42000" name="Rectangle 15"/>
          <p:cNvSpPr>
            <a:spLocks noChangeArrowheads="1"/>
          </p:cNvSpPr>
          <p:nvPr/>
        </p:nvSpPr>
        <p:spPr bwMode="auto">
          <a:xfrm>
            <a:off x="1981200" y="2209800"/>
            <a:ext cx="1752600" cy="990600"/>
          </a:xfrm>
          <a:prstGeom prst="rect">
            <a:avLst/>
          </a:prstGeom>
          <a:noFill/>
          <a:ln w="9525">
            <a:solidFill>
              <a:schemeClr val="tx1"/>
            </a:solidFill>
            <a:miter lim="800000"/>
            <a:headEnd/>
            <a:tailEnd/>
          </a:ln>
        </p:spPr>
        <p:txBody>
          <a:bodyPr wrap="none" anchor="ctr"/>
          <a:lstStyle/>
          <a:p>
            <a:endParaRPr lang="en-US"/>
          </a:p>
        </p:txBody>
      </p:sp>
      <p:sp>
        <p:nvSpPr>
          <p:cNvPr id="42001" name="Rectangle 16"/>
          <p:cNvSpPr>
            <a:spLocks noChangeArrowheads="1"/>
          </p:cNvSpPr>
          <p:nvPr/>
        </p:nvSpPr>
        <p:spPr bwMode="auto">
          <a:xfrm>
            <a:off x="5486400" y="3657600"/>
            <a:ext cx="1981200" cy="1295400"/>
          </a:xfrm>
          <a:prstGeom prst="rect">
            <a:avLst/>
          </a:prstGeom>
          <a:noFill/>
          <a:ln w="9525">
            <a:solidFill>
              <a:schemeClr val="tx1"/>
            </a:solidFill>
            <a:miter lim="800000"/>
            <a:headEnd/>
            <a:tailEnd/>
          </a:ln>
        </p:spPr>
        <p:txBody>
          <a:bodyPr wrap="none" anchor="ctr"/>
          <a:lstStyle/>
          <a:p>
            <a:endParaRPr lang="en-US"/>
          </a:p>
        </p:txBody>
      </p:sp>
      <p:sp>
        <p:nvSpPr>
          <p:cNvPr id="42002" name="Rectangle 17"/>
          <p:cNvSpPr>
            <a:spLocks noChangeArrowheads="1"/>
          </p:cNvSpPr>
          <p:nvPr/>
        </p:nvSpPr>
        <p:spPr bwMode="auto">
          <a:xfrm>
            <a:off x="5257800" y="1447800"/>
            <a:ext cx="2438400" cy="1219200"/>
          </a:xfrm>
          <a:prstGeom prst="rect">
            <a:avLst/>
          </a:prstGeom>
          <a:noFill/>
          <a:ln w="9525">
            <a:solidFill>
              <a:schemeClr val="tx1"/>
            </a:solidFill>
            <a:miter lim="800000"/>
            <a:headEnd/>
            <a:tailEnd/>
          </a:ln>
        </p:spPr>
        <p:txBody>
          <a:bodyPr wrap="none" anchor="ctr"/>
          <a:lstStyle/>
          <a:p>
            <a:endParaRPr lang="en-US"/>
          </a:p>
        </p:txBody>
      </p:sp>
      <p:sp>
        <p:nvSpPr>
          <p:cNvPr id="42003" name="Line 18"/>
          <p:cNvSpPr>
            <a:spLocks noChangeShapeType="1"/>
          </p:cNvSpPr>
          <p:nvPr/>
        </p:nvSpPr>
        <p:spPr bwMode="auto">
          <a:xfrm>
            <a:off x="3733800" y="2667000"/>
            <a:ext cx="1066800" cy="0"/>
          </a:xfrm>
          <a:prstGeom prst="line">
            <a:avLst/>
          </a:prstGeom>
          <a:noFill/>
          <a:ln w="9525">
            <a:solidFill>
              <a:schemeClr val="tx1"/>
            </a:solidFill>
            <a:round/>
            <a:headEnd/>
            <a:tailEnd/>
          </a:ln>
        </p:spPr>
        <p:txBody>
          <a:bodyPr wrap="none" anchor="ctr"/>
          <a:lstStyle/>
          <a:p>
            <a:endParaRPr lang="en-US"/>
          </a:p>
        </p:txBody>
      </p:sp>
      <p:sp>
        <p:nvSpPr>
          <p:cNvPr id="42004" name="Line 19"/>
          <p:cNvSpPr>
            <a:spLocks noChangeShapeType="1"/>
          </p:cNvSpPr>
          <p:nvPr/>
        </p:nvSpPr>
        <p:spPr bwMode="auto">
          <a:xfrm>
            <a:off x="4800600" y="2667000"/>
            <a:ext cx="0" cy="3352800"/>
          </a:xfrm>
          <a:prstGeom prst="line">
            <a:avLst/>
          </a:prstGeom>
          <a:noFill/>
          <a:ln w="28575">
            <a:solidFill>
              <a:schemeClr val="tx1"/>
            </a:solidFill>
            <a:round/>
            <a:headEnd/>
            <a:tailEnd type="triangle" w="med" len="lg"/>
          </a:ln>
        </p:spPr>
        <p:txBody>
          <a:bodyPr wrap="none" anchor="ctr"/>
          <a:lstStyle/>
          <a:p>
            <a:endParaRPr lang="en-US"/>
          </a:p>
        </p:txBody>
      </p:sp>
      <p:sp>
        <p:nvSpPr>
          <p:cNvPr id="42005" name="Line 20"/>
          <p:cNvSpPr>
            <a:spLocks noChangeShapeType="1"/>
          </p:cNvSpPr>
          <p:nvPr/>
        </p:nvSpPr>
        <p:spPr bwMode="auto">
          <a:xfrm>
            <a:off x="5105400" y="4191000"/>
            <a:ext cx="0" cy="1828800"/>
          </a:xfrm>
          <a:prstGeom prst="line">
            <a:avLst/>
          </a:prstGeom>
          <a:noFill/>
          <a:ln w="28575">
            <a:solidFill>
              <a:schemeClr val="tx1"/>
            </a:solidFill>
            <a:round/>
            <a:headEnd/>
            <a:tailEnd type="triangle" w="med" len="lg"/>
          </a:ln>
        </p:spPr>
        <p:txBody>
          <a:bodyPr wrap="none" anchor="ctr"/>
          <a:lstStyle/>
          <a:p>
            <a:endParaRPr lang="en-US"/>
          </a:p>
        </p:txBody>
      </p:sp>
      <p:sp>
        <p:nvSpPr>
          <p:cNvPr id="42006" name="Line 21"/>
          <p:cNvSpPr>
            <a:spLocks noChangeShapeType="1"/>
          </p:cNvSpPr>
          <p:nvPr/>
        </p:nvSpPr>
        <p:spPr bwMode="auto">
          <a:xfrm>
            <a:off x="5105400" y="4191000"/>
            <a:ext cx="381000" cy="0"/>
          </a:xfrm>
          <a:prstGeom prst="line">
            <a:avLst/>
          </a:prstGeom>
          <a:noFill/>
          <a:ln w="9525">
            <a:solidFill>
              <a:schemeClr val="tx1"/>
            </a:solidFill>
            <a:round/>
            <a:headEnd/>
            <a:tailEnd/>
          </a:ln>
        </p:spPr>
        <p:txBody>
          <a:bodyPr wrap="none" anchor="ctr"/>
          <a:lstStyle/>
          <a:p>
            <a:endParaRPr lang="en-US"/>
          </a:p>
        </p:txBody>
      </p:sp>
      <p:sp>
        <p:nvSpPr>
          <p:cNvPr id="42007" name="Line 22"/>
          <p:cNvSpPr>
            <a:spLocks noChangeShapeType="1"/>
          </p:cNvSpPr>
          <p:nvPr/>
        </p:nvSpPr>
        <p:spPr bwMode="auto">
          <a:xfrm flipV="1">
            <a:off x="1676400" y="3200400"/>
            <a:ext cx="1066800" cy="685800"/>
          </a:xfrm>
          <a:prstGeom prst="line">
            <a:avLst/>
          </a:prstGeom>
          <a:noFill/>
          <a:ln w="28575">
            <a:solidFill>
              <a:schemeClr val="tx1"/>
            </a:solidFill>
            <a:round/>
            <a:headEnd/>
            <a:tailEnd type="triangle" w="lg" len="lg"/>
          </a:ln>
        </p:spPr>
        <p:txBody>
          <a:bodyPr wrap="none" anchor="ctr"/>
          <a:lstStyle/>
          <a:p>
            <a:endParaRPr lang="en-US"/>
          </a:p>
        </p:txBody>
      </p:sp>
      <p:sp>
        <p:nvSpPr>
          <p:cNvPr id="42008" name="Line 23"/>
          <p:cNvSpPr>
            <a:spLocks noChangeShapeType="1"/>
          </p:cNvSpPr>
          <p:nvPr/>
        </p:nvSpPr>
        <p:spPr bwMode="auto">
          <a:xfrm flipV="1">
            <a:off x="3200400" y="1981200"/>
            <a:ext cx="2057400" cy="228600"/>
          </a:xfrm>
          <a:prstGeom prst="line">
            <a:avLst/>
          </a:prstGeom>
          <a:noFill/>
          <a:ln w="28575">
            <a:solidFill>
              <a:schemeClr val="tx1"/>
            </a:solidFill>
            <a:round/>
            <a:headEnd/>
            <a:tailEnd type="triangle" w="lg" len="lg"/>
          </a:ln>
        </p:spPr>
        <p:txBody>
          <a:bodyPr wrap="none" anchor="ctr"/>
          <a:lstStyle/>
          <a:p>
            <a:endParaRPr lang="en-US"/>
          </a:p>
        </p:txBody>
      </p:sp>
      <p:sp>
        <p:nvSpPr>
          <p:cNvPr id="42009" name="Line 24"/>
          <p:cNvSpPr>
            <a:spLocks noChangeShapeType="1"/>
          </p:cNvSpPr>
          <p:nvPr/>
        </p:nvSpPr>
        <p:spPr bwMode="auto">
          <a:xfrm flipH="1" flipV="1">
            <a:off x="2895600" y="3200400"/>
            <a:ext cx="762000" cy="685800"/>
          </a:xfrm>
          <a:prstGeom prst="line">
            <a:avLst/>
          </a:prstGeom>
          <a:noFill/>
          <a:ln w="28575">
            <a:solidFill>
              <a:schemeClr val="tx1"/>
            </a:solidFill>
            <a:round/>
            <a:headEnd/>
            <a:tailEnd type="triangle" w="lg" len="lg"/>
          </a:ln>
        </p:spPr>
        <p:txBody>
          <a:bodyPr wrap="none" anchor="ctr"/>
          <a:lstStyle/>
          <a:p>
            <a:endParaRPr lang="en-US"/>
          </a:p>
        </p:txBody>
      </p:sp>
      <p:sp>
        <p:nvSpPr>
          <p:cNvPr id="42010" name="Line 25"/>
          <p:cNvSpPr>
            <a:spLocks noChangeShapeType="1"/>
          </p:cNvSpPr>
          <p:nvPr/>
        </p:nvSpPr>
        <p:spPr bwMode="auto">
          <a:xfrm flipV="1">
            <a:off x="6477000" y="4953000"/>
            <a:ext cx="0" cy="1066800"/>
          </a:xfrm>
          <a:prstGeom prst="line">
            <a:avLst/>
          </a:prstGeom>
          <a:noFill/>
          <a:ln w="28575">
            <a:solidFill>
              <a:schemeClr val="tx1"/>
            </a:solidFill>
            <a:round/>
            <a:headEnd/>
            <a:tailEnd type="triangle" w="lg" len="lg"/>
          </a:ln>
        </p:spPr>
        <p:txBody>
          <a:bodyPr wrap="none" anchor="ctr"/>
          <a:lstStyle/>
          <a:p>
            <a:endParaRPr lang="en-US"/>
          </a:p>
        </p:txBody>
      </p:sp>
      <p:sp>
        <p:nvSpPr>
          <p:cNvPr id="42011" name="Line 26"/>
          <p:cNvSpPr>
            <a:spLocks noChangeShapeType="1"/>
          </p:cNvSpPr>
          <p:nvPr/>
        </p:nvSpPr>
        <p:spPr bwMode="auto">
          <a:xfrm flipV="1">
            <a:off x="6400800" y="2667000"/>
            <a:ext cx="0" cy="990600"/>
          </a:xfrm>
          <a:prstGeom prst="line">
            <a:avLst/>
          </a:prstGeom>
          <a:noFill/>
          <a:ln w="28575">
            <a:solidFill>
              <a:schemeClr val="tx1"/>
            </a:solidFill>
            <a:round/>
            <a:headEnd/>
            <a:tailEnd type="triangle" w="lg" len="lg"/>
          </a:ln>
        </p:spPr>
        <p:txBody>
          <a:bodyPr wrap="none" anchor="ctr"/>
          <a:lstStyle/>
          <a:p>
            <a:endParaRPr lang="en-US"/>
          </a:p>
        </p:txBody>
      </p:sp>
      <p:sp>
        <p:nvSpPr>
          <p:cNvPr id="42012" name="Text Box 27"/>
          <p:cNvSpPr txBox="1">
            <a:spLocks noChangeArrowheads="1"/>
          </p:cNvSpPr>
          <p:nvPr/>
        </p:nvSpPr>
        <p:spPr bwMode="auto">
          <a:xfrm>
            <a:off x="1981200" y="2209800"/>
            <a:ext cx="1905000" cy="646331"/>
          </a:xfrm>
          <a:prstGeom prst="rect">
            <a:avLst/>
          </a:prstGeom>
          <a:noFill/>
          <a:ln w="9525">
            <a:noFill/>
            <a:miter lim="800000"/>
            <a:headEnd/>
            <a:tailEnd/>
          </a:ln>
        </p:spPr>
        <p:txBody>
          <a:bodyPr>
            <a:spAutoFit/>
          </a:bodyPr>
          <a:lstStyle/>
          <a:p>
            <a:pPr algn="ctr" eaLnBrk="0" hangingPunct="0">
              <a:spcBef>
                <a:spcPct val="50000"/>
              </a:spcBef>
            </a:pPr>
            <a:r>
              <a:rPr lang="en-US" b="1" dirty="0">
                <a:latin typeface="Times New Roman" pitchFamily="18" charset="0"/>
              </a:rPr>
              <a:t>Distributed Data Marts</a:t>
            </a:r>
            <a:endParaRPr lang="en-US" dirty="0">
              <a:latin typeface="Times New Roman" pitchFamily="18" charset="0"/>
            </a:endParaRPr>
          </a:p>
        </p:txBody>
      </p:sp>
      <p:sp>
        <p:nvSpPr>
          <p:cNvPr id="42013" name="Rectangle 28"/>
          <p:cNvSpPr>
            <a:spLocks noChangeArrowheads="1"/>
          </p:cNvSpPr>
          <p:nvPr/>
        </p:nvSpPr>
        <p:spPr bwMode="auto">
          <a:xfrm>
            <a:off x="5334000" y="1676400"/>
            <a:ext cx="2362200" cy="822325"/>
          </a:xfrm>
          <a:prstGeom prst="rect">
            <a:avLst/>
          </a:prstGeom>
          <a:noFill/>
          <a:ln w="9525">
            <a:noFill/>
            <a:miter lim="800000"/>
            <a:headEnd/>
            <a:tailEnd/>
          </a:ln>
        </p:spPr>
        <p:txBody>
          <a:bodyPr>
            <a:spAutoFit/>
          </a:bodyPr>
          <a:lstStyle/>
          <a:p>
            <a:pPr eaLnBrk="0" hangingPunct="0">
              <a:spcBef>
                <a:spcPct val="50000"/>
              </a:spcBef>
            </a:pPr>
            <a:r>
              <a:rPr lang="en-US" b="1" dirty="0">
                <a:latin typeface="Times New Roman" pitchFamily="18" charset="0"/>
              </a:rPr>
              <a:t>Multi-Tier Data Warehouse</a:t>
            </a:r>
            <a:endParaRPr lang="en-US" sz="2000" b="1" dirty="0">
              <a:latin typeface="Times New Roman" pitchFamily="18" charset="0"/>
            </a:endParaRPr>
          </a:p>
        </p:txBody>
      </p:sp>
      <p:sp>
        <p:nvSpPr>
          <p:cNvPr id="42014" name="Rectangle 29"/>
          <p:cNvSpPr>
            <a:spLocks noChangeArrowheads="1"/>
          </p:cNvSpPr>
          <p:nvPr/>
        </p:nvSpPr>
        <p:spPr bwMode="auto">
          <a:xfrm>
            <a:off x="5638800" y="3733800"/>
            <a:ext cx="1752600" cy="1187450"/>
          </a:xfrm>
          <a:prstGeom prst="rect">
            <a:avLst/>
          </a:prstGeom>
          <a:noFill/>
          <a:ln w="9525">
            <a:noFill/>
            <a:miter lim="800000"/>
            <a:headEnd/>
            <a:tailEnd/>
          </a:ln>
        </p:spPr>
        <p:txBody>
          <a:bodyPr>
            <a:spAutoFit/>
          </a:bodyPr>
          <a:lstStyle/>
          <a:p>
            <a:pPr eaLnBrk="0" hangingPunct="0">
              <a:spcBef>
                <a:spcPct val="50000"/>
              </a:spcBef>
            </a:pPr>
            <a:r>
              <a:rPr lang="en-US" b="1">
                <a:latin typeface="Times New Roman" pitchFamily="18" charset="0"/>
              </a:rPr>
              <a:t>Enterprise Data Warehouse</a:t>
            </a:r>
          </a:p>
        </p:txBody>
      </p:sp>
      <p:sp>
        <p:nvSpPr>
          <p:cNvPr id="42015" name="Text Box 30"/>
          <p:cNvSpPr txBox="1">
            <a:spLocks noChangeArrowheads="1"/>
          </p:cNvSpPr>
          <p:nvPr/>
        </p:nvSpPr>
        <p:spPr bwMode="auto">
          <a:xfrm>
            <a:off x="3733800" y="5334000"/>
            <a:ext cx="2209800" cy="366713"/>
          </a:xfrm>
          <a:prstGeom prst="rect">
            <a:avLst/>
          </a:prstGeom>
          <a:noFill/>
          <a:ln w="9525">
            <a:noFill/>
            <a:miter lim="800000"/>
            <a:headEnd/>
            <a:tailEnd/>
          </a:ln>
        </p:spPr>
        <p:txBody>
          <a:bodyPr>
            <a:spAutoFit/>
          </a:bodyPr>
          <a:lstStyle/>
          <a:p>
            <a:pPr eaLnBrk="0" hangingPunct="0">
              <a:spcBef>
                <a:spcPct val="50000"/>
              </a:spcBef>
            </a:pPr>
            <a:r>
              <a:rPr lang="en-US" sz="1800" b="1">
                <a:latin typeface="Times New Roman" pitchFamily="18" charset="0"/>
              </a:rPr>
              <a:t>Model refinement</a:t>
            </a:r>
            <a:endParaRPr lang="en-US" sz="2000" b="1">
              <a:latin typeface="Times New Roman" pitchFamily="18" charset="0"/>
            </a:endParaRPr>
          </a:p>
        </p:txBody>
      </p:sp>
      <p:sp>
        <p:nvSpPr>
          <p:cNvPr id="42016" name="Rectangle 31"/>
          <p:cNvSpPr>
            <a:spLocks noChangeArrowheads="1"/>
          </p:cNvSpPr>
          <p:nvPr/>
        </p:nvSpPr>
        <p:spPr bwMode="auto">
          <a:xfrm>
            <a:off x="1676400" y="5334000"/>
            <a:ext cx="1930400" cy="366713"/>
          </a:xfrm>
          <a:prstGeom prst="rect">
            <a:avLst/>
          </a:prstGeom>
          <a:noFill/>
          <a:ln w="9525">
            <a:noFill/>
            <a:miter lim="800000"/>
            <a:headEnd/>
            <a:tailEnd/>
          </a:ln>
        </p:spPr>
        <p:txBody>
          <a:bodyPr wrap="none">
            <a:spAutoFit/>
          </a:bodyPr>
          <a:lstStyle/>
          <a:p>
            <a:pPr eaLnBrk="0" hangingPunct="0"/>
            <a:r>
              <a:rPr lang="en-US" sz="1800" b="1">
                <a:latin typeface="Times New Roman" pitchFamily="18" charset="0"/>
              </a:rPr>
              <a:t>Model refinement</a:t>
            </a:r>
            <a:endParaRPr lang="en-US" sz="2000" b="1">
              <a:latin typeface="Times New Roman" pitchFamily="18" charset="0"/>
            </a:endParaRPr>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3"/>
          <p:cNvSpPr>
            <a:spLocks noGrp="1"/>
          </p:cNvSpPr>
          <p:nvPr>
            <p:ph type="sldNum" sz="quarter" idx="12"/>
          </p:nvPr>
        </p:nvSpPr>
        <p:spPr>
          <a:noFill/>
        </p:spPr>
        <p:txBody>
          <a:bodyPr/>
          <a:lstStyle/>
          <a:p>
            <a:fld id="{23E44C1E-16FE-4193-9F39-06FEAAD99E56}" type="slidenum">
              <a:rPr lang="en-US" smtClean="0"/>
              <a:pPr/>
              <a:t>36</a:t>
            </a:fld>
            <a:endParaRPr lang="en-US" smtClean="0"/>
          </a:p>
        </p:txBody>
      </p:sp>
      <p:sp>
        <p:nvSpPr>
          <p:cNvPr id="17411" name="AutoShape 2"/>
          <p:cNvSpPr>
            <a:spLocks noChangeArrowheads="1"/>
          </p:cNvSpPr>
          <p:nvPr/>
        </p:nvSpPr>
        <p:spPr bwMode="auto">
          <a:xfrm>
            <a:off x="3124200" y="2895600"/>
            <a:ext cx="2011363" cy="1600200"/>
          </a:xfrm>
          <a:prstGeom prst="flowChartMagneticDisk">
            <a:avLst/>
          </a:prstGeom>
          <a:solidFill>
            <a:srgbClr val="6666FF"/>
          </a:solidFill>
          <a:ln w="9525">
            <a:solidFill>
              <a:srgbClr val="000000"/>
            </a:solidFill>
            <a:round/>
            <a:headEnd/>
            <a:tailEnd/>
          </a:ln>
        </p:spPr>
        <p:txBody>
          <a:bodyPr anchor="ctr">
            <a:spAutoFit/>
          </a:bodyPr>
          <a:lstStyle/>
          <a:p>
            <a:endParaRPr lang="en-US"/>
          </a:p>
        </p:txBody>
      </p:sp>
      <p:sp>
        <p:nvSpPr>
          <p:cNvPr id="1488899" name="Rectangle 3"/>
          <p:cNvSpPr>
            <a:spLocks noChangeArrowheads="1"/>
          </p:cNvSpPr>
          <p:nvPr/>
        </p:nvSpPr>
        <p:spPr bwMode="auto">
          <a:xfrm>
            <a:off x="304800" y="457200"/>
            <a:ext cx="8534400" cy="609600"/>
          </a:xfrm>
          <a:prstGeom prst="rect">
            <a:avLst/>
          </a:prstGeom>
          <a:solidFill>
            <a:schemeClr val="bg1"/>
          </a:solidFill>
          <a:ln w="9525">
            <a:noFill/>
            <a:miter lim="800000"/>
            <a:headEnd/>
            <a:tailEnd/>
          </a:ln>
          <a:effectLst/>
        </p:spPr>
        <p:txBody>
          <a:bodyPr lIns="92075" tIns="46038" rIns="92075" bIns="46038" anchor="b"/>
          <a:lstStyle/>
          <a:p>
            <a:pPr eaLnBrk="0" hangingPunct="0">
              <a:defRPr/>
            </a:pPr>
            <a:r>
              <a:rPr lang="en-US" sz="3600" dirty="0">
                <a:solidFill>
                  <a:srgbClr val="0070C0"/>
                </a:solidFill>
                <a:latin typeface="Bernard MT Condensed" pitchFamily="18" charset="0"/>
                <a:ea typeface="+mj-ea"/>
                <a:cs typeface="+mj-cs"/>
              </a:rPr>
              <a:t>Data Warehouse: A Multi-Tiered Architecture</a:t>
            </a:r>
          </a:p>
        </p:txBody>
      </p:sp>
      <p:sp>
        <p:nvSpPr>
          <p:cNvPr id="17413" name="Rectangle 4"/>
          <p:cNvSpPr>
            <a:spLocks noChangeArrowheads="1"/>
          </p:cNvSpPr>
          <p:nvPr/>
        </p:nvSpPr>
        <p:spPr bwMode="auto">
          <a:xfrm>
            <a:off x="1295400" y="838200"/>
            <a:ext cx="6705600" cy="3886200"/>
          </a:xfrm>
          <a:prstGeom prst="rect">
            <a:avLst/>
          </a:prstGeom>
          <a:noFill/>
          <a:ln w="9525">
            <a:noFill/>
            <a:miter lim="800000"/>
            <a:headEnd/>
            <a:tailEnd/>
          </a:ln>
        </p:spPr>
        <p:txBody>
          <a:bodyPr wrap="none" anchor="ctr"/>
          <a:lstStyle/>
          <a:p>
            <a:endParaRPr lang="en-US"/>
          </a:p>
        </p:txBody>
      </p:sp>
      <p:sp>
        <p:nvSpPr>
          <p:cNvPr id="17414" name="Rectangle 5"/>
          <p:cNvSpPr>
            <a:spLocks noChangeArrowheads="1"/>
          </p:cNvSpPr>
          <p:nvPr/>
        </p:nvSpPr>
        <p:spPr bwMode="auto">
          <a:xfrm>
            <a:off x="3352800" y="3429000"/>
            <a:ext cx="1554163" cy="822325"/>
          </a:xfrm>
          <a:prstGeom prst="rect">
            <a:avLst/>
          </a:prstGeom>
          <a:noFill/>
          <a:ln w="9525">
            <a:noFill/>
            <a:miter lim="800000"/>
            <a:headEnd/>
            <a:tailEnd/>
          </a:ln>
        </p:spPr>
        <p:txBody>
          <a:bodyPr wrap="none" lIns="92075" tIns="46038" rIns="92075" bIns="46038">
            <a:spAutoFit/>
          </a:bodyPr>
          <a:lstStyle/>
          <a:p>
            <a:pPr algn="ctr" eaLnBrk="0" hangingPunct="0"/>
            <a:r>
              <a:rPr lang="en-US">
                <a:latin typeface="Times New Roman" pitchFamily="18" charset="0"/>
              </a:rPr>
              <a:t>Data</a:t>
            </a:r>
          </a:p>
          <a:p>
            <a:pPr algn="ctr" eaLnBrk="0" hangingPunct="0"/>
            <a:r>
              <a:rPr lang="en-US">
                <a:latin typeface="Times New Roman" pitchFamily="18" charset="0"/>
              </a:rPr>
              <a:t>Warehouse</a:t>
            </a:r>
          </a:p>
        </p:txBody>
      </p:sp>
      <p:sp>
        <p:nvSpPr>
          <p:cNvPr id="17415" name="Oval 6"/>
          <p:cNvSpPr>
            <a:spLocks noChangeArrowheads="1"/>
          </p:cNvSpPr>
          <p:nvPr/>
        </p:nvSpPr>
        <p:spPr bwMode="auto">
          <a:xfrm>
            <a:off x="6781800" y="2057400"/>
            <a:ext cx="1968500" cy="3568700"/>
          </a:xfrm>
          <a:prstGeom prst="ellipse">
            <a:avLst/>
          </a:prstGeom>
          <a:noFill/>
          <a:ln w="12700">
            <a:solidFill>
              <a:schemeClr val="tx1"/>
            </a:solidFill>
            <a:round/>
            <a:headEnd/>
            <a:tailEnd/>
          </a:ln>
        </p:spPr>
        <p:txBody>
          <a:bodyPr wrap="none" anchor="ctr"/>
          <a:lstStyle/>
          <a:p>
            <a:endParaRPr lang="en-US"/>
          </a:p>
        </p:txBody>
      </p:sp>
      <p:sp>
        <p:nvSpPr>
          <p:cNvPr id="17416" name="AutoShape 7"/>
          <p:cNvSpPr>
            <a:spLocks noChangeArrowheads="1"/>
          </p:cNvSpPr>
          <p:nvPr/>
        </p:nvSpPr>
        <p:spPr bwMode="auto">
          <a:xfrm>
            <a:off x="5492750" y="3206750"/>
            <a:ext cx="901700" cy="749300"/>
          </a:xfrm>
          <a:prstGeom prst="rightArrow">
            <a:avLst>
              <a:gd name="adj1" fmla="val 75009"/>
              <a:gd name="adj2" fmla="val 60175"/>
            </a:avLst>
          </a:prstGeom>
          <a:noFill/>
          <a:ln w="12700">
            <a:solidFill>
              <a:schemeClr val="tx1"/>
            </a:solidFill>
            <a:miter lim="800000"/>
            <a:headEnd/>
            <a:tailEnd/>
          </a:ln>
        </p:spPr>
        <p:txBody>
          <a:bodyPr wrap="none" anchor="ctr"/>
          <a:lstStyle/>
          <a:p>
            <a:endParaRPr lang="en-US"/>
          </a:p>
        </p:txBody>
      </p:sp>
      <p:grpSp>
        <p:nvGrpSpPr>
          <p:cNvPr id="2" name="Group 8"/>
          <p:cNvGrpSpPr>
            <a:grpSpLocks/>
          </p:cNvGrpSpPr>
          <p:nvPr/>
        </p:nvGrpSpPr>
        <p:grpSpPr bwMode="auto">
          <a:xfrm>
            <a:off x="1905000" y="2667000"/>
            <a:ext cx="1228725" cy="2197100"/>
            <a:chOff x="1238" y="1876"/>
            <a:chExt cx="774" cy="1384"/>
          </a:xfrm>
        </p:grpSpPr>
        <p:sp>
          <p:nvSpPr>
            <p:cNvPr id="17460" name="AutoShape 9"/>
            <p:cNvSpPr>
              <a:spLocks noChangeArrowheads="1"/>
            </p:cNvSpPr>
            <p:nvPr/>
          </p:nvSpPr>
          <p:spPr bwMode="auto">
            <a:xfrm>
              <a:off x="1252" y="1876"/>
              <a:ext cx="760" cy="1384"/>
            </a:xfrm>
            <a:prstGeom prst="rightArrow">
              <a:avLst>
                <a:gd name="adj1" fmla="val 75009"/>
                <a:gd name="adj2" fmla="val 50005"/>
              </a:avLst>
            </a:prstGeom>
            <a:noFill/>
            <a:ln w="12700">
              <a:solidFill>
                <a:schemeClr val="tx1"/>
              </a:solidFill>
              <a:miter lim="800000"/>
              <a:headEnd/>
              <a:tailEnd/>
            </a:ln>
          </p:spPr>
          <p:txBody>
            <a:bodyPr wrap="none" anchor="ctr"/>
            <a:lstStyle/>
            <a:p>
              <a:endParaRPr lang="en-US"/>
            </a:p>
          </p:txBody>
        </p:sp>
        <p:sp>
          <p:nvSpPr>
            <p:cNvPr id="17461" name="Rectangle 10"/>
            <p:cNvSpPr>
              <a:spLocks noChangeArrowheads="1"/>
            </p:cNvSpPr>
            <p:nvPr/>
          </p:nvSpPr>
          <p:spPr bwMode="auto">
            <a:xfrm>
              <a:off x="1238" y="2193"/>
              <a:ext cx="724" cy="750"/>
            </a:xfrm>
            <a:prstGeom prst="rect">
              <a:avLst/>
            </a:prstGeom>
            <a:noFill/>
            <a:ln w="9525">
              <a:noFill/>
              <a:miter lim="800000"/>
              <a:headEnd/>
              <a:tailEnd/>
            </a:ln>
          </p:spPr>
          <p:txBody>
            <a:bodyPr wrap="none" lIns="92075" tIns="46038" rIns="92075" bIns="46038">
              <a:spAutoFit/>
            </a:bodyPr>
            <a:lstStyle/>
            <a:p>
              <a:pPr eaLnBrk="0" hangingPunct="0"/>
              <a:r>
                <a:rPr lang="en-US" sz="1800">
                  <a:latin typeface="Times New Roman" pitchFamily="18" charset="0"/>
                </a:rPr>
                <a:t>Extract</a:t>
              </a:r>
            </a:p>
            <a:p>
              <a:pPr eaLnBrk="0" hangingPunct="0"/>
              <a:r>
                <a:rPr lang="en-US" sz="1800">
                  <a:latin typeface="Times New Roman" pitchFamily="18" charset="0"/>
                </a:rPr>
                <a:t>Transform</a:t>
              </a:r>
            </a:p>
            <a:p>
              <a:pPr eaLnBrk="0" hangingPunct="0"/>
              <a:r>
                <a:rPr lang="en-US" sz="1800">
                  <a:latin typeface="Times New Roman" pitchFamily="18" charset="0"/>
                </a:rPr>
                <a:t>Load</a:t>
              </a:r>
            </a:p>
            <a:p>
              <a:pPr eaLnBrk="0" hangingPunct="0"/>
              <a:r>
                <a:rPr lang="en-US" sz="1800">
                  <a:latin typeface="Times New Roman" pitchFamily="18" charset="0"/>
                </a:rPr>
                <a:t>Refresh</a:t>
              </a:r>
            </a:p>
          </p:txBody>
        </p:sp>
      </p:grpSp>
      <p:sp>
        <p:nvSpPr>
          <p:cNvPr id="17418" name="Rectangle 11"/>
          <p:cNvSpPr>
            <a:spLocks noChangeArrowheads="1"/>
          </p:cNvSpPr>
          <p:nvPr/>
        </p:nvSpPr>
        <p:spPr bwMode="auto">
          <a:xfrm>
            <a:off x="4953000" y="6172200"/>
            <a:ext cx="1905000" cy="365125"/>
          </a:xfrm>
          <a:prstGeom prst="rect">
            <a:avLst/>
          </a:prstGeom>
          <a:noFill/>
          <a:ln w="9525">
            <a:noFill/>
            <a:miter lim="800000"/>
            <a:headEnd/>
            <a:tailEnd/>
          </a:ln>
        </p:spPr>
        <p:txBody>
          <a:bodyPr lIns="0" tIns="0" rIns="0" bIns="0">
            <a:spAutoFit/>
          </a:bodyPr>
          <a:lstStyle/>
          <a:p>
            <a:pPr algn="ctr" eaLnBrk="0" hangingPunct="0"/>
            <a:r>
              <a:rPr lang="en-US">
                <a:latin typeface="Times New Roman" pitchFamily="18" charset="0"/>
              </a:rPr>
              <a:t>OLAP Engine</a:t>
            </a:r>
          </a:p>
        </p:txBody>
      </p:sp>
      <p:sp>
        <p:nvSpPr>
          <p:cNvPr id="17419" name="Rectangle 12"/>
          <p:cNvSpPr>
            <a:spLocks noChangeArrowheads="1"/>
          </p:cNvSpPr>
          <p:nvPr/>
        </p:nvSpPr>
        <p:spPr bwMode="auto">
          <a:xfrm>
            <a:off x="7086600" y="2743200"/>
            <a:ext cx="1697038" cy="1552575"/>
          </a:xfrm>
          <a:prstGeom prst="rect">
            <a:avLst/>
          </a:prstGeom>
          <a:noFill/>
          <a:ln w="9525">
            <a:noFill/>
            <a:miter lim="800000"/>
            <a:headEnd/>
            <a:tailEnd/>
          </a:ln>
        </p:spPr>
        <p:txBody>
          <a:bodyPr wrap="none" lIns="92075" tIns="46038" rIns="92075" bIns="46038">
            <a:spAutoFit/>
          </a:bodyPr>
          <a:lstStyle/>
          <a:p>
            <a:pPr eaLnBrk="0" hangingPunct="0"/>
            <a:r>
              <a:rPr lang="en-US">
                <a:latin typeface="Times New Roman" pitchFamily="18" charset="0"/>
              </a:rPr>
              <a:t>Analysis</a:t>
            </a:r>
          </a:p>
          <a:p>
            <a:pPr eaLnBrk="0" hangingPunct="0"/>
            <a:r>
              <a:rPr lang="en-US">
                <a:latin typeface="Times New Roman" pitchFamily="18" charset="0"/>
              </a:rPr>
              <a:t>Query</a:t>
            </a:r>
          </a:p>
          <a:p>
            <a:pPr eaLnBrk="0" hangingPunct="0"/>
            <a:r>
              <a:rPr lang="en-US">
                <a:latin typeface="Times New Roman" pitchFamily="18" charset="0"/>
              </a:rPr>
              <a:t>Reports</a:t>
            </a:r>
          </a:p>
          <a:p>
            <a:pPr eaLnBrk="0" hangingPunct="0"/>
            <a:r>
              <a:rPr lang="en-US">
                <a:latin typeface="Times New Roman" pitchFamily="18" charset="0"/>
              </a:rPr>
              <a:t>Data mining</a:t>
            </a:r>
          </a:p>
        </p:txBody>
      </p:sp>
      <p:sp>
        <p:nvSpPr>
          <p:cNvPr id="17420" name="Rectangle 13"/>
          <p:cNvSpPr>
            <a:spLocks noChangeArrowheads="1"/>
          </p:cNvSpPr>
          <p:nvPr/>
        </p:nvSpPr>
        <p:spPr bwMode="auto">
          <a:xfrm>
            <a:off x="3733800" y="1676400"/>
            <a:ext cx="1143000" cy="990600"/>
          </a:xfrm>
          <a:prstGeom prst="rect">
            <a:avLst/>
          </a:prstGeom>
          <a:solidFill>
            <a:srgbClr val="FCFEB9"/>
          </a:solidFill>
          <a:ln w="12700">
            <a:solidFill>
              <a:schemeClr val="tx1"/>
            </a:solidFill>
            <a:miter lim="800000"/>
            <a:headEnd/>
            <a:tailEnd/>
          </a:ln>
        </p:spPr>
        <p:txBody>
          <a:bodyPr wrap="none" anchor="ctr"/>
          <a:lstStyle/>
          <a:p>
            <a:pPr algn="ctr" eaLnBrk="0" hangingPunct="0"/>
            <a:r>
              <a:rPr lang="en-US" sz="2000">
                <a:latin typeface="Times New Roman" pitchFamily="18" charset="0"/>
              </a:rPr>
              <a:t>Monitor</a:t>
            </a:r>
          </a:p>
          <a:p>
            <a:pPr algn="ctr" eaLnBrk="0" hangingPunct="0"/>
            <a:r>
              <a:rPr lang="en-US" sz="2000">
                <a:latin typeface="Times New Roman" pitchFamily="18" charset="0"/>
              </a:rPr>
              <a:t>&amp;</a:t>
            </a:r>
          </a:p>
          <a:p>
            <a:pPr algn="ctr" eaLnBrk="0" hangingPunct="0"/>
            <a:r>
              <a:rPr lang="en-US" sz="2000">
                <a:latin typeface="Times New Roman" pitchFamily="18" charset="0"/>
              </a:rPr>
              <a:t>Integrator</a:t>
            </a:r>
            <a:endParaRPr lang="en-US">
              <a:latin typeface="Times New Roman" pitchFamily="18" charset="0"/>
            </a:endParaRPr>
          </a:p>
        </p:txBody>
      </p:sp>
      <p:grpSp>
        <p:nvGrpSpPr>
          <p:cNvPr id="3" name="Group 14"/>
          <p:cNvGrpSpPr>
            <a:grpSpLocks/>
          </p:cNvGrpSpPr>
          <p:nvPr/>
        </p:nvGrpSpPr>
        <p:grpSpPr bwMode="auto">
          <a:xfrm>
            <a:off x="2209800" y="1676400"/>
            <a:ext cx="931863" cy="914400"/>
            <a:chOff x="288" y="1012"/>
            <a:chExt cx="769" cy="664"/>
          </a:xfrm>
        </p:grpSpPr>
        <p:sp>
          <p:nvSpPr>
            <p:cNvPr id="17457" name="Oval 15"/>
            <p:cNvSpPr>
              <a:spLocks noChangeArrowheads="1"/>
            </p:cNvSpPr>
            <p:nvPr/>
          </p:nvSpPr>
          <p:spPr bwMode="auto">
            <a:xfrm>
              <a:off x="292" y="1437"/>
              <a:ext cx="760" cy="239"/>
            </a:xfrm>
            <a:prstGeom prst="ellipse">
              <a:avLst/>
            </a:prstGeom>
            <a:solidFill>
              <a:srgbClr val="FCFEB9"/>
            </a:solidFill>
            <a:ln w="12700">
              <a:solidFill>
                <a:schemeClr val="tx1"/>
              </a:solidFill>
              <a:round/>
              <a:headEnd/>
              <a:tailEnd/>
            </a:ln>
          </p:spPr>
          <p:txBody>
            <a:bodyPr wrap="none" anchor="ctr"/>
            <a:lstStyle/>
            <a:p>
              <a:endParaRPr lang="en-US"/>
            </a:p>
          </p:txBody>
        </p:sp>
        <p:sp>
          <p:nvSpPr>
            <p:cNvPr id="17458" name="Freeform 16"/>
            <p:cNvSpPr>
              <a:spLocks/>
            </p:cNvSpPr>
            <p:nvPr/>
          </p:nvSpPr>
          <p:spPr bwMode="auto">
            <a:xfrm>
              <a:off x="288" y="1159"/>
              <a:ext cx="769" cy="413"/>
            </a:xfrm>
            <a:custGeom>
              <a:avLst/>
              <a:gdLst>
                <a:gd name="T0" fmla="*/ 12 w 769"/>
                <a:gd name="T1" fmla="*/ 412 h 413"/>
                <a:gd name="T2" fmla="*/ 0 w 769"/>
                <a:gd name="T3" fmla="*/ 318 h 413"/>
                <a:gd name="T4" fmla="*/ 0 w 769"/>
                <a:gd name="T5" fmla="*/ 244 h 413"/>
                <a:gd name="T6" fmla="*/ 0 w 769"/>
                <a:gd name="T7" fmla="*/ 147 h 413"/>
                <a:gd name="T8" fmla="*/ 0 w 769"/>
                <a:gd name="T9" fmla="*/ 73 h 413"/>
                <a:gd name="T10" fmla="*/ 0 w 769"/>
                <a:gd name="T11" fmla="*/ 0 h 413"/>
                <a:gd name="T12" fmla="*/ 768 w 769"/>
                <a:gd name="T13" fmla="*/ 10 h 413"/>
                <a:gd name="T14" fmla="*/ 768 w 769"/>
                <a:gd name="T15" fmla="*/ 412 h 413"/>
                <a:gd name="T16" fmla="*/ 768 w 769"/>
                <a:gd name="T17" fmla="*/ 412 h 4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69"/>
                <a:gd name="T28" fmla="*/ 0 h 413"/>
                <a:gd name="T29" fmla="*/ 769 w 769"/>
                <a:gd name="T30" fmla="*/ 413 h 4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69" h="413">
                  <a:moveTo>
                    <a:pt x="12" y="412"/>
                  </a:moveTo>
                  <a:lnTo>
                    <a:pt x="0" y="318"/>
                  </a:lnTo>
                  <a:lnTo>
                    <a:pt x="0" y="244"/>
                  </a:lnTo>
                  <a:lnTo>
                    <a:pt x="0" y="147"/>
                  </a:lnTo>
                  <a:lnTo>
                    <a:pt x="0" y="73"/>
                  </a:lnTo>
                  <a:lnTo>
                    <a:pt x="0" y="0"/>
                  </a:lnTo>
                  <a:lnTo>
                    <a:pt x="768" y="10"/>
                  </a:lnTo>
                  <a:lnTo>
                    <a:pt x="768" y="412"/>
                  </a:lnTo>
                </a:path>
              </a:pathLst>
            </a:custGeom>
            <a:solidFill>
              <a:srgbClr val="FCFEB9"/>
            </a:solidFill>
            <a:ln w="12700" cap="rnd">
              <a:solidFill>
                <a:schemeClr val="tx1"/>
              </a:solidFill>
              <a:round/>
              <a:headEnd type="none" w="sm" len="sm"/>
              <a:tailEnd type="none" w="sm" len="sm"/>
            </a:ln>
          </p:spPr>
          <p:txBody>
            <a:bodyPr/>
            <a:lstStyle/>
            <a:p>
              <a:endParaRPr lang="en-US"/>
            </a:p>
          </p:txBody>
        </p:sp>
        <p:sp>
          <p:nvSpPr>
            <p:cNvPr id="17459" name="Oval 17"/>
            <p:cNvSpPr>
              <a:spLocks noChangeArrowheads="1"/>
            </p:cNvSpPr>
            <p:nvPr/>
          </p:nvSpPr>
          <p:spPr bwMode="auto">
            <a:xfrm>
              <a:off x="292" y="1012"/>
              <a:ext cx="760" cy="259"/>
            </a:xfrm>
            <a:prstGeom prst="ellipse">
              <a:avLst/>
            </a:prstGeom>
            <a:solidFill>
              <a:srgbClr val="FCFEB9"/>
            </a:solidFill>
            <a:ln w="12700">
              <a:solidFill>
                <a:schemeClr val="tx1"/>
              </a:solidFill>
              <a:round/>
              <a:headEnd/>
              <a:tailEnd/>
            </a:ln>
          </p:spPr>
          <p:txBody>
            <a:bodyPr wrap="none" anchor="ctr"/>
            <a:lstStyle/>
            <a:p>
              <a:endParaRPr lang="en-US"/>
            </a:p>
          </p:txBody>
        </p:sp>
      </p:grpSp>
      <p:sp>
        <p:nvSpPr>
          <p:cNvPr id="17422" name="Rectangle 18"/>
          <p:cNvSpPr>
            <a:spLocks noChangeArrowheads="1"/>
          </p:cNvSpPr>
          <p:nvPr/>
        </p:nvSpPr>
        <p:spPr bwMode="auto">
          <a:xfrm>
            <a:off x="2286000" y="2057400"/>
            <a:ext cx="850900" cy="274638"/>
          </a:xfrm>
          <a:prstGeom prst="rect">
            <a:avLst/>
          </a:prstGeom>
          <a:noFill/>
          <a:ln w="9525">
            <a:noFill/>
            <a:miter lim="800000"/>
            <a:headEnd/>
            <a:tailEnd/>
          </a:ln>
        </p:spPr>
        <p:txBody>
          <a:bodyPr wrap="none" lIns="0" tIns="0" rIns="0" bIns="0">
            <a:spAutoFit/>
          </a:bodyPr>
          <a:lstStyle/>
          <a:p>
            <a:pPr eaLnBrk="0" hangingPunct="0"/>
            <a:r>
              <a:rPr lang="en-US" sz="1800">
                <a:latin typeface="Times New Roman" pitchFamily="18" charset="0"/>
              </a:rPr>
              <a:t>Metadata</a:t>
            </a:r>
            <a:endParaRPr lang="en-US">
              <a:latin typeface="Times New Roman" pitchFamily="18" charset="0"/>
            </a:endParaRPr>
          </a:p>
        </p:txBody>
      </p:sp>
      <p:sp>
        <p:nvSpPr>
          <p:cNvPr id="17423" name="Line 19"/>
          <p:cNvSpPr>
            <a:spLocks noChangeShapeType="1"/>
          </p:cNvSpPr>
          <p:nvPr/>
        </p:nvSpPr>
        <p:spPr bwMode="auto">
          <a:xfrm>
            <a:off x="3124200" y="2133600"/>
            <a:ext cx="609600" cy="0"/>
          </a:xfrm>
          <a:prstGeom prst="line">
            <a:avLst/>
          </a:prstGeom>
          <a:noFill/>
          <a:ln w="12700">
            <a:solidFill>
              <a:schemeClr val="tx1"/>
            </a:solidFill>
            <a:round/>
            <a:headEnd type="stealth" w="med" len="lg"/>
            <a:tailEnd type="stealth" w="med" len="lg"/>
          </a:ln>
        </p:spPr>
        <p:txBody>
          <a:bodyPr wrap="none" anchor="ctr"/>
          <a:lstStyle/>
          <a:p>
            <a:endParaRPr lang="en-US"/>
          </a:p>
        </p:txBody>
      </p:sp>
      <p:sp>
        <p:nvSpPr>
          <p:cNvPr id="17424" name="Rectangle 20"/>
          <p:cNvSpPr>
            <a:spLocks noChangeArrowheads="1"/>
          </p:cNvSpPr>
          <p:nvPr/>
        </p:nvSpPr>
        <p:spPr bwMode="auto">
          <a:xfrm>
            <a:off x="180975" y="6096000"/>
            <a:ext cx="1800225" cy="457200"/>
          </a:xfrm>
          <a:prstGeom prst="rect">
            <a:avLst/>
          </a:prstGeom>
          <a:noFill/>
          <a:ln w="9525">
            <a:noFill/>
            <a:miter lim="800000"/>
            <a:headEnd/>
            <a:tailEnd/>
          </a:ln>
        </p:spPr>
        <p:txBody>
          <a:bodyPr wrap="none" lIns="92075" tIns="46038" rIns="92075" bIns="46038">
            <a:spAutoFit/>
          </a:bodyPr>
          <a:lstStyle/>
          <a:p>
            <a:pPr eaLnBrk="0" hangingPunct="0"/>
            <a:r>
              <a:rPr lang="en-US">
                <a:latin typeface="Times New Roman" pitchFamily="18" charset="0"/>
              </a:rPr>
              <a:t>Data Sources</a:t>
            </a:r>
          </a:p>
        </p:txBody>
      </p:sp>
      <p:sp>
        <p:nvSpPr>
          <p:cNvPr id="17425" name="Rectangle 21"/>
          <p:cNvSpPr>
            <a:spLocks noChangeArrowheads="1"/>
          </p:cNvSpPr>
          <p:nvPr/>
        </p:nvSpPr>
        <p:spPr bwMode="auto">
          <a:xfrm>
            <a:off x="6934200" y="6172200"/>
            <a:ext cx="2022475" cy="365125"/>
          </a:xfrm>
          <a:prstGeom prst="rect">
            <a:avLst/>
          </a:prstGeom>
          <a:noFill/>
          <a:ln w="9525">
            <a:noFill/>
            <a:miter lim="800000"/>
            <a:headEnd/>
            <a:tailEnd/>
          </a:ln>
        </p:spPr>
        <p:txBody>
          <a:bodyPr wrap="none" lIns="0" tIns="0" rIns="0" bIns="0">
            <a:spAutoFit/>
          </a:bodyPr>
          <a:lstStyle/>
          <a:p>
            <a:pPr eaLnBrk="0" hangingPunct="0"/>
            <a:r>
              <a:rPr lang="en-US">
                <a:latin typeface="Times New Roman" pitchFamily="18" charset="0"/>
              </a:rPr>
              <a:t>Front-End Tools</a:t>
            </a:r>
          </a:p>
        </p:txBody>
      </p:sp>
      <p:sp>
        <p:nvSpPr>
          <p:cNvPr id="17426" name="Rectangle 22"/>
          <p:cNvSpPr>
            <a:spLocks noChangeArrowheads="1"/>
          </p:cNvSpPr>
          <p:nvPr/>
        </p:nvSpPr>
        <p:spPr bwMode="auto">
          <a:xfrm>
            <a:off x="5470525" y="3336925"/>
            <a:ext cx="877888" cy="457200"/>
          </a:xfrm>
          <a:prstGeom prst="rect">
            <a:avLst/>
          </a:prstGeom>
          <a:noFill/>
          <a:ln w="9525">
            <a:noFill/>
            <a:miter lim="800000"/>
            <a:headEnd/>
            <a:tailEnd/>
          </a:ln>
        </p:spPr>
        <p:txBody>
          <a:bodyPr wrap="none" lIns="92075" tIns="46038" rIns="92075" bIns="46038">
            <a:spAutoFit/>
          </a:bodyPr>
          <a:lstStyle/>
          <a:p>
            <a:pPr eaLnBrk="0" hangingPunct="0"/>
            <a:r>
              <a:rPr lang="en-US">
                <a:latin typeface="Times New Roman" pitchFamily="18" charset="0"/>
              </a:rPr>
              <a:t>Serve</a:t>
            </a:r>
          </a:p>
        </p:txBody>
      </p:sp>
      <p:sp>
        <p:nvSpPr>
          <p:cNvPr id="17427" name="AutoShape 23"/>
          <p:cNvSpPr>
            <a:spLocks noChangeArrowheads="1"/>
          </p:cNvSpPr>
          <p:nvPr/>
        </p:nvSpPr>
        <p:spPr bwMode="auto">
          <a:xfrm>
            <a:off x="5791200" y="2362200"/>
            <a:ext cx="755650" cy="679450"/>
          </a:xfrm>
          <a:prstGeom prst="cube">
            <a:avLst>
              <a:gd name="adj" fmla="val 24995"/>
            </a:avLst>
          </a:prstGeom>
          <a:solidFill>
            <a:srgbClr val="FCFEB9"/>
          </a:solidFill>
          <a:ln w="12700">
            <a:solidFill>
              <a:schemeClr val="tx1"/>
            </a:solidFill>
            <a:miter lim="800000"/>
            <a:headEnd/>
            <a:tailEnd/>
          </a:ln>
        </p:spPr>
        <p:txBody>
          <a:bodyPr wrap="none" anchor="ctr"/>
          <a:lstStyle/>
          <a:p>
            <a:endParaRPr lang="en-US"/>
          </a:p>
        </p:txBody>
      </p:sp>
      <p:sp>
        <p:nvSpPr>
          <p:cNvPr id="17428" name="AutoShape 24"/>
          <p:cNvSpPr>
            <a:spLocks noChangeArrowheads="1"/>
          </p:cNvSpPr>
          <p:nvPr/>
        </p:nvSpPr>
        <p:spPr bwMode="auto">
          <a:xfrm>
            <a:off x="5867400" y="4343400"/>
            <a:ext cx="679450" cy="679450"/>
          </a:xfrm>
          <a:prstGeom prst="cube">
            <a:avLst>
              <a:gd name="adj" fmla="val 24995"/>
            </a:avLst>
          </a:prstGeom>
          <a:solidFill>
            <a:srgbClr val="FCFEB9"/>
          </a:solidFill>
          <a:ln w="12700">
            <a:solidFill>
              <a:schemeClr val="tx1"/>
            </a:solidFill>
            <a:miter lim="800000"/>
            <a:headEnd/>
            <a:tailEnd/>
          </a:ln>
        </p:spPr>
        <p:txBody>
          <a:bodyPr wrap="none" anchor="ctr"/>
          <a:lstStyle/>
          <a:p>
            <a:endParaRPr lang="en-US"/>
          </a:p>
        </p:txBody>
      </p:sp>
      <p:sp>
        <p:nvSpPr>
          <p:cNvPr id="17429" name="AutoShape 25"/>
          <p:cNvSpPr>
            <a:spLocks noChangeArrowheads="1"/>
          </p:cNvSpPr>
          <p:nvPr/>
        </p:nvSpPr>
        <p:spPr bwMode="auto">
          <a:xfrm>
            <a:off x="3276600" y="4572000"/>
            <a:ext cx="292100" cy="292100"/>
          </a:xfrm>
          <a:prstGeom prst="downArrow">
            <a:avLst>
              <a:gd name="adj1" fmla="val 50000"/>
              <a:gd name="adj2" fmla="val 50005"/>
            </a:avLst>
          </a:prstGeom>
          <a:solidFill>
            <a:schemeClr val="accent1"/>
          </a:solidFill>
          <a:ln w="12700">
            <a:solidFill>
              <a:schemeClr val="tx1"/>
            </a:solidFill>
            <a:miter lim="800000"/>
            <a:headEnd/>
            <a:tailEnd/>
          </a:ln>
        </p:spPr>
        <p:txBody>
          <a:bodyPr wrap="none" anchor="ctr"/>
          <a:lstStyle/>
          <a:p>
            <a:endParaRPr lang="en-US"/>
          </a:p>
        </p:txBody>
      </p:sp>
      <p:sp>
        <p:nvSpPr>
          <p:cNvPr id="17430" name="AutoShape 26"/>
          <p:cNvSpPr>
            <a:spLocks noChangeArrowheads="1"/>
          </p:cNvSpPr>
          <p:nvPr/>
        </p:nvSpPr>
        <p:spPr bwMode="auto">
          <a:xfrm>
            <a:off x="4648200" y="4572000"/>
            <a:ext cx="292100" cy="292100"/>
          </a:xfrm>
          <a:prstGeom prst="downArrow">
            <a:avLst>
              <a:gd name="adj1" fmla="val 50000"/>
              <a:gd name="adj2" fmla="val 50005"/>
            </a:avLst>
          </a:prstGeom>
          <a:solidFill>
            <a:schemeClr val="accent1"/>
          </a:solidFill>
          <a:ln w="12700">
            <a:solidFill>
              <a:schemeClr val="tx1"/>
            </a:solidFill>
            <a:miter lim="800000"/>
            <a:headEnd/>
            <a:tailEnd/>
          </a:ln>
        </p:spPr>
        <p:txBody>
          <a:bodyPr wrap="none" anchor="ctr"/>
          <a:lstStyle/>
          <a:p>
            <a:endParaRPr lang="en-US"/>
          </a:p>
        </p:txBody>
      </p:sp>
      <p:sp>
        <p:nvSpPr>
          <p:cNvPr id="17431" name="AutoShape 27"/>
          <p:cNvSpPr>
            <a:spLocks noChangeArrowheads="1"/>
          </p:cNvSpPr>
          <p:nvPr/>
        </p:nvSpPr>
        <p:spPr bwMode="auto">
          <a:xfrm>
            <a:off x="3962400" y="4572000"/>
            <a:ext cx="292100" cy="292100"/>
          </a:xfrm>
          <a:prstGeom prst="downArrow">
            <a:avLst>
              <a:gd name="adj1" fmla="val 50000"/>
              <a:gd name="adj2" fmla="val 50005"/>
            </a:avLst>
          </a:prstGeom>
          <a:solidFill>
            <a:schemeClr val="accent1"/>
          </a:solidFill>
          <a:ln w="12700">
            <a:solidFill>
              <a:schemeClr val="tx1"/>
            </a:solidFill>
            <a:miter lim="800000"/>
            <a:headEnd/>
            <a:tailEnd/>
          </a:ln>
        </p:spPr>
        <p:txBody>
          <a:bodyPr wrap="none" anchor="ctr"/>
          <a:lstStyle/>
          <a:p>
            <a:endParaRPr lang="en-US"/>
          </a:p>
        </p:txBody>
      </p:sp>
      <p:sp>
        <p:nvSpPr>
          <p:cNvPr id="17432" name="Rectangle 28"/>
          <p:cNvSpPr>
            <a:spLocks noChangeArrowheads="1"/>
          </p:cNvSpPr>
          <p:nvPr/>
        </p:nvSpPr>
        <p:spPr bwMode="auto">
          <a:xfrm>
            <a:off x="3657600" y="5562600"/>
            <a:ext cx="1022350" cy="274638"/>
          </a:xfrm>
          <a:prstGeom prst="rect">
            <a:avLst/>
          </a:prstGeom>
          <a:noFill/>
          <a:ln w="9525">
            <a:noFill/>
            <a:miter lim="800000"/>
            <a:headEnd/>
            <a:tailEnd/>
          </a:ln>
        </p:spPr>
        <p:txBody>
          <a:bodyPr wrap="none" lIns="0" tIns="0" rIns="0" bIns="0">
            <a:spAutoFit/>
          </a:bodyPr>
          <a:lstStyle/>
          <a:p>
            <a:pPr algn="ctr" eaLnBrk="0" hangingPunct="0"/>
            <a:r>
              <a:rPr lang="en-US" sz="1800">
                <a:latin typeface="Times New Roman" pitchFamily="18" charset="0"/>
              </a:rPr>
              <a:t>Data Marts</a:t>
            </a:r>
            <a:endParaRPr lang="en-US">
              <a:latin typeface="Times New Roman" pitchFamily="18" charset="0"/>
            </a:endParaRPr>
          </a:p>
        </p:txBody>
      </p:sp>
      <p:sp>
        <p:nvSpPr>
          <p:cNvPr id="17433" name="Line 29"/>
          <p:cNvSpPr>
            <a:spLocks noChangeShapeType="1"/>
          </p:cNvSpPr>
          <p:nvPr/>
        </p:nvSpPr>
        <p:spPr bwMode="auto">
          <a:xfrm flipV="1">
            <a:off x="5029200" y="2743200"/>
            <a:ext cx="685800" cy="304800"/>
          </a:xfrm>
          <a:prstGeom prst="line">
            <a:avLst/>
          </a:prstGeom>
          <a:noFill/>
          <a:ln w="25400">
            <a:solidFill>
              <a:schemeClr val="tx1"/>
            </a:solidFill>
            <a:round/>
            <a:headEnd type="stealth" w="med" len="lg"/>
            <a:tailEnd type="stealth" w="med" len="lg"/>
          </a:ln>
        </p:spPr>
        <p:txBody>
          <a:bodyPr wrap="none" anchor="ctr"/>
          <a:lstStyle/>
          <a:p>
            <a:endParaRPr lang="en-US"/>
          </a:p>
        </p:txBody>
      </p:sp>
      <p:sp>
        <p:nvSpPr>
          <p:cNvPr id="17434" name="Line 30"/>
          <p:cNvSpPr>
            <a:spLocks noChangeShapeType="1"/>
          </p:cNvSpPr>
          <p:nvPr/>
        </p:nvSpPr>
        <p:spPr bwMode="auto">
          <a:xfrm flipV="1">
            <a:off x="5334000" y="4876800"/>
            <a:ext cx="457200" cy="457200"/>
          </a:xfrm>
          <a:prstGeom prst="line">
            <a:avLst/>
          </a:prstGeom>
          <a:noFill/>
          <a:ln w="25400">
            <a:solidFill>
              <a:schemeClr val="tx1"/>
            </a:solidFill>
            <a:round/>
            <a:headEnd type="stealth" w="med" len="lg"/>
            <a:tailEnd type="stealth" w="med" len="lg"/>
          </a:ln>
        </p:spPr>
        <p:txBody>
          <a:bodyPr wrap="none" anchor="ctr"/>
          <a:lstStyle/>
          <a:p>
            <a:endParaRPr lang="en-US"/>
          </a:p>
        </p:txBody>
      </p:sp>
      <p:sp>
        <p:nvSpPr>
          <p:cNvPr id="17435" name="AutoShape 31"/>
          <p:cNvSpPr>
            <a:spLocks noChangeArrowheads="1"/>
          </p:cNvSpPr>
          <p:nvPr/>
        </p:nvSpPr>
        <p:spPr bwMode="auto">
          <a:xfrm>
            <a:off x="3048000" y="4953000"/>
            <a:ext cx="671513" cy="609600"/>
          </a:xfrm>
          <a:prstGeom prst="flowChartMagneticDisk">
            <a:avLst/>
          </a:prstGeom>
          <a:solidFill>
            <a:srgbClr val="FFFF00"/>
          </a:solidFill>
          <a:ln w="9525">
            <a:solidFill>
              <a:srgbClr val="000000"/>
            </a:solidFill>
            <a:round/>
            <a:headEnd/>
            <a:tailEnd/>
          </a:ln>
        </p:spPr>
        <p:txBody>
          <a:bodyPr anchor="ctr">
            <a:spAutoFit/>
          </a:bodyPr>
          <a:lstStyle/>
          <a:p>
            <a:endParaRPr lang="en-US"/>
          </a:p>
        </p:txBody>
      </p:sp>
      <p:sp>
        <p:nvSpPr>
          <p:cNvPr id="17436" name="AutoShape 32"/>
          <p:cNvSpPr>
            <a:spLocks noChangeArrowheads="1"/>
          </p:cNvSpPr>
          <p:nvPr/>
        </p:nvSpPr>
        <p:spPr bwMode="auto">
          <a:xfrm>
            <a:off x="3810000" y="4953000"/>
            <a:ext cx="671513" cy="609600"/>
          </a:xfrm>
          <a:prstGeom prst="flowChartMagneticDisk">
            <a:avLst/>
          </a:prstGeom>
          <a:solidFill>
            <a:srgbClr val="FFFF00"/>
          </a:solidFill>
          <a:ln w="9525">
            <a:solidFill>
              <a:srgbClr val="000000"/>
            </a:solidFill>
            <a:round/>
            <a:headEnd/>
            <a:tailEnd/>
          </a:ln>
        </p:spPr>
        <p:txBody>
          <a:bodyPr anchor="ctr">
            <a:spAutoFit/>
          </a:bodyPr>
          <a:lstStyle/>
          <a:p>
            <a:endParaRPr lang="en-US"/>
          </a:p>
        </p:txBody>
      </p:sp>
      <p:sp>
        <p:nvSpPr>
          <p:cNvPr id="17437" name="AutoShape 33"/>
          <p:cNvSpPr>
            <a:spLocks noChangeArrowheads="1"/>
          </p:cNvSpPr>
          <p:nvPr/>
        </p:nvSpPr>
        <p:spPr bwMode="auto">
          <a:xfrm>
            <a:off x="4572000" y="4953000"/>
            <a:ext cx="671513" cy="609600"/>
          </a:xfrm>
          <a:prstGeom prst="flowChartMagneticDisk">
            <a:avLst/>
          </a:prstGeom>
          <a:solidFill>
            <a:srgbClr val="FFFF00"/>
          </a:solidFill>
          <a:ln w="9525">
            <a:solidFill>
              <a:srgbClr val="000000"/>
            </a:solidFill>
            <a:round/>
            <a:headEnd/>
            <a:tailEnd/>
          </a:ln>
        </p:spPr>
        <p:txBody>
          <a:bodyPr anchor="ctr">
            <a:spAutoFit/>
          </a:bodyPr>
          <a:lstStyle/>
          <a:p>
            <a:endParaRPr lang="en-US"/>
          </a:p>
        </p:txBody>
      </p:sp>
      <p:grpSp>
        <p:nvGrpSpPr>
          <p:cNvPr id="4" name="Group 34"/>
          <p:cNvGrpSpPr>
            <a:grpSpLocks/>
          </p:cNvGrpSpPr>
          <p:nvPr/>
        </p:nvGrpSpPr>
        <p:grpSpPr bwMode="auto">
          <a:xfrm>
            <a:off x="228600" y="1524000"/>
            <a:ext cx="1590675" cy="3879850"/>
            <a:chOff x="148" y="1440"/>
            <a:chExt cx="1002" cy="2444"/>
          </a:xfrm>
        </p:grpSpPr>
        <p:sp>
          <p:nvSpPr>
            <p:cNvPr id="17449" name="Oval 35"/>
            <p:cNvSpPr>
              <a:spLocks noChangeArrowheads="1"/>
            </p:cNvSpPr>
            <p:nvPr/>
          </p:nvSpPr>
          <p:spPr bwMode="auto">
            <a:xfrm>
              <a:off x="576" y="2256"/>
              <a:ext cx="472" cy="172"/>
            </a:xfrm>
            <a:prstGeom prst="ellipse">
              <a:avLst/>
            </a:prstGeom>
            <a:solidFill>
              <a:srgbClr val="FCFEB9"/>
            </a:solidFill>
            <a:ln w="12700">
              <a:solidFill>
                <a:schemeClr val="tx1"/>
              </a:solidFill>
              <a:round/>
              <a:headEnd/>
              <a:tailEnd/>
            </a:ln>
          </p:spPr>
          <p:txBody>
            <a:bodyPr wrap="none" anchor="ctr"/>
            <a:lstStyle/>
            <a:p>
              <a:endParaRPr lang="en-US"/>
            </a:p>
          </p:txBody>
        </p:sp>
        <p:sp>
          <p:nvSpPr>
            <p:cNvPr id="17450" name="Oval 36"/>
            <p:cNvSpPr>
              <a:spLocks noChangeArrowheads="1"/>
            </p:cNvSpPr>
            <p:nvPr/>
          </p:nvSpPr>
          <p:spPr bwMode="auto">
            <a:xfrm>
              <a:off x="148" y="1440"/>
              <a:ext cx="1000" cy="2444"/>
            </a:xfrm>
            <a:prstGeom prst="ellipse">
              <a:avLst/>
            </a:prstGeom>
            <a:noFill/>
            <a:ln w="12700">
              <a:solidFill>
                <a:schemeClr val="tx1"/>
              </a:solidFill>
              <a:round/>
              <a:headEnd/>
              <a:tailEnd/>
            </a:ln>
          </p:spPr>
          <p:txBody>
            <a:bodyPr wrap="none" anchor="ctr"/>
            <a:lstStyle/>
            <a:p>
              <a:endParaRPr lang="en-US"/>
            </a:p>
          </p:txBody>
        </p:sp>
        <p:sp>
          <p:nvSpPr>
            <p:cNvPr id="17451" name="Oval 37"/>
            <p:cNvSpPr>
              <a:spLocks noChangeArrowheads="1"/>
            </p:cNvSpPr>
            <p:nvPr/>
          </p:nvSpPr>
          <p:spPr bwMode="auto">
            <a:xfrm>
              <a:off x="240" y="2256"/>
              <a:ext cx="472" cy="172"/>
            </a:xfrm>
            <a:prstGeom prst="ellipse">
              <a:avLst/>
            </a:prstGeom>
            <a:solidFill>
              <a:srgbClr val="FCFEB9"/>
            </a:solidFill>
            <a:ln w="12700">
              <a:solidFill>
                <a:schemeClr val="tx1"/>
              </a:solidFill>
              <a:round/>
              <a:headEnd/>
              <a:tailEnd/>
            </a:ln>
          </p:spPr>
          <p:txBody>
            <a:bodyPr wrap="none" anchor="ctr"/>
            <a:lstStyle/>
            <a:p>
              <a:endParaRPr lang="en-US"/>
            </a:p>
          </p:txBody>
        </p:sp>
        <p:sp>
          <p:nvSpPr>
            <p:cNvPr id="17452" name="Rectangle 38"/>
            <p:cNvSpPr>
              <a:spLocks noChangeArrowheads="1"/>
            </p:cNvSpPr>
            <p:nvPr/>
          </p:nvSpPr>
          <p:spPr bwMode="auto">
            <a:xfrm>
              <a:off x="240" y="2448"/>
              <a:ext cx="910" cy="442"/>
            </a:xfrm>
            <a:prstGeom prst="rect">
              <a:avLst/>
            </a:prstGeom>
            <a:noFill/>
            <a:ln w="9525">
              <a:noFill/>
              <a:miter lim="800000"/>
              <a:headEnd/>
              <a:tailEnd/>
            </a:ln>
          </p:spPr>
          <p:txBody>
            <a:bodyPr wrap="none" lIns="92075" tIns="46038" rIns="92075" bIns="46038">
              <a:spAutoFit/>
            </a:bodyPr>
            <a:lstStyle/>
            <a:p>
              <a:pPr eaLnBrk="0" hangingPunct="0"/>
              <a:r>
                <a:rPr lang="en-US" sz="2000">
                  <a:latin typeface="Times New Roman" pitchFamily="18" charset="0"/>
                </a:rPr>
                <a:t>Operational </a:t>
              </a:r>
            </a:p>
            <a:p>
              <a:pPr eaLnBrk="0" hangingPunct="0"/>
              <a:r>
                <a:rPr lang="en-US" sz="2000">
                  <a:latin typeface="Times New Roman" pitchFamily="18" charset="0"/>
                </a:rPr>
                <a:t>DBs</a:t>
              </a:r>
            </a:p>
          </p:txBody>
        </p:sp>
        <p:sp>
          <p:nvSpPr>
            <p:cNvPr id="17453" name="Rectangle 39"/>
            <p:cNvSpPr>
              <a:spLocks noChangeArrowheads="1"/>
            </p:cNvSpPr>
            <p:nvPr/>
          </p:nvSpPr>
          <p:spPr bwMode="auto">
            <a:xfrm>
              <a:off x="288" y="1776"/>
              <a:ext cx="692" cy="442"/>
            </a:xfrm>
            <a:prstGeom prst="rect">
              <a:avLst/>
            </a:prstGeom>
            <a:noFill/>
            <a:ln w="9525">
              <a:noFill/>
              <a:miter lim="800000"/>
              <a:headEnd/>
              <a:tailEnd/>
            </a:ln>
          </p:spPr>
          <p:txBody>
            <a:bodyPr lIns="92075" tIns="46038" rIns="92075" bIns="46038">
              <a:spAutoFit/>
            </a:bodyPr>
            <a:lstStyle/>
            <a:p>
              <a:pPr eaLnBrk="0" hangingPunct="0"/>
              <a:r>
                <a:rPr lang="en-US" sz="2000">
                  <a:latin typeface="Times New Roman" pitchFamily="18" charset="0"/>
                </a:rPr>
                <a:t>Other</a:t>
              </a:r>
            </a:p>
            <a:p>
              <a:pPr eaLnBrk="0" hangingPunct="0"/>
              <a:r>
                <a:rPr lang="en-US" sz="2000">
                  <a:latin typeface="Times New Roman" pitchFamily="18" charset="0"/>
                </a:rPr>
                <a:t>sources</a:t>
              </a:r>
            </a:p>
          </p:txBody>
        </p:sp>
        <p:sp>
          <p:nvSpPr>
            <p:cNvPr id="17454" name="AutoShape 40"/>
            <p:cNvSpPr>
              <a:spLocks noChangeArrowheads="1"/>
            </p:cNvSpPr>
            <p:nvPr/>
          </p:nvSpPr>
          <p:spPr bwMode="auto">
            <a:xfrm>
              <a:off x="365" y="3398"/>
              <a:ext cx="441" cy="288"/>
            </a:xfrm>
            <a:prstGeom prst="flowChartMagneticDisk">
              <a:avLst/>
            </a:prstGeom>
            <a:solidFill>
              <a:srgbClr val="9A87F9"/>
            </a:solidFill>
            <a:ln w="9525">
              <a:solidFill>
                <a:srgbClr val="000000"/>
              </a:solidFill>
              <a:round/>
              <a:headEnd/>
              <a:tailEnd/>
            </a:ln>
          </p:spPr>
          <p:txBody>
            <a:bodyPr wrap="none" anchor="ctr">
              <a:spAutoFit/>
            </a:bodyPr>
            <a:lstStyle/>
            <a:p>
              <a:endParaRPr lang="en-US"/>
            </a:p>
          </p:txBody>
        </p:sp>
        <p:sp>
          <p:nvSpPr>
            <p:cNvPr id="17455" name="AutoShape 41"/>
            <p:cNvSpPr>
              <a:spLocks noChangeArrowheads="1"/>
            </p:cNvSpPr>
            <p:nvPr/>
          </p:nvSpPr>
          <p:spPr bwMode="auto">
            <a:xfrm>
              <a:off x="461" y="3129"/>
              <a:ext cx="441" cy="288"/>
            </a:xfrm>
            <a:prstGeom prst="flowChartMagneticDisk">
              <a:avLst/>
            </a:prstGeom>
            <a:solidFill>
              <a:srgbClr val="9A87F9"/>
            </a:solidFill>
            <a:ln w="9525">
              <a:solidFill>
                <a:srgbClr val="000000"/>
              </a:solidFill>
              <a:round/>
              <a:headEnd/>
              <a:tailEnd/>
            </a:ln>
          </p:spPr>
          <p:txBody>
            <a:bodyPr wrap="none" anchor="ctr">
              <a:spAutoFit/>
            </a:bodyPr>
            <a:lstStyle/>
            <a:p>
              <a:endParaRPr lang="en-US"/>
            </a:p>
          </p:txBody>
        </p:sp>
        <p:sp>
          <p:nvSpPr>
            <p:cNvPr id="17456" name="AutoShape 42"/>
            <p:cNvSpPr>
              <a:spLocks noChangeArrowheads="1"/>
            </p:cNvSpPr>
            <p:nvPr/>
          </p:nvSpPr>
          <p:spPr bwMode="auto">
            <a:xfrm>
              <a:off x="615" y="2851"/>
              <a:ext cx="441" cy="288"/>
            </a:xfrm>
            <a:prstGeom prst="flowChartMagneticDisk">
              <a:avLst/>
            </a:prstGeom>
            <a:solidFill>
              <a:srgbClr val="9A87F9"/>
            </a:solidFill>
            <a:ln w="9525">
              <a:solidFill>
                <a:srgbClr val="000000"/>
              </a:solidFill>
              <a:round/>
              <a:headEnd/>
              <a:tailEnd/>
            </a:ln>
          </p:spPr>
          <p:txBody>
            <a:bodyPr wrap="none" anchor="ctr">
              <a:spAutoFit/>
            </a:bodyPr>
            <a:lstStyle/>
            <a:p>
              <a:endParaRPr lang="en-US"/>
            </a:p>
          </p:txBody>
        </p:sp>
      </p:grpSp>
      <p:sp>
        <p:nvSpPr>
          <p:cNvPr id="17439" name="Line 43"/>
          <p:cNvSpPr>
            <a:spLocks noChangeShapeType="1"/>
          </p:cNvSpPr>
          <p:nvPr/>
        </p:nvSpPr>
        <p:spPr bwMode="auto">
          <a:xfrm>
            <a:off x="1905000" y="1524000"/>
            <a:ext cx="0" cy="4191000"/>
          </a:xfrm>
          <a:prstGeom prst="line">
            <a:avLst/>
          </a:prstGeom>
          <a:noFill/>
          <a:ln w="19050">
            <a:solidFill>
              <a:schemeClr val="tx1"/>
            </a:solidFill>
            <a:prstDash val="dash"/>
            <a:round/>
            <a:headEnd/>
            <a:tailEnd/>
          </a:ln>
        </p:spPr>
        <p:txBody>
          <a:bodyPr wrap="none" anchor="ctr"/>
          <a:lstStyle/>
          <a:p>
            <a:endParaRPr lang="en-US"/>
          </a:p>
        </p:txBody>
      </p:sp>
      <p:sp>
        <p:nvSpPr>
          <p:cNvPr id="17440" name="Line 44"/>
          <p:cNvSpPr>
            <a:spLocks noChangeShapeType="1"/>
          </p:cNvSpPr>
          <p:nvPr/>
        </p:nvSpPr>
        <p:spPr bwMode="auto">
          <a:xfrm>
            <a:off x="5410200" y="1600200"/>
            <a:ext cx="0" cy="4114800"/>
          </a:xfrm>
          <a:prstGeom prst="line">
            <a:avLst/>
          </a:prstGeom>
          <a:noFill/>
          <a:ln w="19050">
            <a:solidFill>
              <a:schemeClr val="tx1"/>
            </a:solidFill>
            <a:prstDash val="dash"/>
            <a:round/>
            <a:headEnd/>
            <a:tailEnd/>
          </a:ln>
        </p:spPr>
        <p:txBody>
          <a:bodyPr wrap="none" anchor="ctr"/>
          <a:lstStyle/>
          <a:p>
            <a:endParaRPr lang="en-US"/>
          </a:p>
        </p:txBody>
      </p:sp>
      <p:sp>
        <p:nvSpPr>
          <p:cNvPr id="17441" name="Line 45"/>
          <p:cNvSpPr>
            <a:spLocks noChangeShapeType="1"/>
          </p:cNvSpPr>
          <p:nvPr/>
        </p:nvSpPr>
        <p:spPr bwMode="auto">
          <a:xfrm>
            <a:off x="6629400" y="1600200"/>
            <a:ext cx="0" cy="4114800"/>
          </a:xfrm>
          <a:prstGeom prst="line">
            <a:avLst/>
          </a:prstGeom>
          <a:noFill/>
          <a:ln w="19050">
            <a:solidFill>
              <a:schemeClr val="tx1"/>
            </a:solidFill>
            <a:prstDash val="dash"/>
            <a:round/>
            <a:headEnd/>
            <a:tailEnd/>
          </a:ln>
        </p:spPr>
        <p:txBody>
          <a:bodyPr wrap="none" anchor="ctr"/>
          <a:lstStyle/>
          <a:p>
            <a:endParaRPr lang="en-US"/>
          </a:p>
        </p:txBody>
      </p:sp>
      <p:sp>
        <p:nvSpPr>
          <p:cNvPr id="17442" name="Text Box 46"/>
          <p:cNvSpPr txBox="1">
            <a:spLocks noChangeArrowheads="1"/>
          </p:cNvSpPr>
          <p:nvPr/>
        </p:nvSpPr>
        <p:spPr bwMode="auto">
          <a:xfrm>
            <a:off x="2838450" y="6172200"/>
            <a:ext cx="1581150" cy="365125"/>
          </a:xfrm>
          <a:prstGeom prst="rect">
            <a:avLst/>
          </a:prstGeom>
          <a:noFill/>
          <a:ln w="9525">
            <a:noFill/>
            <a:miter lim="800000"/>
            <a:headEnd/>
            <a:tailEnd/>
          </a:ln>
        </p:spPr>
        <p:txBody>
          <a:bodyPr wrap="none" lIns="0" tIns="0" rIns="0" bIns="0">
            <a:spAutoFit/>
          </a:bodyPr>
          <a:lstStyle/>
          <a:p>
            <a:pPr eaLnBrk="0" hangingPunct="0"/>
            <a:r>
              <a:rPr lang="en-US">
                <a:latin typeface="Times New Roman" pitchFamily="18" charset="0"/>
              </a:rPr>
              <a:t>Data Storage</a:t>
            </a:r>
          </a:p>
        </p:txBody>
      </p:sp>
      <p:sp>
        <p:nvSpPr>
          <p:cNvPr id="17443" name="AutoShape 47"/>
          <p:cNvSpPr>
            <a:spLocks/>
          </p:cNvSpPr>
          <p:nvPr/>
        </p:nvSpPr>
        <p:spPr bwMode="auto">
          <a:xfrm rot="5400000">
            <a:off x="952500" y="5219700"/>
            <a:ext cx="152400" cy="1600200"/>
          </a:xfrm>
          <a:prstGeom prst="rightBrace">
            <a:avLst>
              <a:gd name="adj1" fmla="val 87500"/>
              <a:gd name="adj2" fmla="val 50000"/>
            </a:avLst>
          </a:prstGeom>
          <a:noFill/>
          <a:ln w="25400">
            <a:solidFill>
              <a:schemeClr val="tx1"/>
            </a:solidFill>
            <a:round/>
            <a:headEnd/>
            <a:tailEnd/>
          </a:ln>
        </p:spPr>
        <p:txBody>
          <a:bodyPr wrap="none" anchor="ctr"/>
          <a:lstStyle/>
          <a:p>
            <a:endParaRPr lang="en-US"/>
          </a:p>
        </p:txBody>
      </p:sp>
      <p:sp>
        <p:nvSpPr>
          <p:cNvPr id="17444" name="AutoShape 48"/>
          <p:cNvSpPr>
            <a:spLocks/>
          </p:cNvSpPr>
          <p:nvPr/>
        </p:nvSpPr>
        <p:spPr bwMode="auto">
          <a:xfrm rot="5400000">
            <a:off x="3505200" y="4419600"/>
            <a:ext cx="152400" cy="3200400"/>
          </a:xfrm>
          <a:prstGeom prst="rightBrace">
            <a:avLst>
              <a:gd name="adj1" fmla="val 175000"/>
              <a:gd name="adj2" fmla="val 50000"/>
            </a:avLst>
          </a:prstGeom>
          <a:noFill/>
          <a:ln w="25400">
            <a:solidFill>
              <a:schemeClr val="tx1"/>
            </a:solidFill>
            <a:round/>
            <a:headEnd/>
            <a:tailEnd/>
          </a:ln>
        </p:spPr>
        <p:txBody>
          <a:bodyPr wrap="none" anchor="ctr"/>
          <a:lstStyle/>
          <a:p>
            <a:endParaRPr lang="en-US"/>
          </a:p>
        </p:txBody>
      </p:sp>
      <p:sp>
        <p:nvSpPr>
          <p:cNvPr id="17445" name="AutoShape 49"/>
          <p:cNvSpPr>
            <a:spLocks/>
          </p:cNvSpPr>
          <p:nvPr/>
        </p:nvSpPr>
        <p:spPr bwMode="auto">
          <a:xfrm rot="5400000">
            <a:off x="5981700" y="5448300"/>
            <a:ext cx="152400" cy="1143000"/>
          </a:xfrm>
          <a:prstGeom prst="rightBrace">
            <a:avLst>
              <a:gd name="adj1" fmla="val 62500"/>
              <a:gd name="adj2" fmla="val 50000"/>
            </a:avLst>
          </a:prstGeom>
          <a:noFill/>
          <a:ln w="25400">
            <a:solidFill>
              <a:schemeClr val="tx1"/>
            </a:solidFill>
            <a:round/>
            <a:headEnd/>
            <a:tailEnd/>
          </a:ln>
        </p:spPr>
        <p:txBody>
          <a:bodyPr wrap="none" anchor="ctr"/>
          <a:lstStyle/>
          <a:p>
            <a:endParaRPr lang="en-US"/>
          </a:p>
        </p:txBody>
      </p:sp>
      <p:sp>
        <p:nvSpPr>
          <p:cNvPr id="17446" name="AutoShape 50"/>
          <p:cNvSpPr>
            <a:spLocks/>
          </p:cNvSpPr>
          <p:nvPr/>
        </p:nvSpPr>
        <p:spPr bwMode="auto">
          <a:xfrm rot="5400000">
            <a:off x="7734300" y="4991100"/>
            <a:ext cx="152400" cy="2057400"/>
          </a:xfrm>
          <a:prstGeom prst="rightBrace">
            <a:avLst>
              <a:gd name="adj1" fmla="val 112500"/>
              <a:gd name="adj2" fmla="val 50000"/>
            </a:avLst>
          </a:prstGeom>
          <a:noFill/>
          <a:ln w="25400">
            <a:solidFill>
              <a:schemeClr val="tx1"/>
            </a:solidFill>
            <a:round/>
            <a:headEnd/>
            <a:tailEnd/>
          </a:ln>
        </p:spPr>
        <p:txBody>
          <a:bodyPr wrap="none" anchor="ctr"/>
          <a:lstStyle/>
          <a:p>
            <a:endParaRPr lang="en-US"/>
          </a:p>
        </p:txBody>
      </p:sp>
      <p:sp>
        <p:nvSpPr>
          <p:cNvPr id="17447" name="Rectangle 51"/>
          <p:cNvSpPr>
            <a:spLocks noChangeArrowheads="1"/>
          </p:cNvSpPr>
          <p:nvPr/>
        </p:nvSpPr>
        <p:spPr bwMode="auto">
          <a:xfrm>
            <a:off x="5334000" y="1905000"/>
            <a:ext cx="1524000" cy="304800"/>
          </a:xfrm>
          <a:prstGeom prst="rect">
            <a:avLst/>
          </a:prstGeom>
          <a:noFill/>
          <a:ln w="9525">
            <a:noFill/>
            <a:miter lim="800000"/>
            <a:headEnd/>
            <a:tailEnd/>
          </a:ln>
        </p:spPr>
        <p:txBody>
          <a:bodyPr lIns="0" tIns="0" rIns="0" bIns="0">
            <a:spAutoFit/>
          </a:bodyPr>
          <a:lstStyle/>
          <a:p>
            <a:pPr algn="ctr" eaLnBrk="0" hangingPunct="0"/>
            <a:r>
              <a:rPr lang="en-US" sz="2000">
                <a:latin typeface="Times New Roman" pitchFamily="18" charset="0"/>
              </a:rPr>
              <a:t>OLAP Server</a:t>
            </a:r>
            <a:endParaRPr lang="en-US">
              <a:latin typeface="Times New Roman" pitchFamily="18" charset="0"/>
            </a:endParaRPr>
          </a:p>
        </p:txBody>
      </p:sp>
      <p:sp>
        <p:nvSpPr>
          <p:cNvPr id="17448" name="Line 52"/>
          <p:cNvSpPr>
            <a:spLocks noChangeShapeType="1"/>
          </p:cNvSpPr>
          <p:nvPr/>
        </p:nvSpPr>
        <p:spPr bwMode="auto">
          <a:xfrm>
            <a:off x="3048000" y="2590800"/>
            <a:ext cx="304800" cy="381000"/>
          </a:xfrm>
          <a:prstGeom prst="line">
            <a:avLst/>
          </a:prstGeom>
          <a:noFill/>
          <a:ln w="19050">
            <a:solidFill>
              <a:schemeClr val="tx1"/>
            </a:solidFill>
            <a:round/>
            <a:headEnd/>
            <a:tailEnd type="stealth" w="med" len="lg"/>
          </a:ln>
        </p:spPr>
        <p:txBody>
          <a:bodyPr wrap="none" anchor="ctr"/>
          <a:lstStyle/>
          <a:p>
            <a:endParaRPr lang="en-US"/>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atawarehouse.jpg"/>
          <p:cNvPicPr>
            <a:picLocks noChangeAspect="1"/>
          </p:cNvPicPr>
          <p:nvPr/>
        </p:nvPicPr>
        <p:blipFill>
          <a:blip r:embed="rId2" cstate="print"/>
          <a:stretch>
            <a:fillRect/>
          </a:stretch>
        </p:blipFill>
        <p:spPr>
          <a:xfrm>
            <a:off x="152400" y="76201"/>
            <a:ext cx="8915400" cy="6324599"/>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8600"/>
            <a:ext cx="8766048" cy="990600"/>
          </a:xfrm>
        </p:spPr>
        <p:txBody>
          <a:bodyPr>
            <a:normAutofit/>
          </a:bodyPr>
          <a:lstStyle/>
          <a:p>
            <a:pPr algn="ctr"/>
            <a:r>
              <a:rPr lang="en-US" sz="3600" dirty="0" smtClean="0">
                <a:solidFill>
                  <a:srgbClr val="0070C0"/>
                </a:solidFill>
                <a:latin typeface="Bernard MT Condensed" pitchFamily="18" charset="0"/>
              </a:rPr>
              <a:t>Three-tier data warehouse architecture</a:t>
            </a:r>
            <a:endParaRPr lang="en-US" sz="3600" dirty="0">
              <a:solidFill>
                <a:srgbClr val="0070C0"/>
              </a:solidFill>
              <a:latin typeface="Bernard MT Condensed" pitchFamily="18" charset="0"/>
            </a:endParaRPr>
          </a:p>
        </p:txBody>
      </p:sp>
      <p:sp>
        <p:nvSpPr>
          <p:cNvPr id="3" name="Content Placeholder 2"/>
          <p:cNvSpPr>
            <a:spLocks noGrp="1"/>
          </p:cNvSpPr>
          <p:nvPr>
            <p:ph sz="quarter" idx="1"/>
          </p:nvPr>
        </p:nvSpPr>
        <p:spPr/>
        <p:txBody>
          <a:bodyPr/>
          <a:lstStyle/>
          <a:p>
            <a:pPr marL="514350" indent="-514350" algn="just">
              <a:buFont typeface="+mj-lt"/>
              <a:buAutoNum type="arabicPeriod"/>
            </a:pPr>
            <a:r>
              <a:rPr lang="en-US" dirty="0" smtClean="0"/>
              <a:t>The bottom tiers is a warehouse database server that is almost always a relational database system. Data from operational databases and from external sources are extracted using application program interfaces known as </a:t>
            </a:r>
            <a:r>
              <a:rPr lang="en-US" b="1" dirty="0" smtClean="0"/>
              <a:t>gateways. A gateway is supported by the underlying</a:t>
            </a:r>
            <a:r>
              <a:rPr lang="en-US" dirty="0" smtClean="0"/>
              <a:t> DBMS and allows client programs to execute code.</a:t>
            </a: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8600"/>
            <a:ext cx="8766048" cy="990600"/>
          </a:xfrm>
        </p:spPr>
        <p:txBody>
          <a:bodyPr>
            <a:normAutofit/>
          </a:bodyPr>
          <a:lstStyle/>
          <a:p>
            <a:pPr algn="ctr"/>
            <a:r>
              <a:rPr lang="en-US" sz="3600" dirty="0" smtClean="0">
                <a:solidFill>
                  <a:srgbClr val="0070C0"/>
                </a:solidFill>
                <a:latin typeface="Bernard MT Condensed" pitchFamily="18" charset="0"/>
              </a:rPr>
              <a:t>Three-tier data warehouse architecture</a:t>
            </a:r>
            <a:endParaRPr lang="en-US" sz="3600" dirty="0">
              <a:solidFill>
                <a:srgbClr val="0070C0"/>
              </a:solidFill>
              <a:latin typeface="Bernard MT Condensed" pitchFamily="18" charset="0"/>
            </a:endParaRPr>
          </a:p>
        </p:txBody>
      </p:sp>
      <p:sp>
        <p:nvSpPr>
          <p:cNvPr id="3" name="Content Placeholder 2"/>
          <p:cNvSpPr>
            <a:spLocks noGrp="1"/>
          </p:cNvSpPr>
          <p:nvPr>
            <p:ph sz="quarter" idx="1"/>
          </p:nvPr>
        </p:nvSpPr>
        <p:spPr>
          <a:xfrm>
            <a:off x="228600" y="1600200"/>
            <a:ext cx="8610600" cy="5029200"/>
          </a:xfrm>
        </p:spPr>
        <p:txBody>
          <a:bodyPr>
            <a:normAutofit/>
          </a:bodyPr>
          <a:lstStyle/>
          <a:p>
            <a:pPr marL="514350" indent="-514350" algn="just">
              <a:buFont typeface="+mj-lt"/>
              <a:buAutoNum type="arabicPeriod" startAt="2"/>
            </a:pPr>
            <a:r>
              <a:rPr lang="en-US" dirty="0" smtClean="0"/>
              <a:t>The middle tier is an </a:t>
            </a:r>
            <a:r>
              <a:rPr lang="en-US" b="1" dirty="0" smtClean="0"/>
              <a:t>OLAP server that is typically implemented using a relational OLAP</a:t>
            </a:r>
            <a:r>
              <a:rPr lang="en-US" dirty="0" smtClean="0"/>
              <a:t>(ROLAP) model.</a:t>
            </a:r>
          </a:p>
          <a:p>
            <a:pPr marL="514350" indent="-514350" algn="just">
              <a:buFont typeface="+mj-lt"/>
              <a:buAutoNum type="arabicPeriod" startAt="2"/>
            </a:pPr>
            <a:r>
              <a:rPr lang="en-US" dirty="0" smtClean="0"/>
              <a:t>The top tier is a </a:t>
            </a:r>
            <a:r>
              <a:rPr lang="en-US" b="1" dirty="0" smtClean="0"/>
              <a:t>client, which contains query and &amp; reporting tools, analysis tools and/or </a:t>
            </a:r>
            <a:r>
              <a:rPr lang="en-US" dirty="0" smtClean="0"/>
              <a:t>data mining tools.</a:t>
            </a:r>
          </a:p>
          <a:p>
            <a:pPr marL="514350" indent="-514350" algn="just">
              <a:buFont typeface="+mj-lt"/>
              <a:buAutoNum type="arabicPeriod" startAt="2"/>
            </a:pPr>
            <a:endParaRPr lang="en-US" dirty="0" smtClean="0"/>
          </a:p>
          <a:p>
            <a:pPr marL="514350" indent="-514350" algn="just">
              <a:buNone/>
            </a:pPr>
            <a:r>
              <a:rPr lang="en-US" dirty="0" smtClean="0"/>
              <a:t>     From the architecture point of view there are three data warehouse models: the enterprise warehouse, the data mart, and the virtual warehouse.</a:t>
            </a:r>
          </a:p>
          <a:p>
            <a:pPr marL="514350" indent="-514350">
              <a:buNone/>
            </a:pP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5"/>
          <p:cNvSpPr>
            <a:spLocks noGrp="1"/>
          </p:cNvSpPr>
          <p:nvPr>
            <p:ph type="sldNum" sz="quarter" idx="12"/>
          </p:nvPr>
        </p:nvSpPr>
        <p:spPr>
          <a:noFill/>
        </p:spPr>
        <p:txBody>
          <a:bodyPr>
            <a:normAutofit fontScale="85000" lnSpcReduction="20000"/>
          </a:bodyPr>
          <a:lstStyle/>
          <a:p>
            <a:fld id="{3E9C3B75-6F39-40BB-9B20-76A35DC7EB6B}" type="slidenum">
              <a:rPr lang="en-US" smtClean="0"/>
              <a:pPr/>
              <a:t>40</a:t>
            </a:fld>
            <a:endParaRPr lang="en-US" dirty="0" smtClean="0"/>
          </a:p>
        </p:txBody>
      </p:sp>
      <p:sp>
        <p:nvSpPr>
          <p:cNvPr id="18435" name="Rectangle 2"/>
          <p:cNvSpPr>
            <a:spLocks noGrp="1" noChangeArrowheads="1"/>
          </p:cNvSpPr>
          <p:nvPr>
            <p:ph type="title"/>
          </p:nvPr>
        </p:nvSpPr>
        <p:spPr>
          <a:xfrm>
            <a:off x="790575" y="381000"/>
            <a:ext cx="7294563" cy="609600"/>
          </a:xfrm>
          <a:noFill/>
        </p:spPr>
        <p:txBody>
          <a:bodyPr lIns="92075" tIns="46038" rIns="92075" bIns="46038">
            <a:noAutofit/>
          </a:bodyPr>
          <a:lstStyle/>
          <a:p>
            <a:pPr eaLnBrk="1" hangingPunct="1"/>
            <a:r>
              <a:rPr lang="en-US" sz="3600" dirty="0" smtClean="0">
                <a:solidFill>
                  <a:srgbClr val="0070C0"/>
                </a:solidFill>
                <a:latin typeface="Bernard MT Condensed" pitchFamily="18" charset="0"/>
              </a:rPr>
              <a:t>Three Data Warehouse Models</a:t>
            </a:r>
          </a:p>
        </p:txBody>
      </p:sp>
      <p:sp>
        <p:nvSpPr>
          <p:cNvPr id="18436" name="Rectangle 3"/>
          <p:cNvSpPr>
            <a:spLocks noGrp="1" noChangeArrowheads="1"/>
          </p:cNvSpPr>
          <p:nvPr>
            <p:ph type="body" idx="1"/>
          </p:nvPr>
        </p:nvSpPr>
        <p:spPr>
          <a:xfrm>
            <a:off x="381000" y="1371600"/>
            <a:ext cx="8591550" cy="5105400"/>
          </a:xfrm>
          <a:noFill/>
        </p:spPr>
        <p:txBody>
          <a:bodyPr lIns="92075" tIns="46038" rIns="92075" bIns="46038"/>
          <a:lstStyle/>
          <a:p>
            <a:pPr eaLnBrk="1" hangingPunct="1">
              <a:lnSpc>
                <a:spcPct val="110000"/>
              </a:lnSpc>
              <a:spcBef>
                <a:spcPct val="10000"/>
              </a:spcBef>
            </a:pPr>
            <a:r>
              <a:rPr lang="en-US" sz="2400" dirty="0" smtClean="0">
                <a:solidFill>
                  <a:srgbClr val="FF0000"/>
                </a:solidFill>
              </a:rPr>
              <a:t>Enterprise warehouse</a:t>
            </a:r>
          </a:p>
          <a:p>
            <a:pPr lvl="1" eaLnBrk="1" hangingPunct="1">
              <a:lnSpc>
                <a:spcPct val="110000"/>
              </a:lnSpc>
              <a:spcBef>
                <a:spcPct val="10000"/>
              </a:spcBef>
            </a:pPr>
            <a:r>
              <a:rPr lang="en-US" sz="2400" dirty="0" smtClean="0"/>
              <a:t>collects all of the information about subjects spanning the entire organization</a:t>
            </a:r>
          </a:p>
          <a:p>
            <a:pPr eaLnBrk="1" hangingPunct="1">
              <a:lnSpc>
                <a:spcPct val="110000"/>
              </a:lnSpc>
              <a:spcBef>
                <a:spcPct val="10000"/>
              </a:spcBef>
            </a:pPr>
            <a:r>
              <a:rPr lang="en-US" sz="2400" dirty="0" smtClean="0">
                <a:solidFill>
                  <a:srgbClr val="FF0000"/>
                </a:solidFill>
              </a:rPr>
              <a:t>Data Mart</a:t>
            </a:r>
          </a:p>
          <a:p>
            <a:pPr lvl="1" eaLnBrk="1" hangingPunct="1">
              <a:lnSpc>
                <a:spcPct val="110000"/>
              </a:lnSpc>
              <a:spcBef>
                <a:spcPct val="10000"/>
              </a:spcBef>
            </a:pPr>
            <a:r>
              <a:rPr lang="en-US" sz="2400" dirty="0" smtClean="0"/>
              <a:t>a subset of corporate-wide data that is of value to a specific groups of users.  Its scope is confined to specific, selected groups, such as marketing data mart</a:t>
            </a:r>
          </a:p>
          <a:p>
            <a:pPr lvl="2" eaLnBrk="1" hangingPunct="1">
              <a:lnSpc>
                <a:spcPct val="110000"/>
              </a:lnSpc>
              <a:spcBef>
                <a:spcPct val="10000"/>
              </a:spcBef>
            </a:pPr>
            <a:r>
              <a:rPr lang="en-US" sz="2000" dirty="0" smtClean="0"/>
              <a:t>Independent vs. dependent (directly from warehouse) data mart</a:t>
            </a:r>
          </a:p>
          <a:p>
            <a:pPr eaLnBrk="1" hangingPunct="1">
              <a:lnSpc>
                <a:spcPct val="110000"/>
              </a:lnSpc>
              <a:spcBef>
                <a:spcPct val="10000"/>
              </a:spcBef>
            </a:pPr>
            <a:r>
              <a:rPr lang="en-US" sz="2400" dirty="0" smtClean="0">
                <a:solidFill>
                  <a:srgbClr val="FF0000"/>
                </a:solidFill>
              </a:rPr>
              <a:t>Virtual warehouse</a:t>
            </a:r>
          </a:p>
          <a:p>
            <a:pPr lvl="1" eaLnBrk="1" hangingPunct="1">
              <a:lnSpc>
                <a:spcPct val="110000"/>
              </a:lnSpc>
              <a:spcBef>
                <a:spcPct val="10000"/>
              </a:spcBef>
            </a:pPr>
            <a:r>
              <a:rPr lang="en-US" sz="2400" dirty="0" smtClean="0"/>
              <a:t>A set of views over operational databases</a:t>
            </a:r>
          </a:p>
          <a:p>
            <a:pPr lvl="1" eaLnBrk="1" hangingPunct="1">
              <a:lnSpc>
                <a:spcPct val="110000"/>
              </a:lnSpc>
              <a:spcBef>
                <a:spcPct val="10000"/>
              </a:spcBef>
            </a:pPr>
            <a:r>
              <a:rPr lang="en-US" sz="2400" dirty="0" smtClean="0"/>
              <a:t>Only some of the possible summary views may be materialized</a:t>
            </a:r>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p:cNvSpPr>
            <a:spLocks noGrp="1"/>
          </p:cNvSpPr>
          <p:nvPr>
            <p:ph type="sldNum" sz="quarter" idx="12"/>
          </p:nvPr>
        </p:nvSpPr>
        <p:spPr>
          <a:noFill/>
        </p:spPr>
        <p:txBody>
          <a:bodyPr>
            <a:normAutofit fontScale="85000" lnSpcReduction="20000"/>
          </a:bodyPr>
          <a:lstStyle/>
          <a:p>
            <a:fld id="{5139B6B7-EF53-445B-BF4B-0BCD1494EEF5}" type="slidenum">
              <a:rPr lang="en-US" smtClean="0"/>
              <a:pPr/>
              <a:t>41</a:t>
            </a:fld>
            <a:endParaRPr lang="en-US" dirty="0" smtClean="0"/>
          </a:p>
        </p:txBody>
      </p:sp>
      <p:sp>
        <p:nvSpPr>
          <p:cNvPr id="19459" name="Rectangle 2"/>
          <p:cNvSpPr>
            <a:spLocks noGrp="1" noChangeArrowheads="1"/>
          </p:cNvSpPr>
          <p:nvPr>
            <p:ph type="title"/>
          </p:nvPr>
        </p:nvSpPr>
        <p:spPr>
          <a:xfrm>
            <a:off x="76200" y="304800"/>
            <a:ext cx="8991600" cy="685800"/>
          </a:xfrm>
        </p:spPr>
        <p:txBody>
          <a:bodyPr>
            <a:normAutofit/>
          </a:bodyPr>
          <a:lstStyle/>
          <a:p>
            <a:pPr algn="ctr" eaLnBrk="1" hangingPunct="1"/>
            <a:r>
              <a:rPr lang="en-US" sz="3600" dirty="0" smtClean="0">
                <a:solidFill>
                  <a:srgbClr val="0070C0"/>
                </a:solidFill>
                <a:latin typeface="Bernard MT Condensed" pitchFamily="18" charset="0"/>
              </a:rPr>
              <a:t>Extraction, Transformation, and Loading (ETL)</a:t>
            </a:r>
          </a:p>
        </p:txBody>
      </p:sp>
      <p:sp>
        <p:nvSpPr>
          <p:cNvPr id="19460" name="Rectangle 3"/>
          <p:cNvSpPr>
            <a:spLocks noGrp="1" noChangeArrowheads="1"/>
          </p:cNvSpPr>
          <p:nvPr>
            <p:ph type="body" idx="1"/>
          </p:nvPr>
        </p:nvSpPr>
        <p:spPr>
          <a:xfrm>
            <a:off x="304800" y="1524000"/>
            <a:ext cx="8534400" cy="5181600"/>
          </a:xfrm>
        </p:spPr>
        <p:txBody>
          <a:bodyPr/>
          <a:lstStyle/>
          <a:p>
            <a:pPr eaLnBrk="1" hangingPunct="1">
              <a:lnSpc>
                <a:spcPct val="90000"/>
              </a:lnSpc>
            </a:pPr>
            <a:r>
              <a:rPr lang="en-US" sz="2400" b="1" dirty="0" smtClean="0">
                <a:solidFill>
                  <a:srgbClr val="C00000"/>
                </a:solidFill>
              </a:rPr>
              <a:t>Data extraction</a:t>
            </a:r>
          </a:p>
          <a:p>
            <a:pPr lvl="1" eaLnBrk="1" hangingPunct="1">
              <a:lnSpc>
                <a:spcPct val="90000"/>
              </a:lnSpc>
            </a:pPr>
            <a:r>
              <a:rPr lang="en-US" sz="2400" dirty="0" smtClean="0"/>
              <a:t>get data from multiple, heterogeneous, and external sources</a:t>
            </a:r>
          </a:p>
          <a:p>
            <a:pPr eaLnBrk="1" hangingPunct="1">
              <a:lnSpc>
                <a:spcPct val="90000"/>
              </a:lnSpc>
            </a:pPr>
            <a:r>
              <a:rPr lang="en-US" sz="2400" b="1" dirty="0" smtClean="0">
                <a:solidFill>
                  <a:srgbClr val="C00000"/>
                </a:solidFill>
              </a:rPr>
              <a:t>Data cleaning</a:t>
            </a:r>
          </a:p>
          <a:p>
            <a:pPr lvl="1" eaLnBrk="1" hangingPunct="1">
              <a:lnSpc>
                <a:spcPct val="90000"/>
              </a:lnSpc>
            </a:pPr>
            <a:r>
              <a:rPr lang="en-US" sz="2400" dirty="0" smtClean="0"/>
              <a:t>detect errors in the data and rectify them when possible</a:t>
            </a:r>
          </a:p>
          <a:p>
            <a:pPr eaLnBrk="1" hangingPunct="1">
              <a:lnSpc>
                <a:spcPct val="90000"/>
              </a:lnSpc>
            </a:pPr>
            <a:r>
              <a:rPr lang="en-US" sz="2400" b="1" dirty="0" smtClean="0">
                <a:solidFill>
                  <a:srgbClr val="C00000"/>
                </a:solidFill>
              </a:rPr>
              <a:t>Data transformation</a:t>
            </a:r>
          </a:p>
          <a:p>
            <a:pPr lvl="1" eaLnBrk="1" hangingPunct="1">
              <a:lnSpc>
                <a:spcPct val="90000"/>
              </a:lnSpc>
            </a:pPr>
            <a:r>
              <a:rPr lang="en-US" sz="2400" dirty="0" smtClean="0"/>
              <a:t>convert data from legacy or host format to warehouse format</a:t>
            </a:r>
          </a:p>
          <a:p>
            <a:pPr eaLnBrk="1" hangingPunct="1">
              <a:lnSpc>
                <a:spcPct val="90000"/>
              </a:lnSpc>
            </a:pPr>
            <a:r>
              <a:rPr lang="en-US" sz="2400" b="1" dirty="0" smtClean="0">
                <a:solidFill>
                  <a:srgbClr val="C00000"/>
                </a:solidFill>
              </a:rPr>
              <a:t>Load</a:t>
            </a:r>
          </a:p>
          <a:p>
            <a:pPr lvl="1" eaLnBrk="1" hangingPunct="1">
              <a:lnSpc>
                <a:spcPct val="90000"/>
              </a:lnSpc>
            </a:pPr>
            <a:r>
              <a:rPr lang="en-US" sz="2400" dirty="0" smtClean="0"/>
              <a:t>sort, summarize, consolidate, compute views, check integrity, and build indices and partitions</a:t>
            </a:r>
          </a:p>
          <a:p>
            <a:pPr eaLnBrk="1" hangingPunct="1">
              <a:lnSpc>
                <a:spcPct val="90000"/>
              </a:lnSpc>
            </a:pPr>
            <a:r>
              <a:rPr lang="en-US" sz="2400" b="1" dirty="0" smtClean="0">
                <a:solidFill>
                  <a:srgbClr val="C00000"/>
                </a:solidFill>
              </a:rPr>
              <a:t>Refresh</a:t>
            </a:r>
          </a:p>
          <a:p>
            <a:pPr lvl="1" eaLnBrk="1" hangingPunct="1">
              <a:lnSpc>
                <a:spcPct val="90000"/>
              </a:lnSpc>
            </a:pPr>
            <a:r>
              <a:rPr lang="en-US" sz="2400" dirty="0" smtClean="0"/>
              <a:t>propagate the updates from the data sources to the warehouse</a:t>
            </a:r>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5"/>
          <p:cNvSpPr>
            <a:spLocks noGrp="1"/>
          </p:cNvSpPr>
          <p:nvPr>
            <p:ph type="sldNum" sz="quarter" idx="12"/>
          </p:nvPr>
        </p:nvSpPr>
        <p:spPr>
          <a:noFill/>
        </p:spPr>
        <p:txBody>
          <a:bodyPr>
            <a:normAutofit fontScale="85000" lnSpcReduction="20000"/>
          </a:bodyPr>
          <a:lstStyle/>
          <a:p>
            <a:fld id="{919F67A4-ED59-4052-9562-1BBA7E4BE87C}" type="slidenum">
              <a:rPr lang="en-US" smtClean="0"/>
              <a:pPr/>
              <a:t>42</a:t>
            </a:fld>
            <a:endParaRPr lang="en-US" dirty="0" smtClean="0"/>
          </a:p>
        </p:txBody>
      </p:sp>
      <p:sp>
        <p:nvSpPr>
          <p:cNvPr id="20483" name="Rectangle 2"/>
          <p:cNvSpPr>
            <a:spLocks noGrp="1" noChangeArrowheads="1"/>
          </p:cNvSpPr>
          <p:nvPr>
            <p:ph type="title"/>
          </p:nvPr>
        </p:nvSpPr>
        <p:spPr>
          <a:noFill/>
        </p:spPr>
        <p:txBody>
          <a:bodyPr lIns="92075" tIns="46038" rIns="92075" bIns="46038">
            <a:normAutofit/>
          </a:bodyPr>
          <a:lstStyle/>
          <a:p>
            <a:pPr algn="ctr" eaLnBrk="1" hangingPunct="1"/>
            <a:r>
              <a:rPr lang="en-US" sz="3600" dirty="0" smtClean="0">
                <a:solidFill>
                  <a:srgbClr val="0070C0"/>
                </a:solidFill>
                <a:latin typeface="Bernard MT Condensed" pitchFamily="18" charset="0"/>
              </a:rPr>
              <a:t>Metadata Repository</a:t>
            </a:r>
          </a:p>
        </p:txBody>
      </p:sp>
      <p:sp>
        <p:nvSpPr>
          <p:cNvPr id="20484" name="Rectangle 3"/>
          <p:cNvSpPr>
            <a:spLocks noGrp="1" noChangeArrowheads="1"/>
          </p:cNvSpPr>
          <p:nvPr>
            <p:ph type="body" idx="1"/>
          </p:nvPr>
        </p:nvSpPr>
        <p:spPr>
          <a:xfrm>
            <a:off x="0" y="1524000"/>
            <a:ext cx="9144000" cy="5257800"/>
          </a:xfrm>
          <a:noFill/>
        </p:spPr>
        <p:txBody>
          <a:bodyPr lIns="92075" tIns="46038" rIns="92075" bIns="46038">
            <a:normAutofit lnSpcReduction="10000"/>
          </a:bodyPr>
          <a:lstStyle/>
          <a:p>
            <a:pPr eaLnBrk="1" hangingPunct="1">
              <a:lnSpc>
                <a:spcPct val="110000"/>
              </a:lnSpc>
            </a:pPr>
            <a:r>
              <a:rPr lang="en-US" sz="2000" b="1" dirty="0" smtClean="0"/>
              <a:t>Meta data</a:t>
            </a:r>
            <a:r>
              <a:rPr lang="en-US" sz="2000" dirty="0" smtClean="0"/>
              <a:t> is the data defining warehouse objects.  It stores:</a:t>
            </a:r>
          </a:p>
          <a:p>
            <a:pPr eaLnBrk="1" hangingPunct="1">
              <a:lnSpc>
                <a:spcPct val="110000"/>
              </a:lnSpc>
            </a:pPr>
            <a:r>
              <a:rPr lang="en-US" sz="2000" dirty="0" smtClean="0"/>
              <a:t>Description of the </a:t>
            </a:r>
            <a:r>
              <a:rPr lang="en-US" sz="2000" dirty="0" smtClean="0">
                <a:solidFill>
                  <a:schemeClr val="folHlink"/>
                </a:solidFill>
              </a:rPr>
              <a:t>structure</a:t>
            </a:r>
            <a:r>
              <a:rPr lang="en-US" sz="2000" dirty="0" smtClean="0"/>
              <a:t> of the data warehouse</a:t>
            </a:r>
          </a:p>
          <a:p>
            <a:pPr lvl="1" eaLnBrk="1" hangingPunct="1">
              <a:lnSpc>
                <a:spcPct val="110000"/>
              </a:lnSpc>
            </a:pPr>
            <a:r>
              <a:rPr lang="en-US" sz="2000" dirty="0" smtClean="0"/>
              <a:t>schema, view, dimensions, hierarchies, derived data </a:t>
            </a:r>
            <a:r>
              <a:rPr lang="en-US" sz="2000" dirty="0" err="1" smtClean="0"/>
              <a:t>defn</a:t>
            </a:r>
            <a:r>
              <a:rPr lang="en-US" sz="2000" dirty="0" smtClean="0"/>
              <a:t>, data mart locations and contents</a:t>
            </a:r>
          </a:p>
          <a:p>
            <a:pPr eaLnBrk="1" hangingPunct="1">
              <a:lnSpc>
                <a:spcPct val="110000"/>
              </a:lnSpc>
            </a:pPr>
            <a:r>
              <a:rPr lang="en-US" sz="2000" dirty="0" smtClean="0">
                <a:solidFill>
                  <a:srgbClr val="C00000"/>
                </a:solidFill>
              </a:rPr>
              <a:t>Operational </a:t>
            </a:r>
            <a:r>
              <a:rPr lang="en-US" sz="2000" dirty="0" smtClean="0"/>
              <a:t>meta-data</a:t>
            </a:r>
          </a:p>
          <a:p>
            <a:pPr lvl="1" eaLnBrk="1" hangingPunct="1">
              <a:lnSpc>
                <a:spcPct val="110000"/>
              </a:lnSpc>
            </a:pPr>
            <a:r>
              <a:rPr lang="en-US" sz="2000" dirty="0" smtClean="0"/>
              <a:t>data lineage (history of migrated data and transformation path), currency of data (active, archived, or purged), monitoring information (warehouse usage statistics, error reports, audit trails)</a:t>
            </a:r>
          </a:p>
          <a:p>
            <a:pPr lvl="1">
              <a:lnSpc>
                <a:spcPct val="110000"/>
              </a:lnSpc>
            </a:pPr>
            <a:r>
              <a:rPr lang="en-US" sz="1700" dirty="0" smtClean="0"/>
              <a:t>The </a:t>
            </a:r>
            <a:r>
              <a:rPr lang="en-US" sz="1700" dirty="0" smtClean="0">
                <a:solidFill>
                  <a:srgbClr val="C00000"/>
                </a:solidFill>
              </a:rPr>
              <a:t>algorithms </a:t>
            </a:r>
            <a:r>
              <a:rPr lang="en-US" sz="1700" dirty="0" smtClean="0"/>
              <a:t>used for summarization</a:t>
            </a:r>
          </a:p>
          <a:p>
            <a:pPr lvl="1">
              <a:lnSpc>
                <a:spcPct val="110000"/>
              </a:lnSpc>
            </a:pPr>
            <a:r>
              <a:rPr lang="en-US" sz="1700" dirty="0" smtClean="0"/>
              <a:t>The </a:t>
            </a:r>
            <a:r>
              <a:rPr lang="en-US" sz="1700" dirty="0" smtClean="0">
                <a:solidFill>
                  <a:srgbClr val="C00000"/>
                </a:solidFill>
              </a:rPr>
              <a:t>mapping</a:t>
            </a:r>
            <a:r>
              <a:rPr lang="en-US" sz="1700" dirty="0" smtClean="0"/>
              <a:t> from operational environment to the data warehouse</a:t>
            </a:r>
          </a:p>
          <a:p>
            <a:pPr lvl="1">
              <a:lnSpc>
                <a:spcPct val="110000"/>
              </a:lnSpc>
            </a:pPr>
            <a:r>
              <a:rPr lang="en-US" sz="1700" dirty="0" smtClean="0"/>
              <a:t>Data related to </a:t>
            </a:r>
            <a:r>
              <a:rPr lang="en-US" sz="1700" dirty="0" smtClean="0">
                <a:solidFill>
                  <a:srgbClr val="C00000"/>
                </a:solidFill>
              </a:rPr>
              <a:t>system performance</a:t>
            </a:r>
          </a:p>
          <a:p>
            <a:pPr lvl="2">
              <a:lnSpc>
                <a:spcPct val="110000"/>
              </a:lnSpc>
              <a:spcBef>
                <a:spcPct val="0"/>
              </a:spcBef>
            </a:pPr>
            <a:r>
              <a:rPr lang="en-US" sz="1700" dirty="0" smtClean="0"/>
              <a:t>warehouse schema, view and derived data definitions</a:t>
            </a:r>
          </a:p>
          <a:p>
            <a:pPr eaLnBrk="1" hangingPunct="1">
              <a:lnSpc>
                <a:spcPct val="110000"/>
              </a:lnSpc>
            </a:pPr>
            <a:r>
              <a:rPr lang="en-US" sz="2000" dirty="0" smtClean="0">
                <a:solidFill>
                  <a:srgbClr val="C00000"/>
                </a:solidFill>
              </a:rPr>
              <a:t>Business data</a:t>
            </a:r>
          </a:p>
          <a:p>
            <a:pPr lvl="1" eaLnBrk="1" hangingPunct="1">
              <a:lnSpc>
                <a:spcPct val="110000"/>
              </a:lnSpc>
            </a:pPr>
            <a:r>
              <a:rPr lang="en-US" sz="2000" dirty="0" smtClean="0"/>
              <a:t>business terms and definitions, ownership of data, charging policies</a:t>
            </a:r>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dirty="0" smtClean="0">
                <a:solidFill>
                  <a:srgbClr val="0070C0"/>
                </a:solidFill>
                <a:latin typeface="Bernard MT Condensed" pitchFamily="18" charset="0"/>
              </a:rPr>
              <a:t/>
            </a:r>
            <a:br>
              <a:rPr lang="en-US" dirty="0" smtClean="0">
                <a:solidFill>
                  <a:srgbClr val="0070C0"/>
                </a:solidFill>
                <a:latin typeface="Bernard MT Condensed" pitchFamily="18" charset="0"/>
              </a:rPr>
            </a:br>
            <a:r>
              <a:rPr lang="en-US" dirty="0" smtClean="0">
                <a:solidFill>
                  <a:srgbClr val="0070C0"/>
                </a:solidFill>
                <a:latin typeface="Bernard MT Condensed" pitchFamily="18" charset="0"/>
              </a:rPr>
              <a:t>Types of OLAP Servers</a:t>
            </a:r>
            <a:br>
              <a:rPr lang="en-US" dirty="0" smtClean="0">
                <a:solidFill>
                  <a:srgbClr val="0070C0"/>
                </a:solidFill>
                <a:latin typeface="Bernard MT Condensed" pitchFamily="18" charset="0"/>
              </a:rPr>
            </a:br>
            <a:endParaRPr lang="en-US" dirty="0" smtClean="0">
              <a:solidFill>
                <a:srgbClr val="0070C0"/>
              </a:solidFill>
              <a:latin typeface="Bernard MT Condensed" pitchFamily="18" charset="0"/>
            </a:endParaRPr>
          </a:p>
        </p:txBody>
      </p:sp>
      <p:sp>
        <p:nvSpPr>
          <p:cNvPr id="3" name="Content Placeholder 2"/>
          <p:cNvSpPr>
            <a:spLocks noGrp="1"/>
          </p:cNvSpPr>
          <p:nvPr>
            <p:ph sz="quarter" idx="1"/>
          </p:nvPr>
        </p:nvSpPr>
        <p:spPr>
          <a:xfrm>
            <a:off x="0" y="1600200"/>
            <a:ext cx="9144000" cy="4495800"/>
          </a:xfrm>
        </p:spPr>
        <p:txBody>
          <a:bodyPr>
            <a:normAutofit lnSpcReduction="10000"/>
          </a:bodyPr>
          <a:lstStyle/>
          <a:p>
            <a:pPr algn="just"/>
            <a:r>
              <a:rPr lang="en-US" dirty="0" smtClean="0"/>
              <a:t>Normally business users are presented with Multidimensional data from data warehouses or data marts without them being aware of the way in which </a:t>
            </a:r>
            <a:r>
              <a:rPr lang="en-US" dirty="0" err="1" smtClean="0"/>
              <a:t>i</a:t>
            </a:r>
            <a:r>
              <a:rPr lang="en-US" dirty="0" smtClean="0"/>
              <a:t>. e. how or where the data are stored. However, the physical architecture and implementation of OLAP servers need to take into consideration the issues regarding data storage. </a:t>
            </a:r>
          </a:p>
          <a:p>
            <a:pPr algn="just"/>
            <a:r>
              <a:rPr lang="en-US" dirty="0" smtClean="0"/>
              <a:t>So there are three types of OLAP Servers .</a:t>
            </a:r>
          </a:p>
          <a:p>
            <a:pPr marL="834390" lvl="1" indent="-514350" algn="just">
              <a:buFont typeface="+mj-lt"/>
              <a:buAutoNum type="arabicPeriod"/>
            </a:pPr>
            <a:r>
              <a:rPr lang="en-US" b="1" dirty="0" smtClean="0"/>
              <a:t>Relational OLAP(ROLAP)servers:</a:t>
            </a:r>
          </a:p>
          <a:p>
            <a:pPr marL="834390" lvl="1" indent="-514350" algn="just">
              <a:buFont typeface="+mj-lt"/>
              <a:buAutoNum type="arabicPeriod"/>
            </a:pPr>
            <a:r>
              <a:rPr lang="en-US" b="1" dirty="0" smtClean="0"/>
              <a:t>Multidimensional OLAP (MOLAP) servers</a:t>
            </a:r>
          </a:p>
          <a:p>
            <a:pPr marL="834390" lvl="1" indent="-514350" algn="just">
              <a:buFont typeface="+mj-lt"/>
              <a:buAutoNum type="arabicPeriod"/>
            </a:pPr>
            <a:r>
              <a:rPr lang="en-US" b="1" dirty="0" smtClean="0"/>
              <a:t>Hybrid OLAP (HOLAP) servers:</a:t>
            </a:r>
            <a:endParaRPr lang="en-US" dirty="0" smtClean="0"/>
          </a:p>
          <a:p>
            <a:pPr lvl="1" algn="just"/>
            <a:endParaRPr lang="en-US" dirty="0" smtClean="0"/>
          </a:p>
          <a:p>
            <a:pPr lvl="1" algn="just"/>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en-US" dirty="0" smtClean="0"/>
              <a:t>http://www.cs.washington.edu/education/courses/csep573/01sp/lectures/class1/sld027.htm</a:t>
            </a:r>
          </a:p>
          <a:p>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1" algn="ctr" rtl="0">
              <a:spcBef>
                <a:spcPct val="0"/>
              </a:spcBef>
            </a:pPr>
            <a:r>
              <a:rPr lang="en-US" sz="3600" kern="1200" dirty="0" smtClean="0">
                <a:solidFill>
                  <a:srgbClr val="0070C0"/>
                </a:solidFill>
                <a:latin typeface="Bernard MT Condensed" pitchFamily="18" charset="0"/>
                <a:ea typeface="+mj-ea"/>
                <a:cs typeface="+mj-cs"/>
              </a:rPr>
              <a:t/>
            </a:r>
            <a:br>
              <a:rPr lang="en-US" sz="3600" kern="1200" dirty="0" smtClean="0">
                <a:solidFill>
                  <a:srgbClr val="0070C0"/>
                </a:solidFill>
                <a:latin typeface="Bernard MT Condensed" pitchFamily="18" charset="0"/>
                <a:ea typeface="+mj-ea"/>
                <a:cs typeface="+mj-cs"/>
              </a:rPr>
            </a:br>
            <a:r>
              <a:rPr lang="en-US" sz="3600" kern="1200" dirty="0" smtClean="0">
                <a:solidFill>
                  <a:srgbClr val="0070C0"/>
                </a:solidFill>
                <a:latin typeface="Bernard MT Condensed" pitchFamily="18" charset="0"/>
                <a:ea typeface="+mj-ea"/>
                <a:cs typeface="+mj-cs"/>
              </a:rPr>
              <a:t>Relational </a:t>
            </a:r>
            <a:r>
              <a:rPr lang="en-US" sz="3600" kern="1200" dirty="0">
                <a:solidFill>
                  <a:srgbClr val="0070C0"/>
                </a:solidFill>
                <a:latin typeface="Bernard MT Condensed" pitchFamily="18" charset="0"/>
                <a:ea typeface="+mj-ea"/>
                <a:cs typeface="+mj-cs"/>
              </a:rPr>
              <a:t>OLAP(ROLAP)servers:</a:t>
            </a:r>
            <a:br>
              <a:rPr lang="en-US" sz="3600" kern="1200" dirty="0">
                <a:solidFill>
                  <a:srgbClr val="0070C0"/>
                </a:solidFill>
                <a:latin typeface="Bernard MT Condensed" pitchFamily="18" charset="0"/>
                <a:ea typeface="+mj-ea"/>
                <a:cs typeface="+mj-cs"/>
              </a:rPr>
            </a:br>
            <a:endParaRPr lang="en-US" sz="3600" kern="1200" dirty="0">
              <a:solidFill>
                <a:srgbClr val="0070C0"/>
              </a:solidFill>
              <a:latin typeface="Bernard MT Condensed" pitchFamily="18" charset="0"/>
              <a:ea typeface="+mj-ea"/>
              <a:cs typeface="+mj-cs"/>
            </a:endParaRPr>
          </a:p>
        </p:txBody>
      </p:sp>
      <p:sp>
        <p:nvSpPr>
          <p:cNvPr id="3" name="Content Placeholder 2"/>
          <p:cNvSpPr>
            <a:spLocks noGrp="1"/>
          </p:cNvSpPr>
          <p:nvPr>
            <p:ph sz="quarter" idx="1"/>
          </p:nvPr>
        </p:nvSpPr>
        <p:spPr/>
        <p:txBody>
          <a:bodyPr/>
          <a:lstStyle/>
          <a:p>
            <a:pPr algn="just"/>
            <a:r>
              <a:rPr lang="en-US" dirty="0" smtClean="0"/>
              <a:t>These are intermediate servers that stand in between a relational back-end server and client front-end tools. </a:t>
            </a:r>
          </a:p>
          <a:p>
            <a:pPr algn="just"/>
            <a:r>
              <a:rPr lang="en-US" dirty="0" smtClean="0"/>
              <a:t>They use a relational or an extended relational DBMS to store and manage warehouse data, OLAP middle ware to support missing pieces.</a:t>
            </a: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dirty="0" smtClean="0">
                <a:solidFill>
                  <a:srgbClr val="0070C0"/>
                </a:solidFill>
                <a:latin typeface="Bernard MT Condensed" pitchFamily="18" charset="0"/>
              </a:rPr>
              <a:t>Multidimensional OLAP (MOLAP) servers:</a:t>
            </a:r>
          </a:p>
        </p:txBody>
      </p:sp>
      <p:sp>
        <p:nvSpPr>
          <p:cNvPr id="3" name="Content Placeholder 2"/>
          <p:cNvSpPr>
            <a:spLocks noGrp="1"/>
          </p:cNvSpPr>
          <p:nvPr>
            <p:ph sz="quarter" idx="1"/>
          </p:nvPr>
        </p:nvSpPr>
        <p:spPr/>
        <p:txBody>
          <a:bodyPr>
            <a:normAutofit/>
          </a:bodyPr>
          <a:lstStyle/>
          <a:p>
            <a:pPr algn="just"/>
            <a:r>
              <a:rPr lang="en-US" dirty="0" smtClean="0"/>
              <a:t>These servers support multidimensional view of data through array based multi dimensional storage engines.  </a:t>
            </a:r>
          </a:p>
          <a:p>
            <a:pPr algn="just"/>
            <a:r>
              <a:rPr lang="en-US" dirty="0" smtClean="0"/>
              <a:t>They map multidimensional views directly to data cube array structures.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dirty="0" smtClean="0">
                <a:solidFill>
                  <a:srgbClr val="0070C0"/>
                </a:solidFill>
                <a:latin typeface="Bernard MT Condensed" pitchFamily="18" charset="0"/>
              </a:rPr>
              <a:t>Hybrid OLAP (HOLAP) servers:</a:t>
            </a:r>
          </a:p>
        </p:txBody>
      </p:sp>
      <p:sp>
        <p:nvSpPr>
          <p:cNvPr id="3" name="Content Placeholder 2"/>
          <p:cNvSpPr>
            <a:spLocks noGrp="1"/>
          </p:cNvSpPr>
          <p:nvPr>
            <p:ph sz="quarter" idx="1"/>
          </p:nvPr>
        </p:nvSpPr>
        <p:spPr/>
        <p:txBody>
          <a:bodyPr/>
          <a:lstStyle/>
          <a:p>
            <a:pPr algn="just"/>
            <a:r>
              <a:rPr lang="en-US" dirty="0" smtClean="0"/>
              <a:t>The hybrid OLAP approach combines ROLAP and MOLAP technologies providing greater scalability and faster computation of MOLAP. </a:t>
            </a:r>
          </a:p>
          <a:p>
            <a:pPr algn="just">
              <a:buNone/>
            </a:pPr>
            <a:endParaRPr lang="en-US" dirty="0" smtClean="0"/>
          </a:p>
          <a:p>
            <a:pPr algn="just"/>
            <a:r>
              <a:rPr lang="en-US" dirty="0" smtClean="0"/>
              <a:t> For example, a HOLAP server may allow large volumes of data to be kept in a relational database and aggregations to be kept in separate MOLAP store.</a:t>
            </a: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endParaRPr lang="en-US" dirty="0"/>
          </a:p>
        </p:txBody>
      </p:sp>
      <p:pic>
        <p:nvPicPr>
          <p:cNvPr id="41986" name="Picture 2" descr="http://www.cs.washington.edu/education/courses/csep573/01sp/lectures/class1/img054.jpg"/>
          <p:cNvPicPr>
            <a:picLocks noChangeAspect="1" noChangeArrowheads="1"/>
          </p:cNvPicPr>
          <p:nvPr/>
        </p:nvPicPr>
        <p:blipFill>
          <a:blip r:embed="rId2" cstate="print"/>
          <a:srcRect/>
          <a:stretch>
            <a:fillRect/>
          </a:stretch>
        </p:blipFill>
        <p:spPr bwMode="auto">
          <a:xfrm>
            <a:off x="0" y="-76200"/>
            <a:ext cx="9144000" cy="7036970"/>
          </a:xfrm>
          <a:prstGeom prst="rect">
            <a:avLst/>
          </a:prstGeom>
          <a:noFill/>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endParaRPr lang="en-US"/>
          </a:p>
        </p:txBody>
      </p:sp>
      <p:pic>
        <p:nvPicPr>
          <p:cNvPr id="40962" name="Picture 2"/>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en-US" dirty="0" smtClean="0"/>
              <a:t>http://www.cs.washington.edu/education/courses/csep573/01sp/lectures/class1/sld027.htm</a:t>
            </a:r>
            <a:endParaRPr lang="en-US"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1078</TotalTime>
  <Words>2713</Words>
  <Application>Microsoft Office PowerPoint</Application>
  <PresentationFormat>On-screen Show (4:3)</PresentationFormat>
  <Paragraphs>394</Paragraphs>
  <Slides>50</Slides>
  <Notes>15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50</vt:i4>
      </vt:variant>
    </vt:vector>
  </HeadingPairs>
  <TitlesOfParts>
    <vt:vector size="61" baseType="lpstr">
      <vt:lpstr>SimSun</vt:lpstr>
      <vt:lpstr>SimSun</vt:lpstr>
      <vt:lpstr>Arial Rounded MT Bold</vt:lpstr>
      <vt:lpstr>Bernard MT Condensed</vt:lpstr>
      <vt:lpstr>Calibri</vt:lpstr>
      <vt:lpstr>华文仿宋</vt:lpstr>
      <vt:lpstr>Times New Roman</vt:lpstr>
      <vt:lpstr>Tw Cen MT</vt:lpstr>
      <vt:lpstr>Wingdings</vt:lpstr>
      <vt:lpstr>Wingdings 2</vt:lpstr>
      <vt:lpstr>Median</vt:lpstr>
      <vt:lpstr>Data Warehousing &amp; Data Mining</vt:lpstr>
      <vt:lpstr>Units To Be Covered</vt:lpstr>
      <vt:lpstr>Unit-1</vt:lpstr>
      <vt:lpstr>Topic to be covered in unit-1</vt:lpstr>
      <vt:lpstr>Topic to be covered in unit-1</vt:lpstr>
      <vt:lpstr>What is a Data Warehouse?</vt:lpstr>
      <vt:lpstr>Data Warehouse—Subject-Oriented</vt:lpstr>
      <vt:lpstr>Data Warehouse—Integrated</vt:lpstr>
      <vt:lpstr>Data Warehouse—Time Variant</vt:lpstr>
      <vt:lpstr>Data Warehouse—Nonvolatile</vt:lpstr>
      <vt:lpstr>PowerPoint Presentation</vt:lpstr>
      <vt:lpstr>Benefit /Usage of data warehouse.</vt:lpstr>
      <vt:lpstr> Need of separate data ware house. </vt:lpstr>
      <vt:lpstr>OLTP vs. OLAP</vt:lpstr>
      <vt:lpstr>  Note:-</vt:lpstr>
      <vt:lpstr> Multi Dimensional  Data Models </vt:lpstr>
      <vt:lpstr>Cube: A Lattice of Cuboids</vt:lpstr>
      <vt:lpstr> Multiples of Byte</vt:lpstr>
      <vt:lpstr> OLAP Operations </vt:lpstr>
      <vt:lpstr>Data mart and types of data marts</vt:lpstr>
      <vt:lpstr> There are two approaches to data warehouse </vt:lpstr>
      <vt:lpstr>Data Warehouse  Vs Data Marts</vt:lpstr>
      <vt:lpstr>Types  of  data marts</vt:lpstr>
      <vt:lpstr>Dependent Data  Marts</vt:lpstr>
      <vt:lpstr>Dependent Data  Marts</vt:lpstr>
      <vt:lpstr>Independent Data  Marts</vt:lpstr>
      <vt:lpstr>Independent Data  Marts</vt:lpstr>
      <vt:lpstr>Hybrid Data  Marts</vt:lpstr>
      <vt:lpstr>Hybrid Data  Marts</vt:lpstr>
      <vt:lpstr>Topic to be covered in unit-1</vt:lpstr>
      <vt:lpstr>Design of Data Warehouse: A Business Analysis Framework</vt:lpstr>
      <vt:lpstr>Data Warehouse Design Process </vt:lpstr>
      <vt:lpstr> Typical data warehouse design process </vt:lpstr>
      <vt:lpstr> Typical data warehouse design process </vt:lpstr>
      <vt:lpstr>Data Warehouse Development: A Recommended Approach</vt:lpstr>
      <vt:lpstr>PowerPoint Presentation</vt:lpstr>
      <vt:lpstr>PowerPoint Presentation</vt:lpstr>
      <vt:lpstr>Three-tier data warehouse architecture</vt:lpstr>
      <vt:lpstr>Three-tier data warehouse architecture</vt:lpstr>
      <vt:lpstr>Three Data Warehouse Models</vt:lpstr>
      <vt:lpstr>Extraction, Transformation, and Loading (ETL)</vt:lpstr>
      <vt:lpstr>Metadata Repository</vt:lpstr>
      <vt:lpstr> Types of OLAP Servers </vt:lpstr>
      <vt:lpstr>PowerPoint Presentation</vt:lpstr>
      <vt:lpstr> Relational OLAP(ROLAP)servers: </vt:lpstr>
      <vt:lpstr>Multidimensional OLAP (MOLAP) servers:</vt:lpstr>
      <vt:lpstr>Hybrid OLAP (HOLAP) servers:</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Warehousing &amp; Data Mining</dc:title>
  <dc:creator>om sai</dc:creator>
  <cp:lastModifiedBy>Mahesh Chaturvedi</cp:lastModifiedBy>
  <cp:revision>69</cp:revision>
  <dcterms:created xsi:type="dcterms:W3CDTF">2013-01-10T08:49:21Z</dcterms:created>
  <dcterms:modified xsi:type="dcterms:W3CDTF">2015-12-21T07:33:41Z</dcterms:modified>
</cp:coreProperties>
</file>