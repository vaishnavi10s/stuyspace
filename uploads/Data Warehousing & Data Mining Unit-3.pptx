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61" r:id="rId5"/>
    <p:sldId id="259" r:id="rId6"/>
    <p:sldId id="262" r:id="rId7"/>
    <p:sldId id="260" r:id="rId8"/>
    <p:sldId id="266" r:id="rId9"/>
    <p:sldId id="264" r:id="rId10"/>
    <p:sldId id="265" r:id="rId11"/>
    <p:sldId id="267"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24" autoAdjust="0"/>
  </p:normalViewPr>
  <p:slideViewPr>
    <p:cSldViewPr>
      <p:cViewPr>
        <p:scale>
          <a:sx n="75" d="100"/>
          <a:sy n="75" d="100"/>
        </p:scale>
        <p:origin x="-1236" y="1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AB184C-7D70-4CD8-B78F-272482B59457}" type="datetimeFigureOut">
              <a:rPr lang="en-US" smtClean="0"/>
              <a:pPr/>
              <a:t>1/30/2013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C16E33-B925-4286-95B9-429940656B6F}"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13842957-8DA5-42AA-91BB-5E52A6C73952}" type="slidenum">
              <a:rPr lang="en-US" smtClean="0"/>
              <a:pPr/>
              <a:t>8</a:t>
            </a:fld>
            <a:endParaRPr lang="en-US" smtClean="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2C16E33-B925-4286-95B9-429940656B6F}" type="slidenum">
              <a:rPr lang="en-US" smtClean="0"/>
              <a:pPr/>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1/30/2013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1/30/2013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1/30/2013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1/30/2013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1/30/2013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1/30/2013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b="1" dirty="0" smtClean="0">
                <a:ln w="11430"/>
                <a:solidFill>
                  <a:srgbClr val="00B050"/>
                </a:solidFill>
                <a:effectLst>
                  <a:outerShdw blurRad="50800" dist="39000" dir="5460000" algn="tl">
                    <a:srgbClr val="000000">
                      <a:alpha val="38000"/>
                    </a:srgbClr>
                  </a:outerShdw>
                </a:effectLst>
              </a:rPr>
              <a:t>Introduction</a:t>
            </a:r>
            <a:r>
              <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r>
              <a:rPr lang="en-US" b="1" dirty="0" smtClean="0">
                <a:ln w="31550" cmpd="sng">
                  <a:gradFill>
                    <a:gsLst>
                      <a:gs pos="70000">
                        <a:schemeClr val="accent6">
                          <a:shade val="50000"/>
                          <a:satMod val="190000"/>
                        </a:schemeClr>
                      </a:gs>
                      <a:gs pos="0">
                        <a:schemeClr val="accent6">
                          <a:tint val="77000"/>
                          <a:satMod val="180000"/>
                        </a:schemeClr>
                      </a:gs>
                    </a:gsLst>
                    <a:lin ang="5400000"/>
                  </a:gradFill>
                  <a:prstDash val="solid"/>
                </a:ln>
                <a:solidFill>
                  <a:schemeClr val="accent6">
                    <a:tint val="15000"/>
                    <a:satMod val="200000"/>
                  </a:schemeClr>
                </a:solidFill>
                <a:effectLst>
                  <a:outerShdw blurRad="50800" dist="40000" dir="5400000" algn="tl" rotWithShape="0">
                    <a:srgbClr val="000000">
                      <a:shade val="5000"/>
                      <a:satMod val="120000"/>
                      <a:alpha val="33000"/>
                    </a:srgbClr>
                  </a:outerShdw>
                </a:effectLst>
              </a:rPr>
              <a:t>to</a:t>
            </a:r>
            <a:r>
              <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 </a:t>
            </a:r>
            <a:r>
              <a:rPr lang="en-US" b="1" dirty="0" smtClean="0">
                <a:ln w="11430"/>
                <a:solidFill>
                  <a:srgbClr val="C00000"/>
                </a:solidFill>
                <a:effectLst>
                  <a:outerShdw blurRad="50800" dist="39000" dir="5460000" algn="tl">
                    <a:srgbClr val="000000">
                      <a:alpha val="38000"/>
                    </a:srgbClr>
                  </a:outerShdw>
                </a:effectLst>
              </a:rPr>
              <a:t>Data Mining</a:t>
            </a:r>
            <a:endParaRPr lang="en-US" b="1" dirty="0">
              <a:ln w="11430"/>
              <a:solidFill>
                <a:srgbClr val="C00000"/>
              </a:solidFill>
              <a:effectLst>
                <a:outerShdw blurRad="50800" dist="39000" dir="5460000" algn="tl">
                  <a:srgbClr val="000000">
                    <a:alpha val="38000"/>
                  </a:srgbClr>
                </a:outerShdw>
              </a:effectLst>
            </a:endParaRPr>
          </a:p>
        </p:txBody>
      </p:sp>
      <p:sp>
        <p:nvSpPr>
          <p:cNvPr id="3" name="Subtitle 2"/>
          <p:cNvSpPr>
            <a:spLocks noGrp="1"/>
          </p:cNvSpPr>
          <p:nvPr>
            <p:ph type="subTitle" idx="1"/>
          </p:nvPr>
        </p:nvSpPr>
        <p:spPr>
          <a:xfrm>
            <a:off x="1371600" y="3886200"/>
            <a:ext cx="6400800" cy="685800"/>
          </a:xfrm>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Unit-3</a:t>
            </a:r>
            <a:endParaRPr lang="en-US"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0" y="274638"/>
            <a:ext cx="8763000" cy="944562"/>
          </a:xfrm>
        </p:spPr>
        <p:txBody>
          <a:bodyPr/>
          <a:lstStyle/>
          <a:p>
            <a: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Topics To Be Covered </a:t>
            </a:r>
            <a:endParaRPr lang="en-US" b="1" dirty="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endParaRPr>
          </a:p>
        </p:txBody>
      </p:sp>
      <p:sp>
        <p:nvSpPr>
          <p:cNvPr id="9" name="Content Placeholder 8"/>
          <p:cNvSpPr>
            <a:spLocks noGrp="1"/>
          </p:cNvSpPr>
          <p:nvPr>
            <p:ph idx="1"/>
          </p:nvPr>
        </p:nvSpPr>
        <p:spPr>
          <a:xfrm>
            <a:off x="0" y="914400"/>
            <a:ext cx="9144000" cy="5562600"/>
          </a:xfrm>
        </p:spPr>
        <p:txBody>
          <a:bodyPr>
            <a:normAutofit/>
          </a:bodyPr>
          <a:lstStyle/>
          <a:p>
            <a:pPr marL="514350" indent="-514350">
              <a:buFont typeface="+mj-lt"/>
              <a:buAutoNum type="arabicPeriod"/>
            </a:pPr>
            <a:r>
              <a:rPr lang="en-US" b="1" dirty="0" smtClean="0">
                <a:ln w="1905"/>
                <a:solidFill>
                  <a:srgbClr val="7030A0"/>
                </a:solidFill>
                <a:effectLst>
                  <a:innerShdw blurRad="69850" dist="43180" dir="5400000">
                    <a:srgbClr val="000000">
                      <a:alpha val="65000"/>
                    </a:srgbClr>
                  </a:innerShdw>
                </a:effectLst>
              </a:rPr>
              <a:t>Definition Of Data Mining</a:t>
            </a:r>
          </a:p>
          <a:p>
            <a:pPr marL="514350" indent="-514350">
              <a:buFont typeface="+mj-lt"/>
              <a:buAutoNum type="arabicPeriod"/>
            </a:pPr>
            <a:r>
              <a:rPr lang="en-US" b="1" dirty="0" smtClean="0">
                <a:solidFill>
                  <a:srgbClr val="0070C0"/>
                </a:solidFill>
              </a:rPr>
              <a:t>Need Of Data Mining</a:t>
            </a:r>
          </a:p>
          <a:p>
            <a:pPr marL="514350" indent="-514350">
              <a:buFont typeface="+mj-lt"/>
              <a:buAutoNum type="arabicPeriod"/>
            </a:pPr>
            <a:r>
              <a:rPr lang="en-US" b="1" dirty="0" smtClean="0">
                <a:ln w="1905"/>
                <a:solidFill>
                  <a:srgbClr val="7030A0"/>
                </a:solidFill>
                <a:effectLst>
                  <a:innerShdw blurRad="69850" dist="43180" dir="5400000">
                    <a:srgbClr val="000000">
                      <a:alpha val="65000"/>
                    </a:srgbClr>
                  </a:innerShdw>
                </a:effectLst>
              </a:rPr>
              <a:t>KDD Process</a:t>
            </a:r>
          </a:p>
          <a:p>
            <a:pPr marL="514350" indent="-514350">
              <a:buFont typeface="+mj-lt"/>
              <a:buAutoNum type="arabicPeriod"/>
            </a:pPr>
            <a:r>
              <a:rPr lang="en-US" b="1" dirty="0" smtClean="0">
                <a:solidFill>
                  <a:srgbClr val="0070C0"/>
                </a:solidFill>
              </a:rPr>
              <a:t>Data Mining Architecture</a:t>
            </a:r>
          </a:p>
          <a:p>
            <a:pPr marL="514350" indent="-514350">
              <a:buFont typeface="+mj-lt"/>
              <a:buAutoNum type="arabicPeriod"/>
            </a:pPr>
            <a:r>
              <a:rPr lang="en-US" b="1" dirty="0" smtClean="0">
                <a:ln w="1905"/>
                <a:solidFill>
                  <a:srgbClr val="7030A0"/>
                </a:solidFill>
                <a:effectLst>
                  <a:innerShdw blurRad="69850" dist="43180" dir="5400000">
                    <a:srgbClr val="000000">
                      <a:alpha val="65000"/>
                    </a:srgbClr>
                  </a:innerShdw>
                </a:effectLst>
              </a:rPr>
              <a:t>Evolution Of Database Technology</a:t>
            </a:r>
          </a:p>
          <a:p>
            <a:pPr marL="514350" indent="-514350">
              <a:buFont typeface="+mj-lt"/>
              <a:buAutoNum type="arabicPeriod"/>
            </a:pPr>
            <a:r>
              <a:rPr lang="en-US" b="1" dirty="0" smtClean="0">
                <a:solidFill>
                  <a:srgbClr val="0070C0"/>
                </a:solidFill>
              </a:rPr>
              <a:t>Types Of Data That Can Be Mined</a:t>
            </a:r>
          </a:p>
          <a:p>
            <a:pPr marL="514350" indent="-514350">
              <a:buFont typeface="+mj-lt"/>
              <a:buAutoNum type="arabicPeriod"/>
            </a:pPr>
            <a:r>
              <a:rPr lang="en-US" b="1" dirty="0" smtClean="0">
                <a:ln w="1905"/>
                <a:solidFill>
                  <a:srgbClr val="7030A0"/>
                </a:solidFill>
                <a:effectLst>
                  <a:innerShdw blurRad="69850" dist="43180" dir="5400000">
                    <a:srgbClr val="000000">
                      <a:alpha val="65000"/>
                    </a:srgbClr>
                  </a:innerShdw>
                </a:effectLst>
              </a:rPr>
              <a:t>Data Mining Functionalities</a:t>
            </a:r>
          </a:p>
          <a:p>
            <a:pPr marL="514350" indent="-514350">
              <a:buFont typeface="+mj-lt"/>
              <a:buAutoNum type="arabicPeriod"/>
            </a:pPr>
            <a:r>
              <a:rPr lang="en-US" b="1" dirty="0" smtClean="0">
                <a:solidFill>
                  <a:srgbClr val="0070C0"/>
                </a:solidFill>
              </a:rPr>
              <a:t>Classification Of  Data Mining Systems</a:t>
            </a:r>
          </a:p>
          <a:p>
            <a:pPr marL="514350" indent="-514350">
              <a:buFont typeface="+mj-lt"/>
              <a:buAutoNum type="arabicPeriod"/>
            </a:pPr>
            <a:r>
              <a:rPr lang="en-US" b="1" dirty="0" smtClean="0">
                <a:ln w="1905"/>
                <a:solidFill>
                  <a:srgbClr val="7030A0"/>
                </a:solidFill>
                <a:effectLst>
                  <a:innerShdw blurRad="69850" dist="43180" dir="5400000">
                    <a:srgbClr val="000000">
                      <a:alpha val="65000"/>
                    </a:srgbClr>
                  </a:innerShdw>
                </a:effectLst>
              </a:rPr>
              <a:t>Major Issues In Data Mining</a:t>
            </a:r>
          </a:p>
          <a:p>
            <a:pPr marL="514350" indent="-514350">
              <a:buFont typeface="+mj-lt"/>
              <a:buAutoNum type="arabicPeriod"/>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
            </a:r>
            <a:b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br>
            <a: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Definition Of Data Mining</a:t>
            </a:r>
            <a:b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br>
            <a:endPar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endParaRPr>
          </a:p>
        </p:txBody>
      </p:sp>
      <p:sp>
        <p:nvSpPr>
          <p:cNvPr id="3" name="Content Placeholder 2"/>
          <p:cNvSpPr>
            <a:spLocks noGrp="1"/>
          </p:cNvSpPr>
          <p:nvPr>
            <p:ph idx="1"/>
          </p:nvPr>
        </p:nvSpPr>
        <p:spPr>
          <a:xfrm>
            <a:off x="228600" y="914400"/>
            <a:ext cx="8763000" cy="5211763"/>
          </a:xfrm>
        </p:spPr>
        <p:txBody>
          <a:bodyPr>
            <a:normAutofit/>
          </a:bodyPr>
          <a:lstStyle/>
          <a:p>
            <a:pPr algn="just"/>
            <a:r>
              <a:rPr lang="en-US" sz="2800" b="1" dirty="0" smtClean="0"/>
              <a:t>“Data mining involves the use of sophisticated data analysis tools to discover previously unknown, valid patterns and relationships in large data sets.”</a:t>
            </a:r>
            <a:endParaRPr lang="en-US" sz="28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
            </a:r>
            <a:b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br>
            <a: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Why Data </a:t>
            </a:r>
            <a:r>
              <a:rPr lang="en-US" b="1"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Mining/Need of DM</a:t>
            </a:r>
            <a: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
            </a:r>
            <a:br>
              <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br>
            <a:endParaRPr lang="en-US"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endParaRPr>
          </a:p>
        </p:txBody>
      </p:sp>
      <p:sp>
        <p:nvSpPr>
          <p:cNvPr id="3" name="Content Placeholder 2"/>
          <p:cNvSpPr>
            <a:spLocks noGrp="1"/>
          </p:cNvSpPr>
          <p:nvPr>
            <p:ph idx="1"/>
          </p:nvPr>
        </p:nvSpPr>
        <p:spPr>
          <a:xfrm>
            <a:off x="228600" y="914400"/>
            <a:ext cx="8763000" cy="5715000"/>
          </a:xfrm>
        </p:spPr>
        <p:txBody>
          <a:bodyPr>
            <a:normAutofit/>
          </a:bodyPr>
          <a:lstStyle/>
          <a:p>
            <a:pPr marL="457200" indent="-457200">
              <a:lnSpc>
                <a:spcPct val="130000"/>
              </a:lnSpc>
              <a:buFont typeface="+mj-lt"/>
              <a:buAutoNum type="arabicPeriod"/>
            </a:pPr>
            <a:r>
              <a:rPr lang="en-US" sz="2400" b="1" dirty="0" smtClean="0">
                <a:ln w="1905"/>
                <a:solidFill>
                  <a:srgbClr val="0070C0"/>
                </a:solidFill>
                <a:effectLst>
                  <a:innerShdw blurRad="69850" dist="43180" dir="5400000">
                    <a:srgbClr val="000000">
                      <a:alpha val="65000"/>
                    </a:srgbClr>
                  </a:innerShdw>
                </a:effectLst>
              </a:rPr>
              <a:t>The Explosive Growth of Data: from terabytes to petabyte</a:t>
            </a:r>
            <a:r>
              <a:rPr lang="en-US" sz="2400" dirty="0" smtClean="0">
                <a:solidFill>
                  <a:srgbClr val="0070C0"/>
                </a:solidFill>
              </a:rPr>
              <a:t>s</a:t>
            </a:r>
          </a:p>
          <a:p>
            <a:pPr marL="1257300" lvl="2" indent="-342900">
              <a:lnSpc>
                <a:spcPct val="130000"/>
              </a:lnSpc>
              <a:buFont typeface="+mj-lt"/>
              <a:buAutoNum type="arabicPeriod"/>
            </a:pPr>
            <a:r>
              <a:rPr lang="en-US" sz="1800" dirty="0" smtClean="0"/>
              <a:t>Data collection and data availability</a:t>
            </a:r>
          </a:p>
          <a:p>
            <a:pPr marL="1714500" lvl="3" indent="-342900">
              <a:lnSpc>
                <a:spcPct val="130000"/>
              </a:lnSpc>
              <a:buFont typeface="+mj-lt"/>
              <a:buAutoNum type="arabicPeriod"/>
            </a:pPr>
            <a:r>
              <a:rPr lang="en-US" sz="1800" dirty="0" smtClean="0"/>
              <a:t>Automated data collection tools, database systems, Web, computerized society</a:t>
            </a:r>
          </a:p>
          <a:p>
            <a:pPr marL="1257300" lvl="2" indent="-342900">
              <a:lnSpc>
                <a:spcPct val="130000"/>
              </a:lnSpc>
              <a:buFont typeface="+mj-lt"/>
              <a:buAutoNum type="arabicPeriod"/>
            </a:pPr>
            <a:r>
              <a:rPr lang="en-US" sz="1800" dirty="0" smtClean="0"/>
              <a:t>Major sources of abundant data</a:t>
            </a:r>
          </a:p>
          <a:p>
            <a:pPr marL="1714500" lvl="3" indent="-342900">
              <a:lnSpc>
                <a:spcPct val="130000"/>
              </a:lnSpc>
              <a:buFont typeface="+mj-lt"/>
              <a:buAutoNum type="arabicPeriod"/>
            </a:pPr>
            <a:r>
              <a:rPr lang="en-US" sz="1800" dirty="0" smtClean="0"/>
              <a:t>Business: Web, e-commerce, transactions, stocks,…</a:t>
            </a:r>
          </a:p>
          <a:p>
            <a:pPr marL="1714500" lvl="3" indent="-342900">
              <a:lnSpc>
                <a:spcPct val="130000"/>
              </a:lnSpc>
              <a:buFont typeface="+mj-lt"/>
              <a:buAutoNum type="arabicPeriod"/>
            </a:pPr>
            <a:r>
              <a:rPr lang="en-US" sz="1800" dirty="0" smtClean="0"/>
              <a:t>Science: Remote sensing, bioinformatics, scientific simulation, … </a:t>
            </a:r>
          </a:p>
          <a:p>
            <a:pPr marL="1714500" lvl="3" indent="-342900">
              <a:lnSpc>
                <a:spcPct val="130000"/>
              </a:lnSpc>
              <a:buFont typeface="+mj-lt"/>
              <a:buAutoNum type="arabicPeriod"/>
            </a:pPr>
            <a:r>
              <a:rPr lang="en-US" sz="1800" dirty="0" smtClean="0"/>
              <a:t>Society and everyone: news, digital cameras, YouTube.   </a:t>
            </a:r>
          </a:p>
          <a:p>
            <a:pPr marL="457200" indent="-457200">
              <a:lnSpc>
                <a:spcPct val="130000"/>
              </a:lnSpc>
              <a:buFont typeface="+mj-lt"/>
              <a:buAutoNum type="arabicPeriod"/>
            </a:pPr>
            <a:r>
              <a:rPr lang="en-US" sz="2400" b="1" u="sng" dirty="0" smtClean="0">
                <a:ln w="1905"/>
                <a:solidFill>
                  <a:srgbClr val="0070C0"/>
                </a:solidFill>
                <a:effectLst>
                  <a:innerShdw blurRad="69850" dist="43180" dir="5400000">
                    <a:srgbClr val="000000">
                      <a:alpha val="65000"/>
                    </a:srgbClr>
                  </a:innerShdw>
                </a:effectLst>
              </a:rPr>
              <a:t>We are drowning in data, but starving for knowledge! </a:t>
            </a:r>
          </a:p>
          <a:p>
            <a:pPr marL="457200" indent="-457200">
              <a:lnSpc>
                <a:spcPct val="130000"/>
              </a:lnSpc>
              <a:buFont typeface="+mj-lt"/>
              <a:buAutoNum type="arabicPeriod"/>
            </a:pPr>
            <a:r>
              <a:rPr lang="en-US" sz="2400" b="1" dirty="0" smtClean="0">
                <a:ln w="1905"/>
                <a:solidFill>
                  <a:srgbClr val="0070C0"/>
                </a:solidFill>
                <a:effectLst>
                  <a:innerShdw blurRad="69850" dist="43180" dir="5400000">
                    <a:srgbClr val="000000">
                      <a:alpha val="65000"/>
                    </a:srgbClr>
                  </a:innerShdw>
                </a:effectLst>
              </a:rPr>
              <a:t>Necessity is the mother of invention”—</a:t>
            </a:r>
            <a:r>
              <a:rPr lang="en-US" sz="2400" b="1" dirty="0" smtClean="0">
                <a:ln w="1905"/>
                <a:solidFill>
                  <a:srgbClr val="FF0000"/>
                </a:solidFill>
                <a:effectLst>
                  <a:innerShdw blurRad="69850" dist="43180" dir="5400000">
                    <a:srgbClr val="000000">
                      <a:alpha val="65000"/>
                    </a:srgbClr>
                  </a:innerShdw>
                </a:effectLst>
              </a:rPr>
              <a:t>Data mining</a:t>
            </a:r>
            <a:r>
              <a:rPr lang="en-US" sz="2400" b="1" dirty="0" smtClean="0">
                <a:ln w="1905"/>
                <a:solidFill>
                  <a:srgbClr val="0070C0"/>
                </a:solidFill>
                <a:effectLst>
                  <a:innerShdw blurRad="69850" dist="43180" dir="5400000">
                    <a:srgbClr val="000000">
                      <a:alpha val="65000"/>
                    </a:srgbClr>
                  </a:innerShdw>
                </a:effectLst>
              </a:rPr>
              <a:t>—Automated analysis of massive data sets</a:t>
            </a:r>
          </a:p>
          <a:p>
            <a:endParaRPr lang="en-US" sz="36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r>
              <a:rPr lang="en-US" sz="3600"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Evolution of Sciences: New Data Science Era</a:t>
            </a:r>
          </a:p>
        </p:txBody>
      </p:sp>
      <p:sp>
        <p:nvSpPr>
          <p:cNvPr id="4" name="Rectangle 3"/>
          <p:cNvSpPr txBox="1">
            <a:spLocks noChangeArrowheads="1"/>
          </p:cNvSpPr>
          <p:nvPr/>
        </p:nvSpPr>
        <p:spPr>
          <a:xfrm>
            <a:off x="0" y="609600"/>
            <a:ext cx="9144000" cy="5715000"/>
          </a:xfrm>
          <a:prstGeom prst="rect">
            <a:avLst/>
          </a:prstGeom>
          <a:noFill/>
        </p:spPr>
        <p:txBody>
          <a:bodyPr vert="horz" lIns="92075" tIns="46038" rIns="92075" bIns="46038" rtlCol="0">
            <a:normAutofit/>
          </a:bodyPr>
          <a:lstStyle/>
          <a:p>
            <a:pPr marL="342900" marR="0" lvl="0" indent="-34290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905"/>
                <a:solidFill>
                  <a:srgbClr val="0070C0"/>
                </a:solidFill>
                <a:effectLst>
                  <a:innerShdw blurRad="69850" dist="43180" dir="5400000">
                    <a:srgbClr val="000000">
                      <a:alpha val="65000"/>
                    </a:srgbClr>
                  </a:innerShdw>
                </a:effectLst>
                <a:uLnTx/>
                <a:uFillTx/>
                <a:latin typeface="+mn-lt"/>
                <a:ea typeface="+mn-ea"/>
                <a:cs typeface="+mn-cs"/>
              </a:rPr>
              <a:t>Before 1600: Empirical science</a:t>
            </a:r>
          </a:p>
          <a:p>
            <a:pPr marL="342900" marR="0" lvl="0" indent="-34290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905"/>
                <a:solidFill>
                  <a:srgbClr val="0070C0"/>
                </a:solidFill>
                <a:effectLst>
                  <a:innerShdw blurRad="69850" dist="43180" dir="5400000">
                    <a:srgbClr val="000000">
                      <a:alpha val="65000"/>
                    </a:srgbClr>
                  </a:innerShdw>
                </a:effectLst>
                <a:uLnTx/>
                <a:uFillTx/>
                <a:latin typeface="+mn-lt"/>
                <a:ea typeface="+mn-ea"/>
                <a:cs typeface="+mn-cs"/>
              </a:rPr>
              <a:t>1600-1950s: Theoretical science</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Each discipline has grown a </a:t>
            </a:r>
            <a:r>
              <a:rPr kumimoji="0" lang="en-US" sz="2400" b="0" i="1" u="none" strike="noStrike" kern="1200" cap="none" spc="0" normalizeH="0" baseline="0" noProof="0" dirty="0" smtClean="0">
                <a:ln>
                  <a:noFill/>
                </a:ln>
                <a:solidFill>
                  <a:schemeClr val="tx1"/>
                </a:solidFill>
                <a:effectLst/>
                <a:uLnTx/>
                <a:uFillTx/>
                <a:latin typeface="+mn-lt"/>
                <a:ea typeface="+mn-ea"/>
                <a:cs typeface="+mn-cs"/>
              </a:rPr>
              <a:t>theoretical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component. Theoretical models often motivate experiments and generalize our understanding. </a:t>
            </a:r>
          </a:p>
          <a:p>
            <a:pPr marL="342900" marR="0" lvl="0" indent="-34290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905"/>
                <a:solidFill>
                  <a:srgbClr val="0070C0"/>
                </a:solidFill>
                <a:effectLst>
                  <a:innerShdw blurRad="69850" dist="43180" dir="5400000">
                    <a:srgbClr val="000000">
                      <a:alpha val="65000"/>
                    </a:srgbClr>
                  </a:innerShdw>
                </a:effectLst>
                <a:uLnTx/>
                <a:uFillTx/>
                <a:latin typeface="+mn-lt"/>
                <a:ea typeface="+mn-ea"/>
                <a:cs typeface="+mn-cs"/>
              </a:rPr>
              <a:t>1950s-1990s: Computational science</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Over the last 50 years, most disciplines have grown a third, </a:t>
            </a:r>
            <a:r>
              <a:rPr kumimoji="0" lang="en-US" sz="2400" b="0" i="1" u="none" strike="noStrike" kern="1200" cap="none" spc="0" normalizeH="0" baseline="0" noProof="0" dirty="0" smtClean="0">
                <a:ln>
                  <a:noFill/>
                </a:ln>
                <a:solidFill>
                  <a:schemeClr val="tx1"/>
                </a:solidFill>
                <a:effectLst/>
                <a:uLnTx/>
                <a:uFillTx/>
                <a:latin typeface="+mn-lt"/>
                <a:ea typeface="+mn-ea"/>
                <a:cs typeface="+mn-cs"/>
              </a:rPr>
              <a:t>computational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branch (e.g. empirical, theoretical, and computational ecology, or physics, or linguistics.)</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Computational Science traditionally meant simulation. It grew out of our inability to find closed-form solutions for complex mathematical models.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9600"/>
          </a:xfrm>
        </p:spPr>
        <p:txBody>
          <a:bodyPr>
            <a:noAutofit/>
          </a:bodyPr>
          <a:lstStyle/>
          <a:p>
            <a:r>
              <a:rPr lang="en-US" sz="3600"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Evolution of Sciences: New Data Science Era</a:t>
            </a:r>
          </a:p>
        </p:txBody>
      </p:sp>
      <p:sp>
        <p:nvSpPr>
          <p:cNvPr id="4" name="Rectangle 3"/>
          <p:cNvSpPr txBox="1">
            <a:spLocks noChangeArrowheads="1"/>
          </p:cNvSpPr>
          <p:nvPr/>
        </p:nvSpPr>
        <p:spPr>
          <a:xfrm>
            <a:off x="0" y="609600"/>
            <a:ext cx="9144000" cy="5715000"/>
          </a:xfrm>
          <a:prstGeom prst="rect">
            <a:avLst/>
          </a:prstGeom>
          <a:noFill/>
        </p:spPr>
        <p:txBody>
          <a:bodyPr vert="horz" lIns="92075" tIns="46038" rIns="92075" bIns="46038" rtlCol="0">
            <a:normAutofit/>
          </a:bodyPr>
          <a:lstStyle/>
          <a:p>
            <a:pPr marL="342900" marR="0" lvl="0" indent="-34290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1" i="0" u="none" strike="noStrike" kern="1200" normalizeH="0" baseline="0" noProof="0" dirty="0" smtClean="0">
                <a:ln w="1905"/>
                <a:solidFill>
                  <a:srgbClr val="0070C0"/>
                </a:solidFill>
                <a:effectLst>
                  <a:innerShdw blurRad="69850" dist="43180" dir="5400000">
                    <a:srgbClr val="000000">
                      <a:alpha val="65000"/>
                    </a:srgbClr>
                  </a:innerShdw>
                </a:effectLst>
                <a:uLnTx/>
                <a:uFillTx/>
                <a:latin typeface="+mn-lt"/>
                <a:ea typeface="+mn-ea"/>
                <a:cs typeface="+mn-cs"/>
              </a:rPr>
              <a:t>1990-now: Data science</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flood of data from new scientific instruments and simulations</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ability to economically store and manage </a:t>
            </a:r>
            <a:r>
              <a:rPr kumimoji="0" lang="en-US" sz="2400" b="1" i="0" u="none" strike="noStrike" kern="1200" cap="none" spc="0" normalizeH="0" baseline="0" noProof="0" dirty="0" smtClean="0">
                <a:ln>
                  <a:noFill/>
                </a:ln>
                <a:solidFill>
                  <a:schemeClr val="tx1"/>
                </a:solidFill>
                <a:effectLst/>
                <a:uLnTx/>
                <a:uFillTx/>
                <a:latin typeface="+mn-lt"/>
                <a:ea typeface="+mn-ea"/>
                <a:cs typeface="+mn-cs"/>
              </a:rPr>
              <a:t>petabytes</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 of data online</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The Internet and computing Grid that makes all these archives universally accessible </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0" i="0" u="none" strike="noStrike" kern="1200" cap="none" spc="0" normalizeH="0" baseline="0" noProof="0" dirty="0" smtClean="0">
                <a:ln>
                  <a:noFill/>
                </a:ln>
                <a:solidFill>
                  <a:schemeClr val="tx1"/>
                </a:solidFill>
                <a:effectLst/>
                <a:uLnTx/>
                <a:uFillTx/>
                <a:latin typeface="+mn-lt"/>
                <a:ea typeface="+mn-ea"/>
                <a:cs typeface="+mn-cs"/>
              </a:rPr>
              <a:t>Scientific info. management, acquisition, organization, query, and visualization tasks scale almost linearly with data volumes</a:t>
            </a:r>
          </a:p>
          <a:p>
            <a:pPr marL="742950" marR="0" lvl="1" indent="-285750" algn="just"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en-US" sz="2400" b="1" i="1" u="none" strike="noStrike" kern="1200" cap="none" spc="0" normalizeH="0" baseline="0" noProof="0" dirty="0" smtClean="0">
                <a:ln>
                  <a:noFill/>
                </a:ln>
                <a:solidFill>
                  <a:srgbClr val="FF0000"/>
                </a:solidFill>
                <a:effectLst/>
                <a:uLnTx/>
                <a:uFillTx/>
                <a:latin typeface="+mn-lt"/>
                <a:ea typeface="+mn-ea"/>
                <a:cs typeface="+mn-cs"/>
              </a:rPr>
              <a:t>Data mining </a:t>
            </a:r>
            <a:r>
              <a:rPr kumimoji="0" lang="en-US" sz="2400" b="0" i="0" u="none" strike="noStrike" kern="1200" cap="none" spc="0" normalizeH="0" baseline="0" noProof="0" dirty="0" smtClean="0">
                <a:ln>
                  <a:noFill/>
                </a:ln>
                <a:solidFill>
                  <a:schemeClr val="tx1"/>
                </a:solidFill>
                <a:effectLst/>
                <a:uLnTx/>
                <a:uFillTx/>
                <a:latin typeface="+mn-lt"/>
                <a:ea typeface="+mn-ea"/>
                <a:cs typeface="+mn-cs"/>
              </a:rPr>
              <a:t>is a major new challenge!</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63562"/>
          </a:xfrm>
        </p:spPr>
        <p:txBody>
          <a:bodyPr>
            <a:noAutofit/>
          </a:bodyPr>
          <a:lstStyle/>
          <a:p>
            <a:r>
              <a:rPr lang="en-US" sz="4000"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What Is Data Mining?</a:t>
            </a:r>
          </a:p>
        </p:txBody>
      </p:sp>
      <p:sp>
        <p:nvSpPr>
          <p:cNvPr id="3" name="Content Placeholder 2"/>
          <p:cNvSpPr>
            <a:spLocks noGrp="1"/>
          </p:cNvSpPr>
          <p:nvPr>
            <p:ph idx="1"/>
          </p:nvPr>
        </p:nvSpPr>
        <p:spPr>
          <a:xfrm>
            <a:off x="228600" y="533400"/>
            <a:ext cx="8763000" cy="5592763"/>
          </a:xfrm>
        </p:spPr>
        <p:txBody>
          <a:bodyPr/>
          <a:lstStyle/>
          <a:p>
            <a:pPr>
              <a:lnSpc>
                <a:spcPct val="110000"/>
              </a:lnSpc>
            </a:pPr>
            <a:r>
              <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Data Mining (Knowledge Discovery From Data) </a:t>
            </a:r>
          </a:p>
          <a:p>
            <a:pPr lvl="1" algn="just">
              <a:lnSpc>
                <a:spcPct val="110000"/>
              </a:lnSpc>
            </a:pPr>
            <a:r>
              <a:rPr lang="en-US" sz="2000" dirty="0" smtClean="0"/>
              <a:t>Extraction of interesting </a:t>
            </a:r>
            <a:r>
              <a:rPr lang="en-US" sz="1600" dirty="0" smtClean="0"/>
              <a:t>(</a:t>
            </a:r>
            <a:r>
              <a:rPr lang="en-GB" sz="2000" u="sng" dirty="0" smtClean="0"/>
              <a:t>non-trivial*,</a:t>
            </a:r>
            <a:r>
              <a:rPr lang="en-GB" sz="2000" dirty="0" smtClean="0"/>
              <a:t> </a:t>
            </a:r>
            <a:r>
              <a:rPr lang="en-GB" sz="2000" u="sng" dirty="0" smtClean="0"/>
              <a:t>implicit</a:t>
            </a:r>
            <a:r>
              <a:rPr lang="en-GB" sz="2000" dirty="0" smtClean="0"/>
              <a:t>, </a:t>
            </a:r>
            <a:r>
              <a:rPr lang="en-GB" sz="2000" u="sng" dirty="0" smtClean="0"/>
              <a:t>previously unknown</a:t>
            </a:r>
            <a:r>
              <a:rPr lang="en-GB" sz="2000" dirty="0" smtClean="0"/>
              <a:t> and </a:t>
            </a:r>
            <a:r>
              <a:rPr lang="en-GB" sz="2000" u="sng" dirty="0" smtClean="0"/>
              <a:t>potentially useful)</a:t>
            </a:r>
            <a:r>
              <a:rPr lang="en-GB" dirty="0" smtClean="0"/>
              <a:t> </a:t>
            </a:r>
            <a:r>
              <a:rPr lang="en-GB" sz="2000" dirty="0" smtClean="0"/>
              <a:t>patterns or knowledge from huge amount of data</a:t>
            </a:r>
          </a:p>
          <a:p>
            <a:pPr>
              <a:lnSpc>
                <a:spcPct val="110000"/>
              </a:lnSpc>
            </a:pPr>
            <a:r>
              <a:rPr lang="en-US" sz="2400" b="1" dirty="0" smtClean="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Alternative Names</a:t>
            </a:r>
          </a:p>
          <a:p>
            <a:pPr lvl="2" algn="just">
              <a:lnSpc>
                <a:spcPct val="110000"/>
              </a:lnSpc>
            </a:pPr>
            <a:r>
              <a:rPr lang="en-US" sz="2000" b="1" dirty="0" smtClean="0">
                <a:solidFill>
                  <a:srgbClr val="C00000"/>
                </a:solidFill>
              </a:rPr>
              <a:t>Knowledge Discovery (Mining) In Databases (KDD)</a:t>
            </a:r>
          </a:p>
          <a:p>
            <a:pPr lvl="2" algn="just">
              <a:lnSpc>
                <a:spcPct val="110000"/>
              </a:lnSpc>
            </a:pPr>
            <a:r>
              <a:rPr lang="en-US" sz="1600" dirty="0" smtClean="0">
                <a:solidFill>
                  <a:srgbClr val="C00000"/>
                </a:solidFill>
              </a:rPr>
              <a:t> </a:t>
            </a:r>
            <a:r>
              <a:rPr lang="en-US" sz="2000" b="1" dirty="0" smtClean="0">
                <a:solidFill>
                  <a:srgbClr val="C00000"/>
                </a:solidFill>
              </a:rPr>
              <a:t>Knowledge Extraction, </a:t>
            </a:r>
          </a:p>
          <a:p>
            <a:pPr lvl="2" algn="just">
              <a:lnSpc>
                <a:spcPct val="110000"/>
              </a:lnSpc>
            </a:pPr>
            <a:r>
              <a:rPr lang="en-US" sz="2000" b="1" dirty="0" smtClean="0">
                <a:solidFill>
                  <a:srgbClr val="C00000"/>
                </a:solidFill>
              </a:rPr>
              <a:t>Data/Pattern Analysis, </a:t>
            </a:r>
          </a:p>
          <a:p>
            <a:pPr lvl="2" algn="just">
              <a:lnSpc>
                <a:spcPct val="110000"/>
              </a:lnSpc>
            </a:pPr>
            <a:r>
              <a:rPr lang="en-US" sz="2000" b="1" dirty="0" smtClean="0">
                <a:solidFill>
                  <a:srgbClr val="C00000"/>
                </a:solidFill>
              </a:rPr>
              <a:t>Data Archeology, </a:t>
            </a:r>
          </a:p>
          <a:p>
            <a:pPr lvl="2" algn="just">
              <a:lnSpc>
                <a:spcPct val="110000"/>
              </a:lnSpc>
            </a:pPr>
            <a:r>
              <a:rPr lang="en-US" sz="2000" b="1" dirty="0" smtClean="0">
                <a:solidFill>
                  <a:srgbClr val="C00000"/>
                </a:solidFill>
              </a:rPr>
              <a:t>Data Dredging, </a:t>
            </a:r>
          </a:p>
          <a:p>
            <a:pPr lvl="2" algn="just">
              <a:lnSpc>
                <a:spcPct val="110000"/>
              </a:lnSpc>
            </a:pPr>
            <a:r>
              <a:rPr lang="en-US" sz="2000" b="1" dirty="0" smtClean="0">
                <a:solidFill>
                  <a:srgbClr val="C00000"/>
                </a:solidFill>
              </a:rPr>
              <a:t>Information Harvesting, </a:t>
            </a:r>
          </a:p>
          <a:p>
            <a:pPr lvl="2" algn="just">
              <a:lnSpc>
                <a:spcPct val="110000"/>
              </a:lnSpc>
            </a:pPr>
            <a:r>
              <a:rPr lang="en-US" sz="2000" b="1" dirty="0" smtClean="0">
                <a:solidFill>
                  <a:srgbClr val="C00000"/>
                </a:solidFill>
              </a:rPr>
              <a:t>Business Intelligence,.</a:t>
            </a:r>
          </a:p>
          <a:p>
            <a:pPr lvl="8">
              <a:buBlip>
                <a:blip r:embed="rId2"/>
              </a:buBlip>
            </a:pPr>
            <a:r>
              <a:rPr lang="en-US" dirty="0" smtClean="0"/>
              <a:t>Not important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p:spPr>
        <p:txBody>
          <a:bodyPr/>
          <a:lstStyle/>
          <a:p>
            <a:fld id="{18A39F79-DF42-47A3-8BD4-9E9577811BF6}" type="slidenum">
              <a:rPr lang="en-US" smtClean="0"/>
              <a:pPr/>
              <a:t>8</a:t>
            </a:fld>
            <a:endParaRPr lang="en-US" smtClean="0"/>
          </a:p>
        </p:txBody>
      </p:sp>
      <p:sp>
        <p:nvSpPr>
          <p:cNvPr id="10243" name="Rectangle 2050"/>
          <p:cNvSpPr>
            <a:spLocks noGrp="1" noChangeArrowheads="1"/>
          </p:cNvSpPr>
          <p:nvPr>
            <p:ph type="title"/>
          </p:nvPr>
        </p:nvSpPr>
        <p:spPr>
          <a:xfrm>
            <a:off x="0" y="228600"/>
            <a:ext cx="9144000" cy="914400"/>
          </a:xfrm>
          <a:noFill/>
        </p:spPr>
        <p:txBody>
          <a:bodyPr lIns="92075" tIns="46038" rIns="92075" bIns="46038" anchor="ctr">
            <a:normAutofit/>
          </a:bodyPr>
          <a:lstStyle/>
          <a:p>
            <a:pPr eaLnBrk="1" hangingPunct="1"/>
            <a:r>
              <a:rPr lang="en-US" sz="4000"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Knowledge Discovery (KDD) Process</a:t>
            </a:r>
          </a:p>
        </p:txBody>
      </p:sp>
      <p:sp>
        <p:nvSpPr>
          <p:cNvPr id="10244" name="Rectangle 2051"/>
          <p:cNvSpPr>
            <a:spLocks noGrp="1" noChangeArrowheads="1"/>
          </p:cNvSpPr>
          <p:nvPr>
            <p:ph type="body" idx="1"/>
          </p:nvPr>
        </p:nvSpPr>
        <p:spPr>
          <a:xfrm>
            <a:off x="152400" y="1295400"/>
            <a:ext cx="4419600" cy="1752600"/>
          </a:xfrm>
          <a:noFill/>
        </p:spPr>
        <p:txBody>
          <a:bodyPr lIns="92075" tIns="46038" rIns="92075" bIns="46038"/>
          <a:lstStyle/>
          <a:p>
            <a:pPr eaLnBrk="1" hangingPunct="1">
              <a:lnSpc>
                <a:spcPct val="90000"/>
              </a:lnSpc>
            </a:pPr>
            <a:r>
              <a:rPr lang="en-US" sz="2000" dirty="0" smtClean="0"/>
              <a:t>This is a view from typical database systems and data warehousing communities</a:t>
            </a:r>
          </a:p>
          <a:p>
            <a:pPr eaLnBrk="1" hangingPunct="1">
              <a:lnSpc>
                <a:spcPct val="90000"/>
              </a:lnSpc>
            </a:pPr>
            <a:r>
              <a:rPr lang="en-US" sz="2000" dirty="0" smtClean="0"/>
              <a:t>Data mining plays an essential role in the knowledge discovery process</a:t>
            </a:r>
            <a:endParaRPr lang="en-US" sz="2000" b="1" dirty="0" smtClean="0"/>
          </a:p>
        </p:txBody>
      </p:sp>
      <p:sp>
        <p:nvSpPr>
          <p:cNvPr id="10245" name="Line 2052"/>
          <p:cNvSpPr>
            <a:spLocks noChangeShapeType="1"/>
          </p:cNvSpPr>
          <p:nvPr/>
        </p:nvSpPr>
        <p:spPr bwMode="auto">
          <a:xfrm flipV="1">
            <a:off x="1219200" y="5105400"/>
            <a:ext cx="990600" cy="609600"/>
          </a:xfrm>
          <a:prstGeom prst="line">
            <a:avLst/>
          </a:prstGeom>
          <a:noFill/>
          <a:ln w="38100">
            <a:solidFill>
              <a:schemeClr val="tx1"/>
            </a:solidFill>
            <a:round/>
            <a:headEnd type="none" w="sm" len="sm"/>
            <a:tailEnd type="arrow" w="med" len="med"/>
          </a:ln>
        </p:spPr>
        <p:txBody>
          <a:bodyPr wrap="none" anchor="ctr"/>
          <a:lstStyle/>
          <a:p>
            <a:endParaRPr lang="en-US"/>
          </a:p>
        </p:txBody>
      </p:sp>
      <p:sp>
        <p:nvSpPr>
          <p:cNvPr id="10246" name="Line 2053"/>
          <p:cNvSpPr>
            <a:spLocks noChangeShapeType="1"/>
          </p:cNvSpPr>
          <p:nvPr/>
        </p:nvSpPr>
        <p:spPr bwMode="auto">
          <a:xfrm flipV="1">
            <a:off x="6781800" y="1600200"/>
            <a:ext cx="990600" cy="609600"/>
          </a:xfrm>
          <a:prstGeom prst="line">
            <a:avLst/>
          </a:prstGeom>
          <a:noFill/>
          <a:ln w="38100">
            <a:solidFill>
              <a:schemeClr val="tx1"/>
            </a:solidFill>
            <a:round/>
            <a:headEnd type="none" w="sm" len="sm"/>
            <a:tailEnd type="arrow" w="med" len="med"/>
          </a:ln>
        </p:spPr>
        <p:txBody>
          <a:bodyPr wrap="none" anchor="ctr"/>
          <a:lstStyle/>
          <a:p>
            <a:endParaRPr lang="en-US"/>
          </a:p>
        </p:txBody>
      </p:sp>
      <p:sp>
        <p:nvSpPr>
          <p:cNvPr id="10247" name="Line 2054"/>
          <p:cNvSpPr>
            <a:spLocks noChangeShapeType="1"/>
          </p:cNvSpPr>
          <p:nvPr/>
        </p:nvSpPr>
        <p:spPr bwMode="auto">
          <a:xfrm flipV="1">
            <a:off x="5105400" y="2667000"/>
            <a:ext cx="990600" cy="609600"/>
          </a:xfrm>
          <a:prstGeom prst="line">
            <a:avLst/>
          </a:prstGeom>
          <a:noFill/>
          <a:ln w="38100">
            <a:solidFill>
              <a:schemeClr val="tx1"/>
            </a:solidFill>
            <a:round/>
            <a:headEnd type="none" w="sm" len="sm"/>
            <a:tailEnd type="arrow" w="med" len="med"/>
          </a:ln>
        </p:spPr>
        <p:txBody>
          <a:bodyPr wrap="none" anchor="ctr"/>
          <a:lstStyle/>
          <a:p>
            <a:endParaRPr lang="en-US"/>
          </a:p>
        </p:txBody>
      </p:sp>
      <p:sp>
        <p:nvSpPr>
          <p:cNvPr id="10248" name="Line 2055"/>
          <p:cNvSpPr>
            <a:spLocks noChangeShapeType="1"/>
          </p:cNvSpPr>
          <p:nvPr/>
        </p:nvSpPr>
        <p:spPr bwMode="auto">
          <a:xfrm flipV="1">
            <a:off x="3276600" y="3733800"/>
            <a:ext cx="990600" cy="609600"/>
          </a:xfrm>
          <a:prstGeom prst="line">
            <a:avLst/>
          </a:prstGeom>
          <a:noFill/>
          <a:ln w="38100">
            <a:solidFill>
              <a:schemeClr val="tx1"/>
            </a:solidFill>
            <a:round/>
            <a:headEnd type="none" w="sm" len="sm"/>
            <a:tailEnd type="arrow" w="med" len="med"/>
          </a:ln>
        </p:spPr>
        <p:txBody>
          <a:bodyPr wrap="none" anchor="ctr"/>
          <a:lstStyle/>
          <a:p>
            <a:endParaRPr lang="en-US"/>
          </a:p>
        </p:txBody>
      </p:sp>
      <p:sp>
        <p:nvSpPr>
          <p:cNvPr id="10249" name="Oval 2056"/>
          <p:cNvSpPr>
            <a:spLocks noChangeArrowheads="1"/>
          </p:cNvSpPr>
          <p:nvPr/>
        </p:nvSpPr>
        <p:spPr bwMode="auto">
          <a:xfrm>
            <a:off x="228600" y="5562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p>
            <a:endParaRPr lang="en-US"/>
          </a:p>
        </p:txBody>
      </p:sp>
      <p:sp>
        <p:nvSpPr>
          <p:cNvPr id="10250" name="Rectangle 2057"/>
          <p:cNvSpPr>
            <a:spLocks noChangeArrowheads="1"/>
          </p:cNvSpPr>
          <p:nvPr/>
        </p:nvSpPr>
        <p:spPr bwMode="auto">
          <a:xfrm>
            <a:off x="228600" y="5638800"/>
            <a:ext cx="685800" cy="406400"/>
          </a:xfrm>
          <a:prstGeom prst="rect">
            <a:avLst/>
          </a:prstGeom>
          <a:solidFill>
            <a:srgbClr val="00CC66"/>
          </a:solidFill>
          <a:ln w="12700">
            <a:solidFill>
              <a:schemeClr val="tx1"/>
            </a:solidFill>
            <a:miter lim="800000"/>
            <a:headEnd type="none" w="sm" len="sm"/>
            <a:tailEnd type="none" w="sm" len="sm"/>
          </a:ln>
        </p:spPr>
        <p:txBody>
          <a:bodyPr wrap="none" anchor="ctr"/>
          <a:lstStyle/>
          <a:p>
            <a:endParaRPr lang="en-US"/>
          </a:p>
        </p:txBody>
      </p:sp>
      <p:sp>
        <p:nvSpPr>
          <p:cNvPr id="10251" name="Oval 2058"/>
          <p:cNvSpPr>
            <a:spLocks noChangeArrowheads="1"/>
          </p:cNvSpPr>
          <p:nvPr/>
        </p:nvSpPr>
        <p:spPr bwMode="auto">
          <a:xfrm>
            <a:off x="228600" y="5943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p>
            <a:endParaRPr lang="en-US"/>
          </a:p>
        </p:txBody>
      </p:sp>
      <p:sp>
        <p:nvSpPr>
          <p:cNvPr id="10252" name="Oval 2059"/>
          <p:cNvSpPr>
            <a:spLocks noChangeArrowheads="1"/>
          </p:cNvSpPr>
          <p:nvPr/>
        </p:nvSpPr>
        <p:spPr bwMode="auto">
          <a:xfrm>
            <a:off x="609600" y="5943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p>
            <a:endParaRPr lang="en-US"/>
          </a:p>
        </p:txBody>
      </p:sp>
      <p:sp>
        <p:nvSpPr>
          <p:cNvPr id="10253" name="Rectangle 2060"/>
          <p:cNvSpPr>
            <a:spLocks noChangeArrowheads="1"/>
          </p:cNvSpPr>
          <p:nvPr/>
        </p:nvSpPr>
        <p:spPr bwMode="auto">
          <a:xfrm>
            <a:off x="609600" y="6019800"/>
            <a:ext cx="685800" cy="406400"/>
          </a:xfrm>
          <a:prstGeom prst="rect">
            <a:avLst/>
          </a:prstGeom>
          <a:solidFill>
            <a:srgbClr val="00CC66"/>
          </a:solidFill>
          <a:ln w="12700">
            <a:solidFill>
              <a:schemeClr val="tx1"/>
            </a:solidFill>
            <a:miter lim="800000"/>
            <a:headEnd type="none" w="sm" len="sm"/>
            <a:tailEnd type="none" w="sm" len="sm"/>
          </a:ln>
        </p:spPr>
        <p:txBody>
          <a:bodyPr wrap="none" anchor="ctr"/>
          <a:lstStyle/>
          <a:p>
            <a:endParaRPr lang="en-US"/>
          </a:p>
        </p:txBody>
      </p:sp>
      <p:sp>
        <p:nvSpPr>
          <p:cNvPr id="10254" name="Oval 2061"/>
          <p:cNvSpPr>
            <a:spLocks noChangeArrowheads="1"/>
          </p:cNvSpPr>
          <p:nvPr/>
        </p:nvSpPr>
        <p:spPr bwMode="auto">
          <a:xfrm>
            <a:off x="609600" y="63246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p>
            <a:endParaRPr lang="en-US"/>
          </a:p>
        </p:txBody>
      </p:sp>
      <p:sp>
        <p:nvSpPr>
          <p:cNvPr id="10255" name="Oval 2062"/>
          <p:cNvSpPr>
            <a:spLocks noChangeArrowheads="1"/>
          </p:cNvSpPr>
          <p:nvPr/>
        </p:nvSpPr>
        <p:spPr bwMode="auto">
          <a:xfrm>
            <a:off x="1295400" y="57150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p>
            <a:endParaRPr lang="en-US"/>
          </a:p>
        </p:txBody>
      </p:sp>
      <p:sp>
        <p:nvSpPr>
          <p:cNvPr id="10256" name="Rectangle 2063"/>
          <p:cNvSpPr>
            <a:spLocks noChangeArrowheads="1"/>
          </p:cNvSpPr>
          <p:nvPr/>
        </p:nvSpPr>
        <p:spPr bwMode="auto">
          <a:xfrm>
            <a:off x="1295400" y="5791200"/>
            <a:ext cx="685800" cy="406400"/>
          </a:xfrm>
          <a:prstGeom prst="rect">
            <a:avLst/>
          </a:prstGeom>
          <a:solidFill>
            <a:srgbClr val="00CC66"/>
          </a:solidFill>
          <a:ln w="12700">
            <a:solidFill>
              <a:schemeClr val="tx1"/>
            </a:solidFill>
            <a:miter lim="800000"/>
            <a:headEnd type="none" w="sm" len="sm"/>
            <a:tailEnd type="none" w="sm" len="sm"/>
          </a:ln>
        </p:spPr>
        <p:txBody>
          <a:bodyPr wrap="none" anchor="ctr"/>
          <a:lstStyle/>
          <a:p>
            <a:endParaRPr lang="en-US"/>
          </a:p>
        </p:txBody>
      </p:sp>
      <p:sp>
        <p:nvSpPr>
          <p:cNvPr id="10257" name="Oval 2064"/>
          <p:cNvSpPr>
            <a:spLocks noChangeArrowheads="1"/>
          </p:cNvSpPr>
          <p:nvPr/>
        </p:nvSpPr>
        <p:spPr bwMode="auto">
          <a:xfrm>
            <a:off x="1295400" y="6096000"/>
            <a:ext cx="685800" cy="152400"/>
          </a:xfrm>
          <a:prstGeom prst="ellipse">
            <a:avLst/>
          </a:prstGeom>
          <a:solidFill>
            <a:srgbClr val="00CC66"/>
          </a:solidFill>
          <a:ln w="12700">
            <a:solidFill>
              <a:schemeClr val="tx1"/>
            </a:solidFill>
            <a:round/>
            <a:headEnd type="none" w="sm" len="sm"/>
            <a:tailEnd type="none" w="sm" len="sm"/>
          </a:ln>
        </p:spPr>
        <p:txBody>
          <a:bodyPr wrap="none" anchor="ctr"/>
          <a:lstStyle/>
          <a:p>
            <a:endParaRPr lang="en-US"/>
          </a:p>
        </p:txBody>
      </p:sp>
      <p:sp>
        <p:nvSpPr>
          <p:cNvPr id="10258" name="Text Box 2065"/>
          <p:cNvSpPr txBox="1">
            <a:spLocks noChangeArrowheads="1"/>
          </p:cNvSpPr>
          <p:nvPr/>
        </p:nvSpPr>
        <p:spPr bwMode="auto">
          <a:xfrm>
            <a:off x="304800" y="4876800"/>
            <a:ext cx="1743075" cy="396875"/>
          </a:xfrm>
          <a:prstGeom prst="rect">
            <a:avLst/>
          </a:prstGeom>
          <a:noFill/>
          <a:ln w="12700">
            <a:noFill/>
            <a:miter lim="800000"/>
            <a:headEnd type="none" w="sm" len="sm"/>
            <a:tailEnd type="none" w="sm" len="sm"/>
          </a:ln>
        </p:spPr>
        <p:txBody>
          <a:bodyPr wrap="none">
            <a:spAutoFit/>
          </a:bodyPr>
          <a:lstStyle/>
          <a:p>
            <a:r>
              <a:rPr lang="en-US" sz="2000" b="1">
                <a:latin typeface="Times New Roman" pitchFamily="18" charset="0"/>
              </a:rPr>
              <a:t>Data Cleaning</a:t>
            </a:r>
            <a:endParaRPr lang="en-US" sz="1800">
              <a:latin typeface="Times New Roman" pitchFamily="18" charset="0"/>
            </a:endParaRPr>
          </a:p>
        </p:txBody>
      </p:sp>
      <p:sp>
        <p:nvSpPr>
          <p:cNvPr id="10259" name="Text Box 2066"/>
          <p:cNvSpPr txBox="1">
            <a:spLocks noChangeArrowheads="1"/>
          </p:cNvSpPr>
          <p:nvPr/>
        </p:nvSpPr>
        <p:spPr bwMode="auto">
          <a:xfrm>
            <a:off x="1600200" y="5410200"/>
            <a:ext cx="1995488" cy="396875"/>
          </a:xfrm>
          <a:prstGeom prst="rect">
            <a:avLst/>
          </a:prstGeom>
          <a:noFill/>
          <a:ln w="12700">
            <a:noFill/>
            <a:miter lim="800000"/>
            <a:headEnd type="none" w="sm" len="sm"/>
            <a:tailEnd type="none" w="sm" len="sm"/>
          </a:ln>
        </p:spPr>
        <p:txBody>
          <a:bodyPr wrap="none">
            <a:spAutoFit/>
          </a:bodyPr>
          <a:lstStyle/>
          <a:p>
            <a:r>
              <a:rPr lang="en-US" sz="2000" b="1">
                <a:latin typeface="Times New Roman" pitchFamily="18" charset="0"/>
              </a:rPr>
              <a:t>Data Integration</a:t>
            </a:r>
            <a:endParaRPr lang="en-US" sz="1800">
              <a:latin typeface="Times New Roman" pitchFamily="18" charset="0"/>
            </a:endParaRPr>
          </a:p>
        </p:txBody>
      </p:sp>
      <p:sp>
        <p:nvSpPr>
          <p:cNvPr id="10260" name="Text Box 2067"/>
          <p:cNvSpPr txBox="1">
            <a:spLocks noChangeArrowheads="1"/>
          </p:cNvSpPr>
          <p:nvPr/>
        </p:nvSpPr>
        <p:spPr bwMode="auto">
          <a:xfrm>
            <a:off x="1371600" y="6248400"/>
            <a:ext cx="1447800" cy="396875"/>
          </a:xfrm>
          <a:prstGeom prst="rect">
            <a:avLst/>
          </a:prstGeom>
          <a:noFill/>
          <a:ln w="12700">
            <a:noFill/>
            <a:miter lim="800000"/>
            <a:headEnd type="none" w="sm" len="sm"/>
            <a:tailEnd type="none" w="sm" len="sm"/>
          </a:ln>
        </p:spPr>
        <p:txBody>
          <a:bodyPr>
            <a:spAutoFit/>
          </a:bodyPr>
          <a:lstStyle/>
          <a:p>
            <a:r>
              <a:rPr lang="en-US" sz="2000" b="1">
                <a:solidFill>
                  <a:srgbClr val="000099"/>
                </a:solidFill>
                <a:latin typeface="Times New Roman" pitchFamily="18" charset="0"/>
              </a:rPr>
              <a:t>Databases</a:t>
            </a:r>
          </a:p>
        </p:txBody>
      </p:sp>
      <p:sp>
        <p:nvSpPr>
          <p:cNvPr id="10261" name="Text Box 2068"/>
          <p:cNvSpPr txBox="1">
            <a:spLocks noChangeArrowheads="1"/>
          </p:cNvSpPr>
          <p:nvPr/>
        </p:nvSpPr>
        <p:spPr bwMode="auto">
          <a:xfrm>
            <a:off x="1066800" y="4114800"/>
            <a:ext cx="1997075" cy="396875"/>
          </a:xfrm>
          <a:prstGeom prst="rect">
            <a:avLst/>
          </a:prstGeom>
          <a:noFill/>
          <a:ln w="12700">
            <a:noFill/>
            <a:miter lim="800000"/>
            <a:headEnd type="none" w="sm" len="sm"/>
            <a:tailEnd type="none" w="sm" len="sm"/>
          </a:ln>
        </p:spPr>
        <p:txBody>
          <a:bodyPr>
            <a:spAutoFit/>
          </a:bodyPr>
          <a:lstStyle/>
          <a:p>
            <a:r>
              <a:rPr lang="en-US" sz="2000" b="1">
                <a:solidFill>
                  <a:srgbClr val="000099"/>
                </a:solidFill>
                <a:latin typeface="Times New Roman" pitchFamily="18" charset="0"/>
              </a:rPr>
              <a:t>Data Warehouse</a:t>
            </a:r>
          </a:p>
        </p:txBody>
      </p:sp>
      <p:sp>
        <p:nvSpPr>
          <p:cNvPr id="10262" name="Rectangle 2069"/>
          <p:cNvSpPr>
            <a:spLocks noChangeArrowheads="1"/>
          </p:cNvSpPr>
          <p:nvPr/>
        </p:nvSpPr>
        <p:spPr bwMode="auto">
          <a:xfrm>
            <a:off x="2362200" y="4572000"/>
            <a:ext cx="685800" cy="685800"/>
          </a:xfrm>
          <a:prstGeom prst="rect">
            <a:avLst/>
          </a:prstGeom>
          <a:solidFill>
            <a:srgbClr val="00CC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CC66"/>
            </a:extrusionClr>
          </a:sp3d>
        </p:spPr>
        <p:txBody>
          <a:bodyPr wrap="none" anchor="ctr">
            <a:flatTx/>
          </a:bodyPr>
          <a:lstStyle/>
          <a:p>
            <a:endParaRPr lang="en-US"/>
          </a:p>
        </p:txBody>
      </p:sp>
      <p:sp>
        <p:nvSpPr>
          <p:cNvPr id="10263" name="Rectangle 2070"/>
          <p:cNvSpPr>
            <a:spLocks noChangeArrowheads="1"/>
          </p:cNvSpPr>
          <p:nvPr/>
        </p:nvSpPr>
        <p:spPr bwMode="auto">
          <a:xfrm>
            <a:off x="4419600" y="3429000"/>
            <a:ext cx="457200" cy="457200"/>
          </a:xfrm>
          <a:prstGeom prst="rect">
            <a:avLst/>
          </a:prstGeom>
          <a:solidFill>
            <a:srgbClr val="00CC66"/>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CC66"/>
            </a:extrusionClr>
          </a:sp3d>
        </p:spPr>
        <p:txBody>
          <a:bodyPr wrap="none" anchor="ctr">
            <a:flatTx/>
          </a:bodyPr>
          <a:lstStyle/>
          <a:p>
            <a:endParaRPr lang="en-US"/>
          </a:p>
        </p:txBody>
      </p:sp>
      <p:sp>
        <p:nvSpPr>
          <p:cNvPr id="10264" name="Rectangle 2071"/>
          <p:cNvSpPr>
            <a:spLocks noChangeArrowheads="1"/>
          </p:cNvSpPr>
          <p:nvPr/>
        </p:nvSpPr>
        <p:spPr bwMode="auto">
          <a:xfrm>
            <a:off x="6477000" y="1981200"/>
            <a:ext cx="76200" cy="609600"/>
          </a:xfrm>
          <a:prstGeom prst="rect">
            <a:avLst/>
          </a:prstGeom>
          <a:solidFill>
            <a:schemeClr val="hlink"/>
          </a:solidFill>
          <a:ln w="12700">
            <a:solidFill>
              <a:schemeClr val="tx1"/>
            </a:solidFill>
            <a:miter lim="800000"/>
            <a:headEnd type="none" w="sm" len="sm"/>
            <a:tailEnd type="none" w="sm" len="sm"/>
          </a:ln>
        </p:spPr>
        <p:txBody>
          <a:bodyPr wrap="none" anchor="ctr"/>
          <a:lstStyle/>
          <a:p>
            <a:endParaRPr lang="en-US"/>
          </a:p>
        </p:txBody>
      </p:sp>
      <p:sp>
        <p:nvSpPr>
          <p:cNvPr id="10265" name="Rectangle 2072"/>
          <p:cNvSpPr>
            <a:spLocks noChangeArrowheads="1"/>
          </p:cNvSpPr>
          <p:nvPr/>
        </p:nvSpPr>
        <p:spPr bwMode="auto">
          <a:xfrm>
            <a:off x="6553200" y="2209800"/>
            <a:ext cx="76200" cy="381000"/>
          </a:xfrm>
          <a:prstGeom prst="rect">
            <a:avLst/>
          </a:prstGeom>
          <a:solidFill>
            <a:schemeClr val="accent2"/>
          </a:solidFill>
          <a:ln w="12700">
            <a:solidFill>
              <a:schemeClr val="tx1"/>
            </a:solidFill>
            <a:miter lim="800000"/>
            <a:headEnd type="none" w="sm" len="sm"/>
            <a:tailEnd type="none" w="sm" len="sm"/>
          </a:ln>
        </p:spPr>
        <p:txBody>
          <a:bodyPr wrap="none" anchor="ctr"/>
          <a:lstStyle/>
          <a:p>
            <a:endParaRPr lang="en-US"/>
          </a:p>
        </p:txBody>
      </p:sp>
      <p:sp>
        <p:nvSpPr>
          <p:cNvPr id="10266" name="Rectangle 2073"/>
          <p:cNvSpPr>
            <a:spLocks noChangeArrowheads="1"/>
          </p:cNvSpPr>
          <p:nvPr/>
        </p:nvSpPr>
        <p:spPr bwMode="auto">
          <a:xfrm>
            <a:off x="6400800" y="2133600"/>
            <a:ext cx="76200" cy="457200"/>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0267" name="Rectangle 2074"/>
          <p:cNvSpPr>
            <a:spLocks noChangeArrowheads="1"/>
          </p:cNvSpPr>
          <p:nvPr/>
        </p:nvSpPr>
        <p:spPr bwMode="auto">
          <a:xfrm>
            <a:off x="6629400" y="2362200"/>
            <a:ext cx="76200" cy="228600"/>
          </a:xfrm>
          <a:prstGeom prst="rect">
            <a:avLst/>
          </a:prstGeom>
          <a:solidFill>
            <a:schemeClr val="tx1"/>
          </a:solidFill>
          <a:ln w="12700">
            <a:solidFill>
              <a:schemeClr val="tx1"/>
            </a:solidFill>
            <a:miter lim="800000"/>
            <a:headEnd type="none" w="sm" len="sm"/>
            <a:tailEnd type="none" w="sm" len="sm"/>
          </a:ln>
        </p:spPr>
        <p:txBody>
          <a:bodyPr wrap="none" anchor="ctr"/>
          <a:lstStyle/>
          <a:p>
            <a:endParaRPr lang="en-US"/>
          </a:p>
        </p:txBody>
      </p:sp>
      <p:sp>
        <p:nvSpPr>
          <p:cNvPr id="10268" name="Rectangle 2075"/>
          <p:cNvSpPr>
            <a:spLocks noChangeArrowheads="1"/>
          </p:cNvSpPr>
          <p:nvPr/>
        </p:nvSpPr>
        <p:spPr bwMode="auto">
          <a:xfrm>
            <a:off x="6172200" y="2590800"/>
            <a:ext cx="685800" cy="76200"/>
          </a:xfrm>
          <a:prstGeom prst="rect">
            <a:avLst/>
          </a:prstGeom>
          <a:solidFill>
            <a:schemeClr val="accent1"/>
          </a:solidFill>
          <a:ln w="12700">
            <a:solidFill>
              <a:schemeClr val="tx1"/>
            </a:solidFill>
            <a:miter lim="800000"/>
            <a:headEnd type="none" w="sm" len="sm"/>
            <a:tailEnd type="none" w="sm" len="sm"/>
          </a:ln>
        </p:spPr>
        <p:txBody>
          <a:bodyPr wrap="none" anchor="ctr"/>
          <a:lstStyle/>
          <a:p>
            <a:endParaRPr lang="en-US"/>
          </a:p>
        </p:txBody>
      </p:sp>
      <p:sp>
        <p:nvSpPr>
          <p:cNvPr id="10269" name="Rectangle 2076"/>
          <p:cNvSpPr>
            <a:spLocks noChangeArrowheads="1"/>
          </p:cNvSpPr>
          <p:nvPr/>
        </p:nvSpPr>
        <p:spPr bwMode="auto">
          <a:xfrm>
            <a:off x="6248400" y="2362200"/>
            <a:ext cx="152400" cy="228600"/>
          </a:xfrm>
          <a:prstGeom prst="rect">
            <a:avLst/>
          </a:prstGeom>
          <a:solidFill>
            <a:srgbClr val="FF99FF"/>
          </a:solidFill>
          <a:ln w="12700">
            <a:solidFill>
              <a:schemeClr val="tx1"/>
            </a:solidFill>
            <a:miter lim="800000"/>
            <a:headEnd type="none" w="sm" len="sm"/>
            <a:tailEnd type="none" w="sm" len="sm"/>
          </a:ln>
        </p:spPr>
        <p:txBody>
          <a:bodyPr wrap="none" anchor="ctr"/>
          <a:lstStyle/>
          <a:p>
            <a:endParaRPr lang="en-US"/>
          </a:p>
        </p:txBody>
      </p:sp>
      <p:sp>
        <p:nvSpPr>
          <p:cNvPr id="10270" name="WordArt 2077"/>
          <p:cNvSpPr>
            <a:spLocks noChangeArrowheads="1" noChangeShapeType="1" noTextEdit="1"/>
          </p:cNvSpPr>
          <p:nvPr/>
        </p:nvSpPr>
        <p:spPr bwMode="auto">
          <a:xfrm>
            <a:off x="7086600" y="990600"/>
            <a:ext cx="1743075" cy="612775"/>
          </a:xfrm>
          <a:prstGeom prst="rect">
            <a:avLst/>
          </a:prstGeom>
        </p:spPr>
        <p:txBody>
          <a:bodyPr wrap="none" fromWordArt="1">
            <a:prstTxWarp prst="textCascadeUp">
              <a:avLst>
                <a:gd name="adj" fmla="val 44444"/>
              </a:avLst>
            </a:prstTxWarp>
            <a:scene3d>
              <a:camera prst="legacyPerspectiveFront">
                <a:rot lat="20519974" lon="1080000" rev="0"/>
              </a:camera>
              <a:lightRig rig="legacyHarsh2" dir="b"/>
            </a:scene3d>
            <a:sp3d extrusionH="430200" prstMaterial="legacyMatte">
              <a:extrusionClr>
                <a:srgbClr val="FF6600"/>
              </a:extrusionClr>
            </a:sp3d>
          </a:bodyPr>
          <a:lstStyle/>
          <a:p>
            <a:pPr algn="ctr"/>
            <a:r>
              <a:rPr lang="en-US" kern="10">
                <a:ln w="9525">
                  <a:round/>
                  <a:headEnd/>
                  <a:tailEnd/>
                </a:ln>
                <a:gradFill rotWithShape="1">
                  <a:gsLst>
                    <a:gs pos="0">
                      <a:srgbClr val="FFE701"/>
                    </a:gs>
                    <a:gs pos="100000">
                      <a:srgbClr val="FE3E02"/>
                    </a:gs>
                  </a:gsLst>
                  <a:lin ang="5400000" scaled="1"/>
                </a:gradFill>
                <a:latin typeface="Impact"/>
              </a:rPr>
              <a:t>Knowledge</a:t>
            </a:r>
          </a:p>
        </p:txBody>
      </p:sp>
      <p:sp>
        <p:nvSpPr>
          <p:cNvPr id="10271" name="Text Box 2078"/>
          <p:cNvSpPr txBox="1">
            <a:spLocks noChangeArrowheads="1"/>
          </p:cNvSpPr>
          <p:nvPr/>
        </p:nvSpPr>
        <p:spPr bwMode="auto">
          <a:xfrm>
            <a:off x="2514600" y="3276600"/>
            <a:ext cx="2278063" cy="396875"/>
          </a:xfrm>
          <a:prstGeom prst="rect">
            <a:avLst/>
          </a:prstGeom>
          <a:noFill/>
          <a:ln w="12700">
            <a:noFill/>
            <a:miter lim="800000"/>
            <a:headEnd type="none" w="sm" len="sm"/>
            <a:tailEnd type="none" w="sm" len="sm"/>
          </a:ln>
        </p:spPr>
        <p:txBody>
          <a:bodyPr wrap="none">
            <a:spAutoFit/>
          </a:bodyPr>
          <a:lstStyle/>
          <a:p>
            <a:r>
              <a:rPr lang="en-US" sz="2000" b="1">
                <a:solidFill>
                  <a:srgbClr val="000099"/>
                </a:solidFill>
                <a:latin typeface="Times New Roman" pitchFamily="18" charset="0"/>
              </a:rPr>
              <a:t>Task-relevant Data</a:t>
            </a:r>
          </a:p>
        </p:txBody>
      </p:sp>
      <p:sp>
        <p:nvSpPr>
          <p:cNvPr id="10272" name="Text Box 2079"/>
          <p:cNvSpPr txBox="1">
            <a:spLocks noChangeArrowheads="1"/>
          </p:cNvSpPr>
          <p:nvPr/>
        </p:nvSpPr>
        <p:spPr bwMode="auto">
          <a:xfrm>
            <a:off x="3641725" y="4052888"/>
            <a:ext cx="1155700" cy="396875"/>
          </a:xfrm>
          <a:prstGeom prst="rect">
            <a:avLst/>
          </a:prstGeom>
          <a:noFill/>
          <a:ln w="12700">
            <a:noFill/>
            <a:miter lim="800000"/>
            <a:headEnd type="none" w="sm" len="sm"/>
            <a:tailEnd type="none" w="sm" len="sm"/>
          </a:ln>
        </p:spPr>
        <p:txBody>
          <a:bodyPr wrap="none">
            <a:spAutoFit/>
          </a:bodyPr>
          <a:lstStyle/>
          <a:p>
            <a:r>
              <a:rPr lang="en-US" sz="2000" b="1">
                <a:latin typeface="Times New Roman" pitchFamily="18" charset="0"/>
              </a:rPr>
              <a:t>Selection</a:t>
            </a:r>
          </a:p>
        </p:txBody>
      </p:sp>
      <p:sp>
        <p:nvSpPr>
          <p:cNvPr id="10273" name="Text Box 2080"/>
          <p:cNvSpPr txBox="1">
            <a:spLocks noChangeArrowheads="1"/>
          </p:cNvSpPr>
          <p:nvPr/>
        </p:nvSpPr>
        <p:spPr bwMode="auto">
          <a:xfrm>
            <a:off x="4267200" y="2590800"/>
            <a:ext cx="1558925" cy="396875"/>
          </a:xfrm>
          <a:prstGeom prst="rect">
            <a:avLst/>
          </a:prstGeom>
          <a:noFill/>
          <a:ln w="12700">
            <a:noFill/>
            <a:miter lim="800000"/>
            <a:headEnd type="none" w="sm" len="sm"/>
            <a:tailEnd type="none" w="sm" len="sm"/>
          </a:ln>
        </p:spPr>
        <p:txBody>
          <a:bodyPr wrap="none">
            <a:spAutoFit/>
          </a:bodyPr>
          <a:lstStyle/>
          <a:p>
            <a:r>
              <a:rPr lang="en-US" sz="2000" b="1">
                <a:solidFill>
                  <a:schemeClr val="hlink"/>
                </a:solidFill>
                <a:latin typeface="Times New Roman" pitchFamily="18" charset="0"/>
              </a:rPr>
              <a:t>Data Mining</a:t>
            </a:r>
          </a:p>
        </p:txBody>
      </p:sp>
      <p:sp>
        <p:nvSpPr>
          <p:cNvPr id="10274" name="Text Box 2081"/>
          <p:cNvSpPr txBox="1">
            <a:spLocks noChangeArrowheads="1"/>
          </p:cNvSpPr>
          <p:nvPr/>
        </p:nvSpPr>
        <p:spPr bwMode="auto">
          <a:xfrm>
            <a:off x="5257800" y="1676400"/>
            <a:ext cx="2249488" cy="396875"/>
          </a:xfrm>
          <a:prstGeom prst="rect">
            <a:avLst/>
          </a:prstGeom>
          <a:noFill/>
          <a:ln w="12700">
            <a:noFill/>
            <a:miter lim="800000"/>
            <a:headEnd type="none" w="sm" len="sm"/>
            <a:tailEnd type="none" w="sm" len="sm"/>
          </a:ln>
        </p:spPr>
        <p:txBody>
          <a:bodyPr wrap="none">
            <a:spAutoFit/>
          </a:bodyPr>
          <a:lstStyle/>
          <a:p>
            <a:r>
              <a:rPr lang="en-US" sz="2000" b="1">
                <a:latin typeface="Times New Roman" pitchFamily="18" charset="0"/>
              </a:rPr>
              <a:t>Pattern Evaluation</a:t>
            </a:r>
          </a:p>
        </p:txBody>
      </p:sp>
      <p:sp>
        <p:nvSpPr>
          <p:cNvPr id="10275" name="Line 2082"/>
          <p:cNvSpPr>
            <a:spLocks noChangeShapeType="1"/>
          </p:cNvSpPr>
          <p:nvPr/>
        </p:nvSpPr>
        <p:spPr bwMode="auto">
          <a:xfrm>
            <a:off x="5638800" y="3124200"/>
            <a:ext cx="0" cy="2133600"/>
          </a:xfrm>
          <a:prstGeom prst="line">
            <a:avLst/>
          </a:prstGeom>
          <a:noFill/>
          <a:ln w="38100">
            <a:solidFill>
              <a:schemeClr val="tx1"/>
            </a:solidFill>
            <a:round/>
            <a:headEnd type="triangle" w="med" len="med"/>
            <a:tailEnd/>
          </a:ln>
        </p:spPr>
        <p:txBody>
          <a:bodyPr wrap="none" anchor="ctr"/>
          <a:lstStyle/>
          <a:p>
            <a:endParaRPr lang="en-US"/>
          </a:p>
        </p:txBody>
      </p:sp>
      <p:sp>
        <p:nvSpPr>
          <p:cNvPr id="10276" name="Line 2083"/>
          <p:cNvSpPr>
            <a:spLocks noChangeShapeType="1"/>
          </p:cNvSpPr>
          <p:nvPr/>
        </p:nvSpPr>
        <p:spPr bwMode="auto">
          <a:xfrm>
            <a:off x="7315200" y="2057400"/>
            <a:ext cx="0" cy="3200400"/>
          </a:xfrm>
          <a:prstGeom prst="line">
            <a:avLst/>
          </a:prstGeom>
          <a:noFill/>
          <a:ln w="38100">
            <a:solidFill>
              <a:schemeClr val="tx1"/>
            </a:solidFill>
            <a:round/>
            <a:headEnd type="none" w="sm" len="sm"/>
            <a:tailEnd type="triangle" w="med" len="med"/>
          </a:ln>
        </p:spPr>
        <p:txBody>
          <a:bodyPr wrap="none" anchor="ctr"/>
          <a:lstStyle/>
          <a:p>
            <a:endParaRPr lang="en-US"/>
          </a:p>
        </p:txBody>
      </p:sp>
      <p:sp>
        <p:nvSpPr>
          <p:cNvPr id="10277" name="Line 2084"/>
          <p:cNvSpPr>
            <a:spLocks noChangeShapeType="1"/>
          </p:cNvSpPr>
          <p:nvPr/>
        </p:nvSpPr>
        <p:spPr bwMode="auto">
          <a:xfrm flipH="1">
            <a:off x="3962400" y="5257800"/>
            <a:ext cx="3352800" cy="0"/>
          </a:xfrm>
          <a:prstGeom prst="line">
            <a:avLst/>
          </a:prstGeom>
          <a:noFill/>
          <a:ln w="38100">
            <a:solidFill>
              <a:schemeClr val="tx1"/>
            </a:solidFill>
            <a:round/>
            <a:headEnd/>
            <a:tailEnd type="triangle" w="med" len="med"/>
          </a:ln>
        </p:spPr>
        <p:txBody>
          <a:bodyPr wrap="none" anchor="ctr"/>
          <a:lstStyle/>
          <a:p>
            <a:endParaRPr lang="en-US"/>
          </a:p>
        </p:txBody>
      </p:sp>
      <p:sp>
        <p:nvSpPr>
          <p:cNvPr id="10278" name="Line 2085"/>
          <p:cNvSpPr>
            <a:spLocks noChangeShapeType="1"/>
          </p:cNvSpPr>
          <p:nvPr/>
        </p:nvSpPr>
        <p:spPr bwMode="auto">
          <a:xfrm flipV="1">
            <a:off x="3962400" y="4343400"/>
            <a:ext cx="0" cy="914400"/>
          </a:xfrm>
          <a:prstGeom prst="line">
            <a:avLst/>
          </a:prstGeom>
          <a:noFill/>
          <a:ln w="38100">
            <a:solidFill>
              <a:schemeClr val="tx1"/>
            </a:solidFill>
            <a:round/>
            <a:headEnd type="none" w="sm" len="sm"/>
            <a:tailEnd type="triangle" w="med" len="med"/>
          </a:ln>
        </p:spPr>
        <p:txBody>
          <a:bodyPr wrap="none" anchor="ctr"/>
          <a:lstStyle/>
          <a:p>
            <a:endParaRPr lang="en-US"/>
          </a:p>
        </p:txBody>
      </p:sp>
      <p:sp>
        <p:nvSpPr>
          <p:cNvPr id="10279" name="Line 2086"/>
          <p:cNvSpPr>
            <a:spLocks noChangeShapeType="1"/>
          </p:cNvSpPr>
          <p:nvPr/>
        </p:nvSpPr>
        <p:spPr bwMode="auto">
          <a:xfrm>
            <a:off x="7315200" y="5257800"/>
            <a:ext cx="0" cy="838200"/>
          </a:xfrm>
          <a:prstGeom prst="line">
            <a:avLst/>
          </a:prstGeom>
          <a:noFill/>
          <a:ln w="38100">
            <a:solidFill>
              <a:schemeClr val="tx1"/>
            </a:solidFill>
            <a:prstDash val="sysDot"/>
            <a:round/>
            <a:headEnd type="none" w="sm" len="sm"/>
            <a:tailEnd type="triangle" w="med" len="med"/>
          </a:ln>
        </p:spPr>
        <p:txBody>
          <a:bodyPr wrap="none" anchor="ctr"/>
          <a:lstStyle/>
          <a:p>
            <a:endParaRPr lang="en-US"/>
          </a:p>
        </p:txBody>
      </p:sp>
      <p:sp>
        <p:nvSpPr>
          <p:cNvPr id="10280" name="Line 2087"/>
          <p:cNvSpPr>
            <a:spLocks noChangeShapeType="1"/>
          </p:cNvSpPr>
          <p:nvPr/>
        </p:nvSpPr>
        <p:spPr bwMode="auto">
          <a:xfrm flipH="1">
            <a:off x="2286000" y="6096000"/>
            <a:ext cx="5029200" cy="0"/>
          </a:xfrm>
          <a:prstGeom prst="line">
            <a:avLst/>
          </a:prstGeom>
          <a:noFill/>
          <a:ln w="38100">
            <a:solidFill>
              <a:schemeClr val="tx1"/>
            </a:solidFill>
            <a:prstDash val="sysDot"/>
            <a:round/>
            <a:headEnd type="none" w="sm" len="sm"/>
            <a:tailEnd type="triangle" w="med" len="med"/>
          </a:ln>
        </p:spPr>
        <p:txBody>
          <a:bodyPr wrap="none" anchor="ctr"/>
          <a:lstStyle/>
          <a:p>
            <a:endParaRPr lang="en-US"/>
          </a:p>
        </p:txBody>
      </p:sp>
      <p:sp>
        <p:nvSpPr>
          <p:cNvPr id="10281" name="Line 2088"/>
          <p:cNvSpPr>
            <a:spLocks noChangeShapeType="1"/>
          </p:cNvSpPr>
          <p:nvPr/>
        </p:nvSpPr>
        <p:spPr bwMode="auto">
          <a:xfrm flipH="1" flipV="1">
            <a:off x="1905000" y="5410200"/>
            <a:ext cx="381000" cy="685800"/>
          </a:xfrm>
          <a:prstGeom prst="line">
            <a:avLst/>
          </a:prstGeom>
          <a:noFill/>
          <a:ln w="38100">
            <a:solidFill>
              <a:schemeClr val="tx1"/>
            </a:solidFill>
            <a:prstDash val="sysDot"/>
            <a:round/>
            <a:headEnd type="none" w="sm" len="sm"/>
            <a:tailEnd type="triangle" w="med" len="med"/>
          </a:ln>
        </p:spPr>
        <p:txBody>
          <a:bodyPr wrap="none" anchor="ctr"/>
          <a:lstStyle/>
          <a:p>
            <a:endParaRPr lang="en-US"/>
          </a:p>
        </p:txBody>
      </p:sp>
      <p:sp>
        <p:nvSpPr>
          <p:cNvPr id="10282" name="Line 2089"/>
          <p:cNvSpPr>
            <a:spLocks noChangeShapeType="1"/>
          </p:cNvSpPr>
          <p:nvPr/>
        </p:nvSpPr>
        <p:spPr bwMode="auto">
          <a:xfrm>
            <a:off x="2057400" y="5410200"/>
            <a:ext cx="1600200" cy="0"/>
          </a:xfrm>
          <a:prstGeom prst="line">
            <a:avLst/>
          </a:prstGeom>
          <a:noFill/>
          <a:ln w="28575">
            <a:solidFill>
              <a:schemeClr val="tx1"/>
            </a:solidFill>
            <a:prstDash val="dash"/>
            <a:miter lim="800000"/>
            <a:headEnd/>
            <a:tailEnd/>
          </a:ln>
        </p:spPr>
        <p:txBody>
          <a:bodyPr wrap="none"/>
          <a:lstStyle/>
          <a:p>
            <a:endParaRPr lang="en-US"/>
          </a:p>
        </p:txBody>
      </p:sp>
      <p:sp>
        <p:nvSpPr>
          <p:cNvPr id="10283" name="Line 2090"/>
          <p:cNvSpPr>
            <a:spLocks noChangeShapeType="1"/>
          </p:cNvSpPr>
          <p:nvPr/>
        </p:nvSpPr>
        <p:spPr bwMode="auto">
          <a:xfrm flipV="1">
            <a:off x="3657600" y="4191000"/>
            <a:ext cx="0" cy="1219200"/>
          </a:xfrm>
          <a:prstGeom prst="line">
            <a:avLst/>
          </a:prstGeom>
          <a:noFill/>
          <a:ln w="28575">
            <a:solidFill>
              <a:schemeClr val="tx1"/>
            </a:solidFill>
            <a:prstDash val="dash"/>
            <a:miter lim="800000"/>
            <a:headEnd/>
            <a:tailEnd type="triangle" w="med" len="med"/>
          </a:ln>
        </p:spPr>
        <p:txBody>
          <a:bodyPr wrap="none"/>
          <a:lstStyle/>
          <a:p>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Autofit/>
          </a:bodyPr>
          <a:lstStyle/>
          <a:p>
            <a:r>
              <a:rPr lang="en-US" sz="4000"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t>KDD Process</a:t>
            </a:r>
            <a:br>
              <a:rPr lang="en-US" sz="4000" b="1" dirty="0" smtClean="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rPr>
            </a:br>
            <a:endParaRPr lang="en-US" sz="4000" b="1" dirty="0">
              <a:ln w="9000" cmpd="sng">
                <a:solidFill>
                  <a:schemeClr val="accent4">
                    <a:shade val="50000"/>
                    <a:satMod val="120000"/>
                  </a:schemeClr>
                </a:solidFill>
                <a:prstDash val="solid"/>
              </a:ln>
              <a:solidFill>
                <a:srgbClr val="7030A0"/>
              </a:solidFill>
              <a:effectLst>
                <a:reflection blurRad="12700" stA="28000" endPos="45000" dist="1000" dir="5400000" sy="-100000" algn="bl" rotWithShape="0"/>
              </a:effectLst>
            </a:endParaRPr>
          </a:p>
        </p:txBody>
      </p:sp>
      <p:sp>
        <p:nvSpPr>
          <p:cNvPr id="3" name="Content Placeholder 2"/>
          <p:cNvSpPr>
            <a:spLocks noGrp="1"/>
          </p:cNvSpPr>
          <p:nvPr>
            <p:ph idx="1"/>
          </p:nvPr>
        </p:nvSpPr>
        <p:spPr>
          <a:xfrm>
            <a:off x="0" y="685800"/>
            <a:ext cx="9144000" cy="5440363"/>
          </a:xfrm>
        </p:spPr>
        <p:txBody>
          <a:bodyPr>
            <a:normAutofit fontScale="85000" lnSpcReduction="20000"/>
          </a:bodyPr>
          <a:lstStyle/>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Learning the application domain: </a:t>
            </a:r>
            <a:r>
              <a:rPr lang="en-US" dirty="0" smtClean="0"/>
              <a:t>relevant prior knowledge and goals of application</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Creating a target data set</a:t>
            </a:r>
            <a:r>
              <a:rPr lang="en-US" dirty="0" smtClean="0"/>
              <a:t>: data selection</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Data cleaning and pre-processing (may take 60% of effort!)</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Data reduction and transformation: Find</a:t>
            </a:r>
            <a:r>
              <a:rPr lang="en-US" dirty="0" smtClean="0"/>
              <a:t> useful features, dimensionality/variable reduction, invariant ,representation.</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Choosing functions of data mining</a:t>
            </a:r>
            <a:r>
              <a:rPr lang="en-US" dirty="0" smtClean="0"/>
              <a:t>: summarization, classification, regression, association, clustering.</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Choosing the mining algorithms</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Data mining:</a:t>
            </a:r>
            <a:r>
              <a:rPr lang="en-US" dirty="0" smtClean="0"/>
              <a:t> search for patterns of interest</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Pattern evaluation and knowledge presentation:  </a:t>
            </a:r>
            <a:r>
              <a:rPr lang="en-US" dirty="0" smtClean="0"/>
              <a:t>visualization, transformation, removing redundant patterns, etc.</a:t>
            </a:r>
          </a:p>
          <a:p>
            <a:pPr marL="514350" indent="-514350" algn="just">
              <a:buFont typeface="+mj-lt"/>
              <a:buAutoNum type="arabicPeriod"/>
            </a:pPr>
            <a:r>
              <a:rPr lang="en-US" b="1" dirty="0" smtClean="0">
                <a:ln w="10541" cmpd="sng">
                  <a:solidFill>
                    <a:schemeClr val="accent1">
                      <a:shade val="88000"/>
                      <a:satMod val="110000"/>
                    </a:schemeClr>
                  </a:solidFill>
                  <a:prstDash val="solid"/>
                </a:ln>
                <a:solidFill>
                  <a:sysClr val="windowText" lastClr="000000"/>
                </a:solidFill>
              </a:rPr>
              <a:t>Use of discovered knowledge</a:t>
            </a:r>
            <a:endParaRPr lang="en-US" b="1" dirty="0">
              <a:ln w="10541" cmpd="sng">
                <a:solidFill>
                  <a:schemeClr val="accent1">
                    <a:shade val="88000"/>
                    <a:satMod val="110000"/>
                  </a:schemeClr>
                </a:solidFill>
                <a:prstDash val="solid"/>
              </a:ln>
              <a:solidFill>
                <a:sysClr val="windowText" lastClr="00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normAutofit fontScale="90000"/>
          </a:bodyPr>
          <a:lstStyle/>
          <a:p>
            <a:r>
              <a:rPr lang="en-US" b="1" dirty="0" smtClean="0">
                <a:solidFill>
                  <a:srgbClr val="0070C0"/>
                </a:solidFill>
              </a:rPr>
              <a:t/>
            </a:r>
            <a:br>
              <a:rPr lang="en-US" b="1" dirty="0" smtClean="0">
                <a:solidFill>
                  <a:srgbClr val="0070C0"/>
                </a:solidFill>
              </a:rPr>
            </a:br>
            <a:r>
              <a:rPr lang="en-US" b="1" dirty="0" smtClean="0">
                <a:solidFill>
                  <a:srgbClr val="0070C0"/>
                </a:solidFill>
              </a:rPr>
              <a:t/>
            </a:r>
            <a:br>
              <a:rPr lang="en-US" b="1" dirty="0" smtClean="0">
                <a:solidFill>
                  <a:srgbClr val="0070C0"/>
                </a:solidFill>
              </a:rPr>
            </a:br>
            <a:r>
              <a:rPr lang="en-US" b="1" dirty="0" smtClean="0">
                <a:solidFill>
                  <a:srgbClr val="0070C0"/>
                </a:solidFill>
              </a:rPr>
              <a:t>Types </a:t>
            </a:r>
            <a:r>
              <a:rPr lang="en-US" b="1" dirty="0" smtClean="0">
                <a:solidFill>
                  <a:srgbClr val="0070C0"/>
                </a:solidFill>
              </a:rPr>
              <a:t>Of Data That Can Be Mined</a:t>
            </a:r>
            <a:br>
              <a:rPr lang="en-US" b="1" dirty="0" smtClean="0">
                <a:solidFill>
                  <a:srgbClr val="0070C0"/>
                </a:solidFill>
              </a:rPr>
            </a:br>
            <a:r>
              <a:rPr lang="en-US" b="1" dirty="0" smtClean="0">
                <a:solidFill>
                  <a:srgbClr val="0070C0"/>
                </a:solidFill>
              </a:rPr>
              <a:t/>
            </a:r>
            <a:br>
              <a:rPr lang="en-US" b="1" dirty="0" smtClean="0">
                <a:solidFill>
                  <a:srgbClr val="0070C0"/>
                </a:solidFill>
              </a:rPr>
            </a:br>
            <a:endParaRPr lang="en-US" dirty="0"/>
          </a:p>
        </p:txBody>
      </p:sp>
      <p:sp>
        <p:nvSpPr>
          <p:cNvPr id="3" name="Content Placeholder 2"/>
          <p:cNvSpPr>
            <a:spLocks noGrp="1"/>
          </p:cNvSpPr>
          <p:nvPr>
            <p:ph idx="1"/>
          </p:nvPr>
        </p:nvSpPr>
        <p:spPr>
          <a:xfrm>
            <a:off x="228600" y="990600"/>
            <a:ext cx="8686800" cy="5486400"/>
          </a:xfrm>
        </p:spPr>
        <p:txBody>
          <a:bodyPr/>
          <a:lstStyle/>
          <a:p>
            <a:pPr>
              <a:lnSpc>
                <a:spcPct val="130000"/>
              </a:lnSpc>
            </a:pPr>
            <a:r>
              <a:rPr lang="en-US" sz="2000" b="1" dirty="0" smtClean="0">
                <a:solidFill>
                  <a:srgbClr val="FF0000"/>
                </a:solidFill>
              </a:rPr>
              <a:t>Database-oriented data sets and applications</a:t>
            </a:r>
          </a:p>
          <a:p>
            <a:pPr lvl="1">
              <a:lnSpc>
                <a:spcPct val="130000"/>
              </a:lnSpc>
            </a:pPr>
            <a:r>
              <a:rPr lang="en-US" sz="1800" dirty="0" smtClean="0"/>
              <a:t>Relational database, data warehouse, transactional database</a:t>
            </a:r>
          </a:p>
          <a:p>
            <a:pPr>
              <a:lnSpc>
                <a:spcPct val="130000"/>
              </a:lnSpc>
            </a:pPr>
            <a:r>
              <a:rPr lang="en-US" sz="2000" b="1" dirty="0" smtClean="0">
                <a:solidFill>
                  <a:srgbClr val="FF0000"/>
                </a:solidFill>
              </a:rPr>
              <a:t>Advanced data sets and advanced applications </a:t>
            </a:r>
          </a:p>
          <a:p>
            <a:pPr lvl="1">
              <a:lnSpc>
                <a:spcPct val="130000"/>
              </a:lnSpc>
            </a:pPr>
            <a:r>
              <a:rPr lang="en-US" sz="1800" dirty="0" smtClean="0"/>
              <a:t>Data streams and sensor data</a:t>
            </a:r>
          </a:p>
          <a:p>
            <a:pPr lvl="1">
              <a:lnSpc>
                <a:spcPct val="130000"/>
              </a:lnSpc>
            </a:pPr>
            <a:r>
              <a:rPr lang="en-US" sz="1800" dirty="0" smtClean="0"/>
              <a:t>Time-series data, temporal data, sequence data (incl. bio-sequences) </a:t>
            </a:r>
          </a:p>
          <a:p>
            <a:pPr lvl="1">
              <a:lnSpc>
                <a:spcPct val="130000"/>
              </a:lnSpc>
            </a:pPr>
            <a:r>
              <a:rPr lang="en-US" sz="1800" dirty="0" smtClean="0"/>
              <a:t>Structure data, graphs, social networks and multi-linked data</a:t>
            </a:r>
          </a:p>
          <a:p>
            <a:pPr lvl="1">
              <a:lnSpc>
                <a:spcPct val="130000"/>
              </a:lnSpc>
            </a:pPr>
            <a:r>
              <a:rPr lang="en-US" sz="1800" dirty="0" smtClean="0"/>
              <a:t>Object-relational databases</a:t>
            </a:r>
          </a:p>
          <a:p>
            <a:pPr lvl="1">
              <a:lnSpc>
                <a:spcPct val="130000"/>
              </a:lnSpc>
            </a:pPr>
            <a:r>
              <a:rPr lang="en-US" sz="1800" dirty="0" smtClean="0"/>
              <a:t>Heterogeneous databases and legacy databases</a:t>
            </a:r>
          </a:p>
          <a:p>
            <a:pPr lvl="1">
              <a:lnSpc>
                <a:spcPct val="130000"/>
              </a:lnSpc>
            </a:pPr>
            <a:r>
              <a:rPr lang="en-US" sz="1800" dirty="0" smtClean="0"/>
              <a:t>Spatial data and spatiotemporal data</a:t>
            </a:r>
          </a:p>
          <a:p>
            <a:pPr lvl="1">
              <a:lnSpc>
                <a:spcPct val="130000"/>
              </a:lnSpc>
            </a:pPr>
            <a:r>
              <a:rPr lang="en-US" sz="1800" dirty="0" smtClean="0"/>
              <a:t>Multimedia database</a:t>
            </a:r>
          </a:p>
          <a:p>
            <a:pPr lvl="1">
              <a:lnSpc>
                <a:spcPct val="130000"/>
              </a:lnSpc>
            </a:pPr>
            <a:r>
              <a:rPr lang="en-US" sz="1800" dirty="0" smtClean="0"/>
              <a:t>Text databases</a:t>
            </a:r>
          </a:p>
          <a:p>
            <a:pPr lvl="1">
              <a:lnSpc>
                <a:spcPct val="130000"/>
              </a:lnSpc>
            </a:pPr>
            <a:r>
              <a:rPr lang="en-US" sz="1800" dirty="0" smtClean="0"/>
              <a:t>The World-Wide Web</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Types Of Data That Can Be Mined</a:t>
            </a:r>
            <a:br>
              <a:rPr lang="en-US" b="1" dirty="0" smtClean="0">
                <a:solidFill>
                  <a:srgbClr val="0070C0"/>
                </a:solidFill>
              </a:rPr>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solidFill>
                  <a:srgbClr val="FF0000"/>
                </a:solidFill>
              </a:rPr>
              <a:t>Data Stream:-</a:t>
            </a:r>
            <a:r>
              <a:rPr lang="en-US" dirty="0" smtClean="0"/>
              <a:t>In </a:t>
            </a:r>
            <a:r>
              <a:rPr lang="en-US" dirty="0" smtClean="0"/>
              <a:t>telecommunications and computing, a </a:t>
            </a:r>
            <a:r>
              <a:rPr lang="en-US" b="1" dirty="0" smtClean="0"/>
              <a:t>data stream</a:t>
            </a:r>
            <a:r>
              <a:rPr lang="en-US" dirty="0" smtClean="0"/>
              <a:t> is a sequence of digitally encoded coherent signals (packets of data or data packets) used to transmit or receive information that is in the process of being </a:t>
            </a:r>
            <a:r>
              <a:rPr lang="en-US" dirty="0" smtClean="0"/>
              <a:t>transmitted.</a:t>
            </a:r>
          </a:p>
          <a:p>
            <a:pPr algn="just"/>
            <a:r>
              <a:rPr lang="en-US" dirty="0" smtClean="0">
                <a:solidFill>
                  <a:srgbClr val="FF0000"/>
                </a:solidFill>
              </a:rPr>
              <a:t>sensor data:- </a:t>
            </a:r>
            <a:r>
              <a:rPr lang="en-US" dirty="0" smtClean="0"/>
              <a:t>Sensor data is information captured at an instance in time that represents the condition, or state, of one or more databases. The data can be used for later analysis and policy evaluation.</a:t>
            </a:r>
            <a:endParaRPr lang="en-US"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692</Words>
  <Application>Microsoft Office PowerPoint</Application>
  <PresentationFormat>On-screen Show (4:3)</PresentationFormat>
  <Paragraphs>91</Paragraphs>
  <Slides>11</Slides>
  <Notes>2</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Introduction to Data Mining</vt:lpstr>
      <vt:lpstr>Topics To Be Covered </vt:lpstr>
      <vt:lpstr> Definition Of Data Mining </vt:lpstr>
      <vt:lpstr> Why Data Mining/Need of DM </vt:lpstr>
      <vt:lpstr>Evolution of Sciences: New Data Science Era</vt:lpstr>
      <vt:lpstr>Evolution of Sciences: New Data Science Era</vt:lpstr>
      <vt:lpstr>What Is Data Mining?</vt:lpstr>
      <vt:lpstr>Knowledge Discovery (KDD) Process</vt:lpstr>
      <vt:lpstr>KDD Process </vt:lpstr>
      <vt:lpstr>  Types Of Data That Can Be Mined  </vt:lpstr>
      <vt:lpstr>Types Of Data That Can Be Mined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dc:title>
  <dc:creator>M_Chaubey</dc:creator>
  <cp:lastModifiedBy>om sai</cp:lastModifiedBy>
  <cp:revision>13</cp:revision>
  <dcterms:created xsi:type="dcterms:W3CDTF">2006-08-16T00:00:00Z</dcterms:created>
  <dcterms:modified xsi:type="dcterms:W3CDTF">2013-01-30T04:30:28Z</dcterms:modified>
</cp:coreProperties>
</file>