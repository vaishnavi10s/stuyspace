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27"/>
  </p:handoutMasterIdLst>
  <p:sldIdLst>
    <p:sldId id="268" r:id="rId2"/>
    <p:sldId id="256" r:id="rId3"/>
    <p:sldId id="263" r:id="rId4"/>
    <p:sldId id="257" r:id="rId5"/>
    <p:sldId id="258" r:id="rId6"/>
    <p:sldId id="259" r:id="rId7"/>
    <p:sldId id="260" r:id="rId8"/>
    <p:sldId id="261" r:id="rId9"/>
    <p:sldId id="264" r:id="rId10"/>
    <p:sldId id="262" r:id="rId11"/>
    <p:sldId id="265" r:id="rId12"/>
    <p:sldId id="266" r:id="rId13"/>
    <p:sldId id="267" r:id="rId14"/>
    <p:sldId id="269" r:id="rId15"/>
    <p:sldId id="270" r:id="rId16"/>
    <p:sldId id="271" r:id="rId17"/>
    <p:sldId id="272" r:id="rId18"/>
    <p:sldId id="274" r:id="rId19"/>
    <p:sldId id="275" r:id="rId20"/>
    <p:sldId id="276" r:id="rId21"/>
    <p:sldId id="277" r:id="rId22"/>
    <p:sldId id="279" r:id="rId23"/>
    <p:sldId id="280" r:id="rId24"/>
    <p:sldId id="273" r:id="rId25"/>
    <p:sldId id="278"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0" d="100"/>
          <a:sy n="70" d="100"/>
        </p:scale>
        <p:origin x="-138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0B7B21-3C33-4B2F-8320-5AB13AE82C93}" type="datetimeFigureOut">
              <a:rPr lang="en-US" smtClean="0"/>
              <a:t>12/23/2025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AAE5457-268B-4AF2-BDC2-C7B7441D3BE8}" type="slidenum">
              <a:rPr lang="en-US" smtClean="0"/>
              <a:t>‹#›</a:t>
            </a:fld>
            <a:endParaRPr lang="en-US"/>
          </a:p>
        </p:txBody>
      </p:sp>
    </p:spTree>
    <p:extLst>
      <p:ext uri="{BB962C8B-B14F-4D97-AF65-F5344CB8AC3E}">
        <p14:creationId xmlns:p14="http://schemas.microsoft.com/office/powerpoint/2010/main" val="214929761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python/python-programming-language-tutoria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eksforgeeks.org/machine-learning/machine-learni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kdnuggets.com/2016/10/association-rule-learning-concise-technical-overview.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oogle.com/search?q=Association+Rules&amp;rlz=1C1CHBF_enIN1068IN1068&amp;oq=associacion+rule+mining+frequent+pattern&amp;aqs=chrome..69i57j0i22i30j0i390i512i650l2j0i512i546j0i751j0i512i546l3.31406j0j15&amp;sourceid=chrome&amp;ie=UTF-8&amp;mstk=AUtExfCtdAw12EK-Sh_QlHCkVxCxlbi5a0F-UgQZM6q7ztdEVR6tlFKe6yUKR0vsS0EupF1zJ-c4kb4V_p93TWpeX0JOdGqTwyznTGwUU1SE6DWKtTqHLzraG97-DYmQGo83B5W__SRRD46I9SlWp4ayz_4tSr6p_ja0Zu2Po6AQO0KWmUM&amp;csui=3&amp;ved=2ahUKEwjPx8HirNORAxVvzjgGHTYPG-QQgK4QegQIAxAC"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oogle.com/search?q=Confidence&amp;rlz=1C1CHBF_enIN1068IN1068&amp;oq=associacion+rule+mining+frequent+pattern&amp;aqs=chrome..69i57j0i22i30j0i390i512i650l2j0i512i546j0i751j0i512i546l3.31406j0j15&amp;sourceid=chrome&amp;ie=UTF-8&amp;mstk=AUtExfCtdAw12EK-Sh_QlHCkVxCxlbi5a0F-UgQZM6q7ztdEVR6tlFKe6yUKR0vsS0EupF1zJ-c4kb4V_p93TWpeX0JOdGqTwyznTGwUU1SE6DWKtTqHLzraG97-DYmQGo83B5W__SRRD46I9SlWp4ayz_4tSr6p_ja0Zu2Po6AQO0KWmUM&amp;csui=3&amp;ved=2ahUKEwjPx8HirNORAxVvzjgGHTYPG-QQgK4QegQIBRAD" TargetMode="External"/><Relationship Id="rId2" Type="http://schemas.openxmlformats.org/officeDocument/2006/relationships/hyperlink" Target="https://www.google.com/search?q=Support&amp;rlz=1C1CHBF_enIN1068IN1068&amp;oq=associacion+rule+mining+frequent+pattern&amp;aqs=chrome..69i57j0i22i30j0i390i512i650l2j0i512i546j0i751j0i512i546l3.31406j0j15&amp;sourceid=chrome&amp;ie=UTF-8&amp;mstk=AUtExfCtdAw12EK-Sh_QlHCkVxCxlbi5a0F-UgQZM6q7ztdEVR6tlFKe6yUKR0vsS0EupF1zJ-c4kb4V_p93TWpeX0JOdGqTwyznTGwUU1SE6DWKtTqHLzraG97-DYmQGo83B5W__SRRD46I9SlWp4ayz_4tSr6p_ja0Zu2Po6AQO0KWmUM&amp;csui=3&amp;ved=2ahUKEwjPx8HirNORAxVvzjgGHTYPG-QQgK4QegQIBRAB"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07577" y="2415653"/>
            <a:ext cx="7458501" cy="2456597"/>
          </a:xfrm>
        </p:spPr>
        <p:txBody>
          <a:bodyPr/>
          <a:lstStyle/>
          <a:p>
            <a:pPr marL="0" indent="0">
              <a:buNone/>
            </a:pPr>
            <a:r>
              <a:rPr lang="en-US" dirty="0" smtClean="0"/>
              <a:t>                Introduction to Data science</a:t>
            </a:r>
          </a:p>
          <a:p>
            <a:pPr marL="0" indent="0">
              <a:buNone/>
            </a:pPr>
            <a:r>
              <a:rPr lang="en-US" dirty="0"/>
              <a:t> </a:t>
            </a:r>
            <a:r>
              <a:rPr lang="en-US" dirty="0" smtClean="0"/>
              <a:t>                  BCA – VI M+AN(Elective)</a:t>
            </a:r>
          </a:p>
          <a:p>
            <a:pPr marL="0" indent="0">
              <a:buNone/>
            </a:pPr>
            <a:r>
              <a:rPr lang="en-US" dirty="0"/>
              <a:t> </a:t>
            </a:r>
            <a:r>
              <a:rPr lang="en-US" dirty="0" smtClean="0"/>
              <a:t>             Course Leader  - Ms. </a:t>
            </a:r>
            <a:r>
              <a:rPr lang="en-US" dirty="0" err="1" smtClean="0"/>
              <a:t>Rajni</a:t>
            </a:r>
            <a:r>
              <a:rPr lang="en-US" dirty="0" smtClean="0"/>
              <a:t> </a:t>
            </a:r>
            <a:r>
              <a:rPr lang="en-US" dirty="0" err="1" smtClean="0"/>
              <a:t>Dubey</a:t>
            </a:r>
            <a:endParaRPr lang="en-US" dirty="0"/>
          </a:p>
        </p:txBody>
      </p:sp>
    </p:spTree>
    <p:extLst>
      <p:ext uri="{BB962C8B-B14F-4D97-AF65-F5344CB8AC3E}">
        <p14:creationId xmlns:p14="http://schemas.microsoft.com/office/powerpoint/2010/main" val="10645842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itchFamily="18" charset="0"/>
                <a:cs typeface="Times New Roman" pitchFamily="18" charset="0"/>
              </a:rPr>
              <a:t>Introduction to Data Science</a:t>
            </a:r>
          </a:p>
        </p:txBody>
      </p:sp>
      <p:sp>
        <p:nvSpPr>
          <p:cNvPr id="3" name="Content Placeholder 2"/>
          <p:cNvSpPr>
            <a:spLocks noGrp="1"/>
          </p:cNvSpPr>
          <p:nvPr>
            <p:ph idx="1"/>
          </p:nvPr>
        </p:nvSpPr>
        <p:spPr/>
        <p:txBody>
          <a:bodyPr>
            <a:normAutofit fontScale="92500" lnSpcReduction="10000"/>
          </a:bodyPr>
          <a:lstStyle/>
          <a:p>
            <a:pPr algn="just"/>
            <a:r>
              <a:rPr sz="2800" dirty="0">
                <a:latin typeface="Times New Roman" pitchFamily="18" charset="0"/>
                <a:cs typeface="Times New Roman" pitchFamily="18" charset="0"/>
              </a:rPr>
              <a:t>Data Science deals with extracting useful information from data.</a:t>
            </a:r>
          </a:p>
          <a:p>
            <a:pPr algn="just"/>
            <a:r>
              <a:rPr sz="2800" dirty="0">
                <a:latin typeface="Times New Roman" pitchFamily="18" charset="0"/>
                <a:cs typeface="Times New Roman" pitchFamily="18" charset="0"/>
              </a:rPr>
              <a:t>It</a:t>
            </a:r>
            <a:r>
              <a:rPr sz="2800" dirty="0" smtClean="0">
                <a:latin typeface="Times New Roman" pitchFamily="18" charset="0"/>
                <a:cs typeface="Times New Roman" pitchFamily="18" charset="0"/>
              </a:rPr>
              <a:t> </a:t>
            </a:r>
            <a:r>
              <a:rPr sz="2800" dirty="0">
                <a:latin typeface="Times New Roman" pitchFamily="18" charset="0"/>
                <a:cs typeface="Times New Roman" pitchFamily="18" charset="0"/>
              </a:rPr>
              <a:t>helps in analysis, prediction, and decision making</a:t>
            </a:r>
            <a:r>
              <a:rPr sz="2800" dirty="0" smtClean="0">
                <a:latin typeface="Times New Roman" pitchFamily="18" charset="0"/>
                <a:cs typeface="Times New Roman" pitchFamily="18" charset="0"/>
              </a:rPr>
              <a:t>.</a:t>
            </a:r>
            <a:endParaRPr lang="en-US" sz="2800" dirty="0" smtClean="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Example</a:t>
            </a:r>
            <a:r>
              <a:rPr lang="en-US" sz="2800" dirty="0">
                <a:latin typeface="Times New Roman" pitchFamily="18" charset="0"/>
                <a:cs typeface="Times New Roman" pitchFamily="18" charset="0"/>
              </a:rPr>
              <a:t>: Analyzing student marks to improve academic </a:t>
            </a:r>
            <a:r>
              <a:rPr lang="en-US" sz="2800" dirty="0" smtClean="0">
                <a:latin typeface="Times New Roman" pitchFamily="18" charset="0"/>
                <a:cs typeface="Times New Roman" pitchFamily="18" charset="0"/>
              </a:rPr>
              <a:t>performance</a:t>
            </a:r>
          </a:p>
          <a:p>
            <a:pPr marL="0" indent="0" fontAlgn="base">
              <a:buNone/>
            </a:pPr>
            <a:r>
              <a:rPr lang="en-US" sz="2800" dirty="0" smtClean="0">
                <a:latin typeface="Times New Roman" pitchFamily="18" charset="0"/>
                <a:cs typeface="Times New Roman" pitchFamily="18" charset="0"/>
              </a:rPr>
              <a:t>data </a:t>
            </a:r>
            <a:r>
              <a:rPr lang="en-US" sz="2800" dirty="0">
                <a:latin typeface="Times New Roman" pitchFamily="18" charset="0"/>
                <a:cs typeface="Times New Roman" pitchFamily="18" charset="0"/>
              </a:rPr>
              <a:t>science can help answer following question:</a:t>
            </a:r>
          </a:p>
          <a:p>
            <a:pPr fontAlgn="base"/>
            <a:r>
              <a:rPr lang="en-US" sz="2800" dirty="0">
                <a:latin typeface="Times New Roman" pitchFamily="18" charset="0"/>
                <a:cs typeface="Times New Roman" pitchFamily="18" charset="0"/>
              </a:rPr>
              <a:t>What do customer want?</a:t>
            </a:r>
          </a:p>
          <a:p>
            <a:pPr fontAlgn="base"/>
            <a:r>
              <a:rPr lang="en-US" sz="2800" dirty="0">
                <a:latin typeface="Times New Roman" pitchFamily="18" charset="0"/>
                <a:cs typeface="Times New Roman" pitchFamily="18" charset="0"/>
              </a:rPr>
              <a:t>How can we improve our services?</a:t>
            </a:r>
          </a:p>
          <a:p>
            <a:pPr fontAlgn="base"/>
            <a:r>
              <a:rPr lang="en-US" sz="2800" dirty="0">
                <a:latin typeface="Times New Roman" pitchFamily="18" charset="0"/>
                <a:cs typeface="Times New Roman" pitchFamily="18" charset="0"/>
              </a:rPr>
              <a:t>What will the upcoming trend in sales?</a:t>
            </a:r>
          </a:p>
          <a:p>
            <a:pPr fontAlgn="base"/>
            <a:r>
              <a:rPr lang="en-US" sz="2800" dirty="0">
                <a:latin typeface="Times New Roman" pitchFamily="18" charset="0"/>
                <a:cs typeface="Times New Roman" pitchFamily="18" charset="0"/>
              </a:rPr>
              <a:t>How much stock they need for upcoming festival.</a:t>
            </a:r>
          </a:p>
          <a:p>
            <a:pPr algn="just"/>
            <a:endParaRPr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a:t>Data Science Skills</a:t>
            </a:r>
          </a:p>
        </p:txBody>
      </p:sp>
      <p:sp>
        <p:nvSpPr>
          <p:cNvPr id="3" name="Content Placeholder 2"/>
          <p:cNvSpPr>
            <a:spLocks noGrp="1"/>
          </p:cNvSpPr>
          <p:nvPr>
            <p:ph idx="1"/>
          </p:nvPr>
        </p:nvSpPr>
        <p:spPr/>
        <p:txBody>
          <a:bodyPr>
            <a:normAutofit fontScale="70000" lnSpcReduction="20000"/>
          </a:bodyPr>
          <a:lstStyle/>
          <a:p>
            <a:pPr marL="0" indent="0" fontAlgn="base">
              <a:buNone/>
            </a:pPr>
            <a:r>
              <a:rPr lang="en-US" dirty="0"/>
              <a:t>All these data science actions are performed by a Data </a:t>
            </a:r>
            <a:r>
              <a:rPr lang="en-US" dirty="0" smtClean="0"/>
              <a:t>Scientists.</a:t>
            </a:r>
            <a:endParaRPr lang="en-US" dirty="0"/>
          </a:p>
          <a:p>
            <a:pPr fontAlgn="base"/>
            <a:r>
              <a:rPr lang="en-US" b="1" dirty="0">
                <a:latin typeface="Times New Roman" pitchFamily="18" charset="0"/>
                <a:cs typeface="Times New Roman" pitchFamily="18" charset="0"/>
              </a:rPr>
              <a:t>Programming Languages:</a:t>
            </a:r>
            <a:r>
              <a:rPr lang="en-US" dirty="0">
                <a:latin typeface="Times New Roman" pitchFamily="18" charset="0"/>
                <a:cs typeface="Times New Roman" pitchFamily="18" charset="0"/>
              </a:rPr>
              <a:t> Python, R, SQL.</a:t>
            </a:r>
          </a:p>
          <a:p>
            <a:pPr fontAlgn="base"/>
            <a:r>
              <a:rPr lang="en-US" b="1" dirty="0">
                <a:latin typeface="Times New Roman" pitchFamily="18" charset="0"/>
                <a:cs typeface="Times New Roman" pitchFamily="18" charset="0"/>
              </a:rPr>
              <a:t>Mathematics:</a:t>
            </a:r>
            <a:r>
              <a:rPr lang="en-US" dirty="0">
                <a:latin typeface="Times New Roman" pitchFamily="18" charset="0"/>
                <a:cs typeface="Times New Roman" pitchFamily="18" charset="0"/>
              </a:rPr>
              <a:t> Linear Algebra, Statistics, Probability.</a:t>
            </a:r>
          </a:p>
          <a:p>
            <a:pPr fontAlgn="base"/>
            <a:r>
              <a:rPr lang="en-US" b="1" dirty="0">
                <a:latin typeface="Times New Roman" pitchFamily="18" charset="0"/>
                <a:cs typeface="Times New Roman" pitchFamily="18" charset="0"/>
              </a:rPr>
              <a:t>Machine Learning:</a:t>
            </a:r>
            <a:r>
              <a:rPr lang="en-US" dirty="0">
                <a:latin typeface="Times New Roman" pitchFamily="18" charset="0"/>
                <a:cs typeface="Times New Roman" pitchFamily="18" charset="0"/>
              </a:rPr>
              <a:t> Supervised and unsupervised learning, deep learning basics.</a:t>
            </a:r>
          </a:p>
          <a:p>
            <a:pPr fontAlgn="base"/>
            <a:r>
              <a:rPr lang="en-US" b="1" dirty="0">
                <a:latin typeface="Times New Roman" pitchFamily="18" charset="0"/>
                <a:cs typeface="Times New Roman" pitchFamily="18" charset="0"/>
              </a:rPr>
              <a:t>Data Manipulation:</a:t>
            </a:r>
            <a:r>
              <a:rPr lang="en-US" dirty="0">
                <a:latin typeface="Times New Roman" pitchFamily="18" charset="0"/>
                <a:cs typeface="Times New Roman" pitchFamily="18" charset="0"/>
              </a:rPr>
              <a:t> Pandas, </a:t>
            </a:r>
            <a:r>
              <a:rPr lang="en-US" dirty="0" err="1">
                <a:latin typeface="Times New Roman" pitchFamily="18" charset="0"/>
                <a:cs typeface="Times New Roman" pitchFamily="18" charset="0"/>
              </a:rPr>
              <a:t>NumPy</a:t>
            </a:r>
            <a:r>
              <a:rPr lang="en-US" dirty="0">
                <a:latin typeface="Times New Roman" pitchFamily="18" charset="0"/>
                <a:cs typeface="Times New Roman" pitchFamily="18" charset="0"/>
              </a:rPr>
              <a:t>, data wrangling techniques.</a:t>
            </a:r>
          </a:p>
          <a:p>
            <a:pPr fontAlgn="base"/>
            <a:r>
              <a:rPr lang="en-US" b="1" dirty="0">
                <a:latin typeface="Times New Roman" pitchFamily="18" charset="0"/>
                <a:cs typeface="Times New Roman" pitchFamily="18" charset="0"/>
              </a:rPr>
              <a:t>Data Visualization: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Matplotlib</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Tableau</a:t>
            </a:r>
            <a:r>
              <a:rPr lang="en-US" dirty="0">
                <a:latin typeface="Times New Roman" pitchFamily="18" charset="0"/>
                <a:cs typeface="Times New Roman" pitchFamily="18" charset="0"/>
              </a:rPr>
              <a:t>, Power BI.</a:t>
            </a:r>
          </a:p>
          <a:p>
            <a:pPr fontAlgn="base"/>
            <a:r>
              <a:rPr lang="en-US" b="1" dirty="0">
                <a:latin typeface="Times New Roman" pitchFamily="18" charset="0"/>
                <a:cs typeface="Times New Roman" pitchFamily="18" charset="0"/>
              </a:rPr>
              <a:t>Big Data Tools: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Hadoop</a:t>
            </a:r>
            <a:r>
              <a:rPr lang="en-US" dirty="0">
                <a:latin typeface="Times New Roman" pitchFamily="18" charset="0"/>
                <a:cs typeface="Times New Roman" pitchFamily="18" charset="0"/>
              </a:rPr>
              <a:t>, Spark, Hive.</a:t>
            </a:r>
          </a:p>
          <a:p>
            <a:pPr fontAlgn="base"/>
            <a:r>
              <a:rPr lang="en-US" b="1" dirty="0">
                <a:latin typeface="Times New Roman" pitchFamily="18" charset="0"/>
                <a:cs typeface="Times New Roman" pitchFamily="18" charset="0"/>
              </a:rPr>
              <a:t>Databases:</a:t>
            </a:r>
            <a:r>
              <a:rPr lang="en-US" dirty="0">
                <a:latin typeface="Times New Roman" pitchFamily="18" charset="0"/>
                <a:cs typeface="Times New Roman" pitchFamily="18" charset="0"/>
              </a:rPr>
              <a:t> SQL, </a:t>
            </a:r>
            <a:r>
              <a:rPr lang="en-US" dirty="0" err="1">
                <a:latin typeface="Times New Roman" pitchFamily="18" charset="0"/>
                <a:cs typeface="Times New Roman" pitchFamily="18" charset="0"/>
              </a:rPr>
              <a:t>NoSQL</a:t>
            </a:r>
            <a:r>
              <a:rPr lang="en-US" dirty="0">
                <a:latin typeface="Times New Roman" pitchFamily="18" charset="0"/>
                <a:cs typeface="Times New Roman" pitchFamily="18" charset="0"/>
              </a:rPr>
              <a:t>, data querying and management.</a:t>
            </a:r>
          </a:p>
          <a:p>
            <a:pPr fontAlgn="base"/>
            <a:r>
              <a:rPr lang="en-US" b="1" dirty="0">
                <a:latin typeface="Times New Roman" pitchFamily="18" charset="0"/>
                <a:cs typeface="Times New Roman" pitchFamily="18" charset="0"/>
              </a:rPr>
              <a:t>Cloud Computing:</a:t>
            </a:r>
            <a:r>
              <a:rPr lang="en-US" dirty="0">
                <a:latin typeface="Times New Roman" pitchFamily="18" charset="0"/>
                <a:cs typeface="Times New Roman" pitchFamily="18" charset="0"/>
              </a:rPr>
              <a:t> AWS, Azure, Google Cloud.</a:t>
            </a:r>
          </a:p>
          <a:p>
            <a:pPr fontAlgn="base"/>
            <a:r>
              <a:rPr lang="en-US" b="1" dirty="0" smtClean="0">
                <a:latin typeface="Times New Roman" pitchFamily="18" charset="0"/>
                <a:cs typeface="Times New Roman" pitchFamily="18" charset="0"/>
              </a:rPr>
              <a:t>Domain </a:t>
            </a:r>
            <a:r>
              <a:rPr lang="en-US" b="1" dirty="0">
                <a:latin typeface="Times New Roman" pitchFamily="18" charset="0"/>
                <a:cs typeface="Times New Roman" pitchFamily="18" charset="0"/>
              </a:rPr>
              <a:t>Knowledge:</a:t>
            </a:r>
            <a:r>
              <a:rPr lang="en-US" dirty="0">
                <a:latin typeface="Times New Roman" pitchFamily="18" charset="0"/>
                <a:cs typeface="Times New Roman" pitchFamily="18" charset="0"/>
              </a:rPr>
              <a:t> Industry-specific expertise for problem-solving.</a:t>
            </a:r>
          </a:p>
          <a:p>
            <a:pPr fontAlgn="base"/>
            <a:r>
              <a:rPr lang="en-US" b="1" dirty="0">
                <a:latin typeface="Times New Roman" pitchFamily="18" charset="0"/>
                <a:cs typeface="Times New Roman" pitchFamily="18" charset="0"/>
              </a:rPr>
              <a:t>Soft Skills:</a:t>
            </a:r>
            <a:r>
              <a:rPr lang="en-US" dirty="0">
                <a:latin typeface="Times New Roman" pitchFamily="18" charset="0"/>
                <a:cs typeface="Times New Roman" pitchFamily="18" charset="0"/>
              </a:rPr>
              <a:t> Communication, teamwork, and critical thinking.</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8476871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itchFamily="18" charset="0"/>
                <a:cs typeface="Times New Roman" pitchFamily="18" charset="0"/>
              </a:rPr>
              <a:t>Objectives of Data Science</a:t>
            </a:r>
          </a:p>
        </p:txBody>
      </p:sp>
      <p:sp>
        <p:nvSpPr>
          <p:cNvPr id="3" name="Content Placeholder 2"/>
          <p:cNvSpPr>
            <a:spLocks noGrp="1"/>
          </p:cNvSpPr>
          <p:nvPr>
            <p:ph idx="1"/>
          </p:nvPr>
        </p:nvSpPr>
        <p:spPr/>
        <p:txBody>
          <a:bodyPr>
            <a:normAutofit/>
          </a:bodyPr>
          <a:lstStyle/>
          <a:p>
            <a:r>
              <a:rPr dirty="0" smtClean="0">
                <a:latin typeface="Times New Roman" pitchFamily="18" charset="0"/>
                <a:cs typeface="Times New Roman" pitchFamily="18" charset="0"/>
              </a:rPr>
              <a:t>Understand</a:t>
            </a:r>
            <a:r>
              <a:rPr lang="en-US" dirty="0" smtClean="0">
                <a:latin typeface="Times New Roman" pitchFamily="18" charset="0"/>
                <a:cs typeface="Times New Roman" pitchFamily="18" charset="0"/>
              </a:rPr>
              <a:t> the</a:t>
            </a:r>
            <a:r>
              <a:rPr dirty="0" smtClean="0">
                <a:latin typeface="Times New Roman" pitchFamily="18" charset="0"/>
                <a:cs typeface="Times New Roman" pitchFamily="18" charset="0"/>
              </a:rPr>
              <a:t> </a:t>
            </a:r>
            <a:r>
              <a:rPr dirty="0">
                <a:latin typeface="Times New Roman" pitchFamily="18" charset="0"/>
                <a:cs typeface="Times New Roman" pitchFamily="18" charset="0"/>
              </a:rPr>
              <a:t>basic concepts of Data Science</a:t>
            </a:r>
          </a:p>
          <a:p>
            <a:r>
              <a:rPr lang="en-US" dirty="0">
                <a:latin typeface="Times New Roman" pitchFamily="18" charset="0"/>
                <a:cs typeface="Times New Roman" pitchFamily="18" charset="0"/>
              </a:rPr>
              <a:t>To learn how data is collected, cleaned, and analyzed. </a:t>
            </a:r>
            <a:endParaRPr lang="en-US" dirty="0" smtClean="0">
              <a:latin typeface="Times New Roman" pitchFamily="18" charset="0"/>
              <a:cs typeface="Times New Roman" pitchFamily="18" charset="0"/>
            </a:endParaRPr>
          </a:p>
          <a:p>
            <a:r>
              <a:rPr dirty="0" smtClean="0">
                <a:latin typeface="Times New Roman" pitchFamily="18" charset="0"/>
                <a:cs typeface="Times New Roman" pitchFamily="18" charset="0"/>
              </a:rPr>
              <a:t>Understand</a:t>
            </a:r>
            <a:r>
              <a:rPr lang="en-US" dirty="0" smtClean="0">
                <a:latin typeface="Times New Roman" pitchFamily="18" charset="0"/>
                <a:cs typeface="Times New Roman" pitchFamily="18" charset="0"/>
              </a:rPr>
              <a:t> the</a:t>
            </a:r>
            <a:r>
              <a:rPr dirty="0" smtClean="0">
                <a:latin typeface="Times New Roman" pitchFamily="18" charset="0"/>
                <a:cs typeface="Times New Roman" pitchFamily="18" charset="0"/>
              </a:rPr>
              <a:t> </a:t>
            </a:r>
            <a:r>
              <a:rPr dirty="0">
                <a:latin typeface="Times New Roman" pitchFamily="18" charset="0"/>
                <a:cs typeface="Times New Roman" pitchFamily="18" charset="0"/>
              </a:rPr>
              <a:t>data science life cycle</a:t>
            </a:r>
          </a:p>
          <a:p>
            <a:r>
              <a:rPr lang="en-US" dirty="0" smtClean="0">
                <a:latin typeface="Times New Roman" pitchFamily="18" charset="0"/>
                <a:cs typeface="Times New Roman" pitchFamily="18" charset="0"/>
              </a:rPr>
              <a:t>To </a:t>
            </a:r>
            <a:r>
              <a:rPr dirty="0" smtClean="0">
                <a:latin typeface="Times New Roman" pitchFamily="18" charset="0"/>
                <a:cs typeface="Times New Roman" pitchFamily="18" charset="0"/>
              </a:rPr>
              <a:t>Build </a:t>
            </a:r>
            <a:r>
              <a:rPr dirty="0">
                <a:latin typeface="Times New Roman" pitchFamily="18" charset="0"/>
                <a:cs typeface="Times New Roman" pitchFamily="18" charset="0"/>
              </a:rPr>
              <a:t>foundation for AI and ML</a:t>
            </a:r>
          </a:p>
          <a:p>
            <a:r>
              <a:rPr lang="en-US" dirty="0">
                <a:solidFill>
                  <a:prstClr val="black"/>
                </a:solidFill>
                <a:latin typeface="Times New Roman" pitchFamily="18" charset="0"/>
                <a:cs typeface="Times New Roman" pitchFamily="18" charset="0"/>
              </a:rPr>
              <a:t>To improve analytical and decision-making skills. </a:t>
            </a:r>
            <a:endParaRPr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Why We Study Data Science</a:t>
            </a:r>
          </a:p>
        </p:txBody>
      </p:sp>
      <p:sp>
        <p:nvSpPr>
          <p:cNvPr id="3" name="Content Placeholder 2"/>
          <p:cNvSpPr>
            <a:spLocks noGrp="1"/>
          </p:cNvSpPr>
          <p:nvPr>
            <p:ph idx="1"/>
          </p:nvPr>
        </p:nvSpPr>
        <p:spPr/>
        <p:txBody>
          <a:bodyPr>
            <a:normAutofit/>
          </a:bodyPr>
          <a:lstStyle/>
          <a:p>
            <a:r>
              <a:rPr dirty="0">
                <a:latin typeface="Times New Roman" pitchFamily="18" charset="0"/>
                <a:cs typeface="Times New Roman" pitchFamily="18" charset="0"/>
              </a:rPr>
              <a:t>Data is generated everywhere</a:t>
            </a:r>
          </a:p>
          <a:p>
            <a:r>
              <a:rPr dirty="0">
                <a:latin typeface="Times New Roman" pitchFamily="18" charset="0"/>
                <a:cs typeface="Times New Roman" pitchFamily="18" charset="0"/>
              </a:rPr>
              <a:t>Convert raw data into information</a:t>
            </a:r>
          </a:p>
          <a:p>
            <a:r>
              <a:rPr dirty="0">
                <a:latin typeface="Times New Roman" pitchFamily="18" charset="0"/>
                <a:cs typeface="Times New Roman" pitchFamily="18" charset="0"/>
              </a:rPr>
              <a:t>Improve analytical skills</a:t>
            </a:r>
          </a:p>
          <a:p>
            <a:r>
              <a:rPr dirty="0">
                <a:latin typeface="Times New Roman" pitchFamily="18" charset="0"/>
                <a:cs typeface="Times New Roman" pitchFamily="18" charset="0"/>
              </a:rPr>
              <a:t>Used by companies for planning</a:t>
            </a:r>
          </a:p>
          <a:p>
            <a:r>
              <a:rPr dirty="0">
                <a:latin typeface="Times New Roman" pitchFamily="18" charset="0"/>
                <a:cs typeface="Times New Roman" pitchFamily="18" charset="0"/>
              </a:rPr>
              <a:t>Career-oriented subject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Importance of Data Science</a:t>
            </a:r>
          </a:p>
        </p:txBody>
      </p:sp>
      <p:sp>
        <p:nvSpPr>
          <p:cNvPr id="3" name="Content Placeholder 2"/>
          <p:cNvSpPr>
            <a:spLocks noGrp="1"/>
          </p:cNvSpPr>
          <p:nvPr>
            <p:ph idx="1"/>
          </p:nvPr>
        </p:nvSpPr>
        <p:spPr/>
        <p:txBody>
          <a:bodyPr/>
          <a:lstStyle/>
          <a:p>
            <a:r>
              <a:rPr dirty="0">
                <a:latin typeface="Times New Roman" pitchFamily="18" charset="0"/>
                <a:cs typeface="Times New Roman" pitchFamily="18" charset="0"/>
              </a:rPr>
              <a:t>Helps in data-driven decisions</a:t>
            </a:r>
          </a:p>
          <a:p>
            <a:r>
              <a:rPr dirty="0">
                <a:latin typeface="Times New Roman" pitchFamily="18" charset="0"/>
                <a:cs typeface="Times New Roman" pitchFamily="18" charset="0"/>
              </a:rPr>
              <a:t>Saves time and cost</a:t>
            </a:r>
          </a:p>
          <a:p>
            <a:r>
              <a:rPr dirty="0">
                <a:latin typeface="Times New Roman" pitchFamily="18" charset="0"/>
                <a:cs typeface="Times New Roman" pitchFamily="18" charset="0"/>
              </a:rPr>
              <a:t>Improves efficiency</a:t>
            </a:r>
          </a:p>
          <a:p>
            <a:r>
              <a:rPr dirty="0">
                <a:latin typeface="Times New Roman" pitchFamily="18" charset="0"/>
                <a:cs typeface="Times New Roman" pitchFamily="18" charset="0"/>
              </a:rPr>
              <a:t>Supports research and innovation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itchFamily="18" charset="0"/>
                <a:cs typeface="Times New Roman" pitchFamily="18" charset="0"/>
              </a:rPr>
              <a:t>Future Scope of Data Science</a:t>
            </a:r>
          </a:p>
        </p:txBody>
      </p:sp>
      <p:sp>
        <p:nvSpPr>
          <p:cNvPr id="3" name="Content Placeholder 2"/>
          <p:cNvSpPr>
            <a:spLocks noGrp="1"/>
          </p:cNvSpPr>
          <p:nvPr>
            <p:ph idx="1"/>
          </p:nvPr>
        </p:nvSpPr>
        <p:spPr/>
        <p:txBody>
          <a:bodyPr/>
          <a:lstStyle/>
          <a:p>
            <a:r>
              <a:rPr dirty="0">
                <a:latin typeface="Times New Roman" pitchFamily="18" charset="0"/>
                <a:cs typeface="Times New Roman" pitchFamily="18" charset="0"/>
              </a:rPr>
              <a:t>High demand career</a:t>
            </a:r>
          </a:p>
          <a:p>
            <a:r>
              <a:rPr dirty="0">
                <a:latin typeface="Times New Roman" pitchFamily="18" charset="0"/>
                <a:cs typeface="Times New Roman" pitchFamily="18" charset="0"/>
              </a:rPr>
              <a:t>Used in all industries</a:t>
            </a:r>
          </a:p>
          <a:p>
            <a:r>
              <a:rPr dirty="0">
                <a:latin typeface="Times New Roman" pitchFamily="18" charset="0"/>
                <a:cs typeface="Times New Roman" pitchFamily="18" charset="0"/>
              </a:rPr>
              <a:t>Growth in AI and ML</a:t>
            </a:r>
          </a:p>
          <a:p>
            <a:r>
              <a:rPr dirty="0">
                <a:latin typeface="Times New Roman" pitchFamily="18" charset="0"/>
                <a:cs typeface="Times New Roman" pitchFamily="18" charset="0"/>
              </a:rPr>
              <a:t>Global job opportunities</a:t>
            </a:r>
          </a:p>
          <a:p>
            <a:r>
              <a:rPr dirty="0">
                <a:latin typeface="Times New Roman" pitchFamily="18" charset="0"/>
                <a:cs typeface="Times New Roman" pitchFamily="18" charset="0"/>
              </a:rPr>
              <a:t>Long-term career growth</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4000" dirty="0">
                <a:latin typeface="Times New Roman" pitchFamily="18" charset="0"/>
                <a:cs typeface="Times New Roman" pitchFamily="18" charset="0"/>
              </a:rPr>
              <a:t>Career </a:t>
            </a:r>
            <a:r>
              <a:rPr sz="4000" dirty="0" smtClean="0">
                <a:latin typeface="Times New Roman" pitchFamily="18" charset="0"/>
                <a:cs typeface="Times New Roman" pitchFamily="18" charset="0"/>
              </a:rPr>
              <a:t>Opportunities</a:t>
            </a:r>
            <a:r>
              <a:rPr lang="en-US" sz="4000" dirty="0" smtClean="0">
                <a:latin typeface="Times New Roman" pitchFamily="18" charset="0"/>
                <a:cs typeface="Times New Roman" pitchFamily="18" charset="0"/>
              </a:rPr>
              <a:t> </a:t>
            </a:r>
            <a:r>
              <a:rPr lang="en-US" sz="4000" dirty="0"/>
              <a:t>in Data Science</a:t>
            </a:r>
            <a:r>
              <a:rPr lang="en-US" sz="4000" b="1" dirty="0"/>
              <a:t/>
            </a:r>
            <a:br>
              <a:rPr lang="en-US" sz="4000" b="1" dirty="0"/>
            </a:br>
            <a:endParaRPr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marL="0" indent="0" algn="just" fontAlgn="base">
              <a:buNone/>
            </a:pPr>
            <a:r>
              <a:rPr lang="en-US" dirty="0" smtClean="0">
                <a:latin typeface="Times New Roman" pitchFamily="18" charset="0"/>
                <a:cs typeface="Times New Roman" pitchFamily="18" charset="0"/>
              </a:rPr>
              <a:t>These </a:t>
            </a:r>
            <a:r>
              <a:rPr lang="en-US" dirty="0">
                <a:latin typeface="Times New Roman" pitchFamily="18" charset="0"/>
                <a:cs typeface="Times New Roman" pitchFamily="18" charset="0"/>
              </a:rPr>
              <a:t>are some major career options in data science field:</a:t>
            </a:r>
          </a:p>
          <a:p>
            <a:pPr algn="just" fontAlgn="base"/>
            <a:r>
              <a:rPr lang="en-US" b="1" dirty="0">
                <a:latin typeface="Times New Roman" pitchFamily="18" charset="0"/>
                <a:cs typeface="Times New Roman" pitchFamily="18" charset="0"/>
              </a:rPr>
              <a:t>Data Scientist:</a:t>
            </a:r>
            <a:r>
              <a:rPr lang="en-US" dirty="0">
                <a:latin typeface="Times New Roman" pitchFamily="18" charset="0"/>
                <a:cs typeface="Times New Roman" pitchFamily="18" charset="0"/>
              </a:rPr>
              <a:t> Analyze and interpret complex data to drive business decisions.</a:t>
            </a:r>
          </a:p>
          <a:p>
            <a:pPr algn="just" fontAlgn="base"/>
            <a:r>
              <a:rPr lang="en-US" b="1" dirty="0">
                <a:latin typeface="Times New Roman" pitchFamily="18" charset="0"/>
                <a:cs typeface="Times New Roman" pitchFamily="18" charset="0"/>
              </a:rPr>
              <a:t>Data Analyst:</a:t>
            </a:r>
            <a:r>
              <a:rPr lang="en-US" dirty="0">
                <a:latin typeface="Times New Roman" pitchFamily="18" charset="0"/>
                <a:cs typeface="Times New Roman" pitchFamily="18" charset="0"/>
              </a:rPr>
              <a:t> Focus on analyzing and visualizing data to identify patterns and insights.</a:t>
            </a:r>
          </a:p>
          <a:p>
            <a:pPr algn="just" fontAlgn="base"/>
            <a:r>
              <a:rPr lang="en-US" b="1" dirty="0">
                <a:latin typeface="Times New Roman" pitchFamily="18" charset="0"/>
                <a:cs typeface="Times New Roman" pitchFamily="18" charset="0"/>
              </a:rPr>
              <a:t>Machine Learning Engineer: </a:t>
            </a:r>
            <a:r>
              <a:rPr lang="en-US" dirty="0">
                <a:latin typeface="Times New Roman" pitchFamily="18" charset="0"/>
                <a:cs typeface="Times New Roman" pitchFamily="18" charset="0"/>
              </a:rPr>
              <a:t>Develop and deploy machine learning models for automation and predictions.</a:t>
            </a:r>
          </a:p>
          <a:p>
            <a:pPr algn="just" fontAlgn="base"/>
            <a:r>
              <a:rPr lang="en-US" b="1" dirty="0">
                <a:latin typeface="Times New Roman" pitchFamily="18" charset="0"/>
                <a:cs typeface="Times New Roman" pitchFamily="18" charset="0"/>
              </a:rPr>
              <a:t>Data Engineer:</a:t>
            </a:r>
            <a:r>
              <a:rPr lang="en-US" dirty="0">
                <a:latin typeface="Times New Roman" pitchFamily="18" charset="0"/>
                <a:cs typeface="Times New Roman" pitchFamily="18" charset="0"/>
              </a:rPr>
              <a:t> Build and maintain data pipelines, ensuring data is clean and accessible.</a:t>
            </a:r>
          </a:p>
          <a:p>
            <a:pPr algn="just" fontAlgn="base"/>
            <a:r>
              <a:rPr lang="en-US" b="1" dirty="0">
                <a:latin typeface="Times New Roman" pitchFamily="18" charset="0"/>
                <a:cs typeface="Times New Roman" pitchFamily="18" charset="0"/>
              </a:rPr>
              <a:t>Business Intelligence (BI) Analyst:</a:t>
            </a:r>
            <a:r>
              <a:rPr lang="en-US" dirty="0">
                <a:latin typeface="Times New Roman" pitchFamily="18" charset="0"/>
                <a:cs typeface="Times New Roman" pitchFamily="18" charset="0"/>
              </a:rPr>
              <a:t> Create dashboards and reports to support strategic decisions.</a:t>
            </a:r>
          </a:p>
          <a:p>
            <a:pPr algn="just" fontAlgn="base"/>
            <a:r>
              <a:rPr lang="en-US" b="1" dirty="0">
                <a:latin typeface="Times New Roman" pitchFamily="18" charset="0"/>
                <a:cs typeface="Times New Roman" pitchFamily="18" charset="0"/>
              </a:rPr>
              <a:t>AI Research Scientist:</a:t>
            </a:r>
            <a:r>
              <a:rPr lang="en-US" dirty="0">
                <a:latin typeface="Times New Roman" pitchFamily="18" charset="0"/>
                <a:cs typeface="Times New Roman" pitchFamily="18" charset="0"/>
              </a:rPr>
              <a:t> Conduct research to develop advanced AI algorithms and solutions.</a:t>
            </a:r>
          </a:p>
          <a:p>
            <a:pPr algn="just" fontAlgn="base"/>
            <a:r>
              <a:rPr lang="en-US" b="1" dirty="0">
                <a:latin typeface="Times New Roman" pitchFamily="18" charset="0"/>
                <a:cs typeface="Times New Roman" pitchFamily="18" charset="0"/>
              </a:rPr>
              <a:t>Big Data Specialist:</a:t>
            </a:r>
            <a:r>
              <a:rPr lang="en-US" dirty="0">
                <a:latin typeface="Times New Roman" pitchFamily="18" charset="0"/>
                <a:cs typeface="Times New Roman" pitchFamily="18" charset="0"/>
              </a:rPr>
              <a:t> Handle and analyze massive datasets using tools like </a:t>
            </a:r>
            <a:r>
              <a:rPr lang="en-US" dirty="0" err="1">
                <a:latin typeface="Times New Roman" pitchFamily="18" charset="0"/>
                <a:cs typeface="Times New Roman" pitchFamily="18" charset="0"/>
              </a:rPr>
              <a:t>Hadoop</a:t>
            </a:r>
            <a:r>
              <a:rPr lang="en-US" dirty="0">
                <a:latin typeface="Times New Roman" pitchFamily="18" charset="0"/>
                <a:cs typeface="Times New Roman" pitchFamily="18" charset="0"/>
              </a:rPr>
              <a:t> and Spark.</a:t>
            </a:r>
          </a:p>
          <a:p>
            <a:pPr algn="just" fontAlgn="base"/>
            <a:r>
              <a:rPr lang="en-US" b="1" dirty="0">
                <a:latin typeface="Times New Roman" pitchFamily="18" charset="0"/>
                <a:cs typeface="Times New Roman" pitchFamily="18" charset="0"/>
              </a:rPr>
              <a:t>Product Analyst: </a:t>
            </a:r>
            <a:r>
              <a:rPr lang="en-US" dirty="0">
                <a:latin typeface="Times New Roman" pitchFamily="18" charset="0"/>
                <a:cs typeface="Times New Roman" pitchFamily="18" charset="0"/>
              </a:rPr>
              <a:t>Evaluate product performance and customer behavior using data.</a:t>
            </a:r>
          </a:p>
          <a:p>
            <a:pPr algn="just" fontAlgn="base"/>
            <a:r>
              <a:rPr lang="en-US" b="1" dirty="0">
                <a:latin typeface="Times New Roman" pitchFamily="18" charset="0"/>
                <a:cs typeface="Times New Roman" pitchFamily="18" charset="0"/>
              </a:rPr>
              <a:t>Quantitative Analyst:</a:t>
            </a:r>
            <a:r>
              <a:rPr lang="en-US" dirty="0">
                <a:latin typeface="Times New Roman" pitchFamily="18" charset="0"/>
                <a:cs typeface="Times New Roman" pitchFamily="18" charset="0"/>
              </a:rPr>
              <a:t> Analyze financial data to assess risks and forecast trends.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itchFamily="18" charset="0"/>
                <a:cs typeface="Times New Roman" pitchFamily="18" charset="0"/>
              </a:rPr>
              <a:t>Where data science is being used?</a:t>
            </a:r>
            <a:br>
              <a:rPr lang="en-US" b="1"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10000"/>
          </a:bodyPr>
          <a:lstStyle/>
          <a:p>
            <a:pPr fontAlgn="base"/>
            <a:r>
              <a:rPr lang="en-US" dirty="0" smtClean="0">
                <a:latin typeface="Times New Roman" pitchFamily="18" charset="0"/>
                <a:cs typeface="Times New Roman" pitchFamily="18" charset="0"/>
              </a:rPr>
              <a:t>Data </a:t>
            </a:r>
            <a:r>
              <a:rPr lang="en-US" dirty="0">
                <a:latin typeface="Times New Roman" pitchFamily="18" charset="0"/>
                <a:cs typeface="Times New Roman" pitchFamily="18" charset="0"/>
              </a:rPr>
              <a:t>Science is being used in almost all major industry. Here are some examples:</a:t>
            </a:r>
          </a:p>
          <a:p>
            <a:pPr fontAlgn="base"/>
            <a:r>
              <a:rPr lang="en-US" dirty="0">
                <a:latin typeface="Times New Roman" pitchFamily="18" charset="0"/>
                <a:cs typeface="Times New Roman" pitchFamily="18" charset="0"/>
              </a:rPr>
              <a:t>Predicting customer preferences for personalized recommendations.</a:t>
            </a:r>
          </a:p>
          <a:p>
            <a:pPr fontAlgn="base"/>
            <a:r>
              <a:rPr lang="en-US" dirty="0">
                <a:latin typeface="Times New Roman" pitchFamily="18" charset="0"/>
                <a:cs typeface="Times New Roman" pitchFamily="18" charset="0"/>
              </a:rPr>
              <a:t>Detecting fraud in financial transactions.</a:t>
            </a:r>
          </a:p>
          <a:p>
            <a:pPr fontAlgn="base"/>
            <a:r>
              <a:rPr lang="en-US" dirty="0">
                <a:latin typeface="Times New Roman" pitchFamily="18" charset="0"/>
                <a:cs typeface="Times New Roman" pitchFamily="18" charset="0"/>
              </a:rPr>
              <a:t>Forecasting sales and market trends.</a:t>
            </a:r>
          </a:p>
          <a:p>
            <a:pPr fontAlgn="base"/>
            <a:r>
              <a:rPr lang="en-US" dirty="0">
                <a:latin typeface="Times New Roman" pitchFamily="18" charset="0"/>
                <a:cs typeface="Times New Roman" pitchFamily="18" charset="0"/>
              </a:rPr>
              <a:t>Enhancing healthcare with predictive diagnostics and personalized treatments.</a:t>
            </a:r>
          </a:p>
          <a:p>
            <a:pPr fontAlgn="base"/>
            <a:r>
              <a:rPr lang="en-US" dirty="0">
                <a:latin typeface="Times New Roman" pitchFamily="18" charset="0"/>
                <a:cs typeface="Times New Roman" pitchFamily="18" charset="0"/>
              </a:rPr>
              <a:t>Identifying risks and opportunities in investments.</a:t>
            </a:r>
          </a:p>
          <a:p>
            <a:pPr fontAlgn="base"/>
            <a:r>
              <a:rPr lang="en-US" dirty="0">
                <a:latin typeface="Times New Roman" pitchFamily="18" charset="0"/>
                <a:cs typeface="Times New Roman" pitchFamily="18" charset="0"/>
              </a:rPr>
              <a:t>Optimizing supply chains and inventory management.</a:t>
            </a:r>
          </a:p>
          <a:p>
            <a:endParaRPr lang="en-US" dirty="0"/>
          </a:p>
        </p:txBody>
      </p:sp>
    </p:spTree>
    <p:extLst>
      <p:ext uri="{BB962C8B-B14F-4D97-AF65-F5344CB8AC3E}">
        <p14:creationId xmlns:p14="http://schemas.microsoft.com/office/powerpoint/2010/main" val="3550842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sz="4000" b="1" dirty="0"/>
              <a:t>Data Science Life Cycle</a:t>
            </a:r>
          </a:p>
        </p:txBody>
      </p:sp>
      <p:sp>
        <p:nvSpPr>
          <p:cNvPr id="3" name="Content Placeholder 2"/>
          <p:cNvSpPr>
            <a:spLocks noGrp="1"/>
          </p:cNvSpPr>
          <p:nvPr>
            <p:ph idx="1"/>
          </p:nvPr>
        </p:nvSpPr>
        <p:spPr/>
        <p:txBody>
          <a:bodyPr/>
          <a:lstStyle/>
          <a:p>
            <a:r>
              <a:rPr lang="en-US" sz="2400" dirty="0">
                <a:latin typeface="Times New Roman" pitchFamily="18" charset="0"/>
                <a:cs typeface="Times New Roman" pitchFamily="18" charset="0"/>
              </a:rPr>
              <a:t>Data science is not a one-step </a:t>
            </a:r>
            <a:r>
              <a:rPr lang="en-US" sz="2400" dirty="0" smtClean="0">
                <a:latin typeface="Times New Roman" pitchFamily="18" charset="0"/>
                <a:cs typeface="Times New Roman" pitchFamily="18" charset="0"/>
              </a:rPr>
              <a:t>process, </a:t>
            </a:r>
            <a:r>
              <a:rPr lang="en-US" sz="2400" dirty="0">
                <a:latin typeface="Times New Roman" pitchFamily="18" charset="0"/>
                <a:cs typeface="Times New Roman" pitchFamily="18" charset="0"/>
              </a:rPr>
              <a:t>It's passes from many stages and every element is important. One should always follow the proper steps to reach the ladder. Every step has its value and it counts in your model</a:t>
            </a:r>
            <a:r>
              <a:rPr lang="en-US" dirty="0"/>
              <a:t>.</a:t>
            </a:r>
            <a:endParaRPr lang="en-US"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149" y="3301340"/>
            <a:ext cx="6626431" cy="3216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lgn="just">
              <a:buNone/>
            </a:pPr>
            <a:r>
              <a:rPr lang="en-US" sz="2400" b="1" dirty="0"/>
              <a:t>1. Problem </a:t>
            </a:r>
            <a:r>
              <a:rPr lang="en-US" sz="2400" b="1" dirty="0" smtClean="0"/>
              <a:t>Statement: </a:t>
            </a:r>
            <a:r>
              <a:rPr lang="en-US" sz="2400" dirty="0" smtClean="0"/>
              <a:t>It's </a:t>
            </a:r>
            <a:r>
              <a:rPr lang="en-US" sz="2400" dirty="0"/>
              <a:t>really important to declare or formulate your problem statement very clearly and precisely. Your whole model and it's working depend on your statement. </a:t>
            </a:r>
            <a:r>
              <a:rPr lang="en-US" sz="2400" dirty="0" smtClean="0"/>
              <a:t>So </a:t>
            </a:r>
            <a:r>
              <a:rPr lang="en-US" sz="2400" dirty="0"/>
              <a:t>make sure what's your problem statement and how well can it add value to business or any other organization.</a:t>
            </a:r>
            <a:endParaRPr lang="en-US" sz="2400" b="1" dirty="0"/>
          </a:p>
          <a:p>
            <a:pPr marL="0" indent="0" algn="just">
              <a:buNone/>
            </a:pPr>
            <a:r>
              <a:rPr lang="en-US" sz="2400" b="1" dirty="0"/>
              <a:t>2. Data Collection</a:t>
            </a:r>
            <a:r>
              <a:rPr lang="en-US" sz="2400" b="1" dirty="0" smtClean="0"/>
              <a:t>: </a:t>
            </a:r>
            <a:r>
              <a:rPr lang="en-US" sz="2400" dirty="0"/>
              <a:t>After defining the problem statement</a:t>
            </a:r>
            <a:r>
              <a:rPr lang="en-US" sz="2400" dirty="0" smtClean="0"/>
              <a:t>, </a:t>
            </a:r>
            <a:r>
              <a:rPr lang="en-US" sz="2400" dirty="0"/>
              <a:t>find all that you need. Data can be in any form </a:t>
            </a:r>
            <a:r>
              <a:rPr lang="en-US" sz="2400" dirty="0" err="1"/>
              <a:t>i.e</a:t>
            </a:r>
            <a:r>
              <a:rPr lang="en-US" sz="2400" dirty="0"/>
              <a:t> unstructured or structured. It might be in various forms like videos, spreadsheets, coded forms, etc. You must collect all these kinds of sources.</a:t>
            </a:r>
            <a:endParaRPr lang="en-US" sz="2400" b="1" dirty="0"/>
          </a:p>
          <a:p>
            <a:pPr marL="0" indent="0" algn="just">
              <a:buNone/>
            </a:pPr>
            <a:r>
              <a:rPr lang="en-US" sz="2400" b="1" dirty="0"/>
              <a:t>3. Data Cleaning</a:t>
            </a:r>
            <a:r>
              <a:rPr lang="en-US" sz="2400" b="1" dirty="0" smtClean="0"/>
              <a:t>: </a:t>
            </a:r>
            <a:r>
              <a:rPr lang="en-US" sz="2400" dirty="0"/>
              <a:t>Data cleaning is all about the removal of missing, redundant, unnecessary and duplicate data from your collection. There are various tools to do so with the help of programming in either R or </a:t>
            </a:r>
            <a:r>
              <a:rPr lang="en-US" sz="2400" u="sng" dirty="0">
                <a:hlinkClick r:id="rId2"/>
              </a:rPr>
              <a:t>Python</a:t>
            </a:r>
            <a:r>
              <a:rPr lang="en-US" sz="2400" dirty="0"/>
              <a:t>.</a:t>
            </a:r>
            <a:endParaRPr lang="en-US" sz="2400" b="1" dirty="0"/>
          </a:p>
          <a:p>
            <a:pPr algn="just"/>
            <a:endParaRPr lang="en-US" dirty="0"/>
          </a:p>
        </p:txBody>
      </p:sp>
    </p:spTree>
    <p:extLst>
      <p:ext uri="{BB962C8B-B14F-4D97-AF65-F5344CB8AC3E}">
        <p14:creationId xmlns:p14="http://schemas.microsoft.com/office/powerpoint/2010/main" val="2993030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buNone/>
            </a:pPr>
            <a:r>
              <a:rPr lang="en-US" sz="2400" b="1" dirty="0" smtClean="0"/>
              <a:t>4. </a:t>
            </a:r>
            <a:r>
              <a:rPr lang="en-US" sz="2400" b="1" dirty="0" smtClean="0">
                <a:latin typeface="Times New Roman" pitchFamily="18" charset="0"/>
                <a:cs typeface="Times New Roman" pitchFamily="18" charset="0"/>
              </a:rPr>
              <a:t>Data </a:t>
            </a:r>
            <a:r>
              <a:rPr lang="en-US" sz="2400" b="1" dirty="0">
                <a:latin typeface="Times New Roman" pitchFamily="18" charset="0"/>
                <a:cs typeface="Times New Roman" pitchFamily="18" charset="0"/>
              </a:rPr>
              <a:t>Analysis and Exploration</a:t>
            </a:r>
            <a:r>
              <a:rPr lang="en-US" sz="2400" b="1"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It's about analyzing the structure of data, finding hidden patterns in them, studying behaviors, visualizing the effects of one variable over others and then concluding. </a:t>
            </a: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R, </a:t>
            </a:r>
            <a:r>
              <a:rPr lang="en-US" sz="2400" dirty="0" err="1">
                <a:latin typeface="Times New Roman" pitchFamily="18" charset="0"/>
                <a:cs typeface="Times New Roman" pitchFamily="18" charset="0"/>
              </a:rPr>
              <a:t>GGplot</a:t>
            </a:r>
            <a:r>
              <a:rPr lang="en-US" sz="2400" dirty="0">
                <a:latin typeface="Times New Roman" pitchFamily="18" charset="0"/>
                <a:cs typeface="Times New Roman" pitchFamily="18" charset="0"/>
              </a:rPr>
              <a:t> is one of the most famous models while </a:t>
            </a:r>
            <a:r>
              <a:rPr lang="en-US" sz="2400" dirty="0" err="1">
                <a:latin typeface="Times New Roman" pitchFamily="18" charset="0"/>
                <a:cs typeface="Times New Roman" pitchFamily="18" charset="0"/>
              </a:rPr>
              <a:t>Matplotlib</a:t>
            </a:r>
            <a:r>
              <a:rPr lang="en-US" sz="2400" dirty="0">
                <a:latin typeface="Times New Roman" pitchFamily="18" charset="0"/>
                <a:cs typeface="Times New Roman" pitchFamily="18" charset="0"/>
              </a:rPr>
              <a:t> in Python</a:t>
            </a:r>
            <a:r>
              <a:rPr lang="en-US" sz="2400" dirty="0" smtClean="0">
                <a:latin typeface="Times New Roman" pitchFamily="18" charset="0"/>
                <a:cs typeface="Times New Roman" pitchFamily="18" charset="0"/>
              </a:rPr>
              <a:t>.</a:t>
            </a:r>
          </a:p>
          <a:p>
            <a:pPr marL="0" indent="0" algn="just">
              <a:buNone/>
            </a:pPr>
            <a:r>
              <a:rPr lang="en-US" sz="2400" b="1" dirty="0">
                <a:latin typeface="Times New Roman" pitchFamily="18" charset="0"/>
                <a:cs typeface="Times New Roman" pitchFamily="18" charset="0"/>
              </a:rPr>
              <a:t>5. Data </a:t>
            </a:r>
            <a:r>
              <a:rPr lang="en-US" sz="2400" b="1" dirty="0" err="1">
                <a:latin typeface="Times New Roman" pitchFamily="18" charset="0"/>
                <a:cs typeface="Times New Roman" pitchFamily="18" charset="0"/>
              </a:rPr>
              <a:t>Modelling</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Here</a:t>
            </a:r>
            <a:r>
              <a:rPr lang="en-US" sz="2400" dirty="0">
                <a:latin typeface="Times New Roman" pitchFamily="18" charset="0"/>
                <a:cs typeface="Times New Roman" pitchFamily="18" charset="0"/>
              </a:rPr>
              <a:t>, you must choose a good algorithm that best fit to your model. There different kinds of algorithms from regression to classification, SVM( Support vector machines), Clustering, etc. Your model can be of a </a:t>
            </a:r>
            <a:r>
              <a:rPr lang="en-US" sz="2400" u="sng" dirty="0">
                <a:latin typeface="Times New Roman" pitchFamily="18" charset="0"/>
                <a:cs typeface="Times New Roman" pitchFamily="18" charset="0"/>
                <a:hlinkClick r:id="rId2"/>
              </a:rPr>
              <a:t>Machine Learning</a:t>
            </a:r>
            <a:r>
              <a:rPr lang="en-US" sz="2400" dirty="0">
                <a:latin typeface="Times New Roman" pitchFamily="18" charset="0"/>
                <a:cs typeface="Times New Roman" pitchFamily="18" charset="0"/>
              </a:rPr>
              <a:t> algorithm. You train your model with the train data and then test it with test data.</a:t>
            </a:r>
            <a:endParaRPr lang="en-US" sz="2400" b="1" dirty="0">
              <a:latin typeface="Times New Roman" pitchFamily="18" charset="0"/>
              <a:cs typeface="Times New Roman" pitchFamily="18" charset="0"/>
            </a:endParaRPr>
          </a:p>
          <a:p>
            <a:pPr marL="0" indent="0">
              <a:buNone/>
            </a:pPr>
            <a:endParaRPr lang="en-US" sz="2400" b="1" dirty="0"/>
          </a:p>
          <a:p>
            <a:endParaRPr lang="en-US" dirty="0"/>
          </a:p>
        </p:txBody>
      </p:sp>
    </p:spTree>
    <p:extLst>
      <p:ext uri="{BB962C8B-B14F-4D97-AF65-F5344CB8AC3E}">
        <p14:creationId xmlns:p14="http://schemas.microsoft.com/office/powerpoint/2010/main" val="3767186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400" b="1" dirty="0"/>
              <a:t>6. </a:t>
            </a:r>
            <a:r>
              <a:rPr lang="en-US" sz="2400" b="1" dirty="0">
                <a:latin typeface="Times New Roman" pitchFamily="18" charset="0"/>
                <a:cs typeface="Times New Roman" pitchFamily="18" charset="0"/>
              </a:rPr>
              <a:t>Optimization and Deployment</a:t>
            </a:r>
            <a:r>
              <a:rPr lang="en-US" sz="2400" b="1"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C</a:t>
            </a:r>
            <a:r>
              <a:rPr lang="en-US" sz="2400" dirty="0" smtClean="0">
                <a:latin typeface="Times New Roman" pitchFamily="18" charset="0"/>
                <a:cs typeface="Times New Roman" pitchFamily="18" charset="0"/>
              </a:rPr>
              <a:t>heck </a:t>
            </a:r>
            <a:r>
              <a:rPr lang="en-US" sz="2400" dirty="0">
                <a:latin typeface="Times New Roman" pitchFamily="18" charset="0"/>
                <a:cs typeface="Times New Roman" pitchFamily="18" charset="0"/>
              </a:rPr>
              <a:t>the efficiency of the data model and thus try to optimize it for better accurate prediction. Deployment deals with the launch of your model and let the people outside there to benefit from that. You can also obtain feedback from organizations and people to know their need and then to work more on your model.</a:t>
            </a:r>
            <a:endParaRPr lang="en-US" sz="2400" b="1"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896052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Association rule</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Association Rule Mining finds </a:t>
            </a:r>
            <a:r>
              <a:rPr lang="en-US" b="1" dirty="0"/>
              <a:t>frequent patterns</a:t>
            </a:r>
            <a:r>
              <a:rPr lang="en-US" dirty="0"/>
              <a:t> (</a:t>
            </a:r>
            <a:r>
              <a:rPr lang="en-US" dirty="0"/>
              <a:t>items/events occurring together</a:t>
            </a:r>
            <a:r>
              <a:rPr lang="en-US" dirty="0"/>
              <a:t>) in large datasets, revealing "if-then" relationships, like "if bread, then butter" in market baskets, using metrics like </a:t>
            </a:r>
            <a:r>
              <a:rPr lang="en-US" b="1" dirty="0"/>
              <a:t>Support</a:t>
            </a:r>
            <a:r>
              <a:rPr lang="en-US" dirty="0"/>
              <a:t> (how often items appear) and </a:t>
            </a:r>
            <a:r>
              <a:rPr lang="en-US" b="1" dirty="0"/>
              <a:t>Confidence</a:t>
            </a:r>
            <a:r>
              <a:rPr lang="en-US" dirty="0"/>
              <a:t> (rule strength) to generate actionable rules for cross-selling, recommendations, and insights</a:t>
            </a:r>
            <a:r>
              <a:rPr lang="en-US" dirty="0" smtClean="0"/>
              <a:t>.</a:t>
            </a:r>
          </a:p>
          <a:p>
            <a:pPr algn="just"/>
            <a:r>
              <a:rPr lang="en-US" dirty="0" smtClean="0"/>
              <a:t> </a:t>
            </a:r>
            <a:r>
              <a:rPr lang="en-US" dirty="0"/>
              <a:t>The process first finds </a:t>
            </a:r>
            <a:r>
              <a:rPr lang="en-US" b="1" dirty="0"/>
              <a:t>frequent </a:t>
            </a:r>
            <a:r>
              <a:rPr lang="en-US" b="1" dirty="0" err="1"/>
              <a:t>itemsets</a:t>
            </a:r>
            <a:r>
              <a:rPr lang="en-US" dirty="0"/>
              <a:t>, then builds </a:t>
            </a:r>
            <a:r>
              <a:rPr lang="en-US" b="1" dirty="0"/>
              <a:t>association rules</a:t>
            </a:r>
            <a:r>
              <a:rPr lang="en-US" dirty="0"/>
              <a:t> (X -&gt; Y) from them, essential for understanding customer behavior and data correlations. </a:t>
            </a:r>
            <a:endParaRPr lang="en-US" dirty="0"/>
          </a:p>
        </p:txBody>
      </p:sp>
    </p:spTree>
    <p:extLst>
      <p:ext uri="{BB962C8B-B14F-4D97-AF65-F5344CB8AC3E}">
        <p14:creationId xmlns:p14="http://schemas.microsoft.com/office/powerpoint/2010/main" val="2157864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7119" y="2071677"/>
            <a:ext cx="5770525" cy="325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497540" y="5431815"/>
            <a:ext cx="4067044" cy="369332"/>
          </a:xfrm>
          <a:prstGeom prst="rect">
            <a:avLst/>
          </a:prstGeom>
        </p:spPr>
        <p:txBody>
          <a:bodyPr wrap="square">
            <a:spAutoFit/>
          </a:bodyPr>
          <a:lstStyle/>
          <a:p>
            <a:r>
              <a:rPr lang="en-US" dirty="0">
                <a:latin typeface="Google Sans"/>
                <a:hlinkClick r:id="rId3"/>
              </a:rPr>
              <a:t>Frequent Pattern Mining</a:t>
            </a:r>
            <a:endParaRPr lang="en-US" b="0" i="0" u="none" strike="noStrike" dirty="0">
              <a:effectLst/>
              <a:latin typeface="Google Sans"/>
              <a:hlinkClick r:id="rId3"/>
            </a:endParaRPr>
          </a:p>
        </p:txBody>
      </p:sp>
    </p:spTree>
    <p:extLst>
      <p:ext uri="{BB962C8B-B14F-4D97-AF65-F5344CB8AC3E}">
        <p14:creationId xmlns:p14="http://schemas.microsoft.com/office/powerpoint/2010/main" val="1258620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Key Concepts</a:t>
            </a:r>
          </a:p>
          <a:p>
            <a:r>
              <a:rPr lang="en-US" b="1" dirty="0"/>
              <a:t>Frequent Patterns:</a:t>
            </a:r>
            <a:r>
              <a:rPr lang="en-US" dirty="0"/>
              <a:t> </a:t>
            </a:r>
            <a:r>
              <a:rPr lang="en-US" dirty="0" err="1"/>
              <a:t>Itemsets</a:t>
            </a:r>
            <a:r>
              <a:rPr lang="en-US" dirty="0"/>
              <a:t>, subsequences, or substructures that appear often in a dataset (e.g., milk &amp; bread).</a:t>
            </a:r>
          </a:p>
          <a:p>
            <a:r>
              <a:rPr lang="en-US" b="1" dirty="0">
                <a:hlinkClick r:id="rId2"/>
              </a:rPr>
              <a:t>Association Rules</a:t>
            </a:r>
            <a:r>
              <a:rPr lang="en-US" b="1" dirty="0"/>
              <a:t>:</a:t>
            </a:r>
            <a:r>
              <a:rPr lang="en-US" dirty="0"/>
              <a:t> "If-Then" statements (e.g., {Diapers} -&gt; {Beer}) showing item relationships, crucial for data mining.</a:t>
            </a:r>
          </a:p>
          <a:p>
            <a:r>
              <a:rPr lang="en-US" b="1" dirty="0"/>
              <a:t>Market Basket Analysis:</a:t>
            </a:r>
            <a:r>
              <a:rPr lang="en-US" dirty="0"/>
              <a:t> A classic application finding items bought together (e.g., in shopping carts). </a:t>
            </a:r>
          </a:p>
          <a:p>
            <a:endParaRPr lang="en-US" dirty="0"/>
          </a:p>
        </p:txBody>
      </p:sp>
    </p:spTree>
    <p:extLst>
      <p:ext uri="{BB962C8B-B14F-4D97-AF65-F5344CB8AC3E}">
        <p14:creationId xmlns:p14="http://schemas.microsoft.com/office/powerpoint/2010/main" val="384214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Core Metrics</a:t>
            </a:r>
          </a:p>
          <a:p>
            <a:r>
              <a:rPr lang="en-US" b="1" dirty="0">
                <a:hlinkClick r:id="rId2"/>
              </a:rPr>
              <a:t>Support</a:t>
            </a:r>
            <a:r>
              <a:rPr lang="en-US" b="1" dirty="0"/>
              <a:t>:</a:t>
            </a:r>
            <a:r>
              <a:rPr lang="en-US" dirty="0"/>
              <a:t> Measures how often an </a:t>
            </a:r>
            <a:r>
              <a:rPr lang="en-US" dirty="0" err="1"/>
              <a:t>itemset</a:t>
            </a:r>
            <a:r>
              <a:rPr lang="en-US" dirty="0"/>
              <a:t> appears in all transactions (Frequency).</a:t>
            </a:r>
          </a:p>
          <a:p>
            <a:r>
              <a:rPr lang="en-US" b="1" dirty="0">
                <a:hlinkClick r:id="rId3"/>
              </a:rPr>
              <a:t>Confidence</a:t>
            </a:r>
            <a:r>
              <a:rPr lang="en-US" b="1" dirty="0"/>
              <a:t>:</a:t>
            </a:r>
            <a:r>
              <a:rPr lang="en-US" dirty="0"/>
              <a:t> Measures the likelihood of the consequent (Y) appearing, given the antecedent (X) (Rule Strength). </a:t>
            </a:r>
          </a:p>
          <a:p>
            <a:endParaRPr lang="en-US" dirty="0"/>
          </a:p>
        </p:txBody>
      </p:sp>
    </p:spTree>
    <p:extLst>
      <p:ext uri="{BB962C8B-B14F-4D97-AF65-F5344CB8AC3E}">
        <p14:creationId xmlns:p14="http://schemas.microsoft.com/office/powerpoint/2010/main" val="15335226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95366"/>
            <a:ext cx="8229600" cy="3662172"/>
          </a:xfrm>
        </p:spPr>
      </p:pic>
    </p:spTree>
    <p:extLst>
      <p:ext uri="{BB962C8B-B14F-4D97-AF65-F5344CB8AC3E}">
        <p14:creationId xmlns:p14="http://schemas.microsoft.com/office/powerpoint/2010/main" val="1915137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9669" y="1600200"/>
            <a:ext cx="6104661" cy="4525963"/>
          </a:xfrm>
        </p:spPr>
      </p:pic>
    </p:spTree>
    <p:extLst>
      <p:ext uri="{BB962C8B-B14F-4D97-AF65-F5344CB8AC3E}">
        <p14:creationId xmlns:p14="http://schemas.microsoft.com/office/powerpoint/2010/main" val="1551896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3479" y="1600200"/>
            <a:ext cx="6217042" cy="4525963"/>
          </a:xfrm>
        </p:spPr>
      </p:pic>
    </p:spTree>
    <p:extLst>
      <p:ext uri="{BB962C8B-B14F-4D97-AF65-F5344CB8AC3E}">
        <p14:creationId xmlns:p14="http://schemas.microsoft.com/office/powerpoint/2010/main" val="1293796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9514" y="1600200"/>
            <a:ext cx="6024971" cy="4525963"/>
          </a:xfrm>
        </p:spPr>
      </p:pic>
    </p:spTree>
    <p:extLst>
      <p:ext uri="{BB962C8B-B14F-4D97-AF65-F5344CB8AC3E}">
        <p14:creationId xmlns:p14="http://schemas.microsoft.com/office/powerpoint/2010/main" val="741938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9105" y="1600200"/>
            <a:ext cx="7505789" cy="4525963"/>
          </a:xfrm>
        </p:spPr>
      </p:pic>
    </p:spTree>
    <p:extLst>
      <p:ext uri="{BB962C8B-B14F-4D97-AF65-F5344CB8AC3E}">
        <p14:creationId xmlns:p14="http://schemas.microsoft.com/office/powerpoint/2010/main" val="1934633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237835"/>
            <a:ext cx="8229600" cy="3250692"/>
          </a:xfrm>
        </p:spPr>
      </p:pic>
    </p:spTree>
    <p:extLst>
      <p:ext uri="{BB962C8B-B14F-4D97-AF65-F5344CB8AC3E}">
        <p14:creationId xmlns:p14="http://schemas.microsoft.com/office/powerpoint/2010/main" val="3775099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2197" y="1439339"/>
            <a:ext cx="6073254" cy="4138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92897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98409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674</Words>
  <Application>Microsoft Office PowerPoint</Application>
  <PresentationFormat>On-screen Show (4:3)</PresentationFormat>
  <Paragraphs>85</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Introduction to Data Science</vt:lpstr>
      <vt:lpstr>Data Science Skills</vt:lpstr>
      <vt:lpstr>Objectives of Data Science</vt:lpstr>
      <vt:lpstr>Why We Study Data Science</vt:lpstr>
      <vt:lpstr>Importance of Data Science</vt:lpstr>
      <vt:lpstr>Future Scope of Data Science</vt:lpstr>
      <vt:lpstr>Career Opportunities in Data Science </vt:lpstr>
      <vt:lpstr>Where data science is being used? </vt:lpstr>
      <vt:lpstr>Data Science Life Cycle</vt:lpstr>
      <vt:lpstr>PowerPoint Presentation</vt:lpstr>
      <vt:lpstr>PowerPoint Presentation</vt:lpstr>
      <vt:lpstr>PowerPoint Presentation</vt:lpstr>
      <vt:lpstr>Association rule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ANIL</dc:creator>
  <dc:description>generated using python-pptx</dc:description>
  <cp:lastModifiedBy>ANIL</cp:lastModifiedBy>
  <cp:revision>13</cp:revision>
  <dcterms:created xsi:type="dcterms:W3CDTF">2013-01-27T09:14:16Z</dcterms:created>
  <dcterms:modified xsi:type="dcterms:W3CDTF">2025-12-23T10:29:17Z</dcterms:modified>
</cp:coreProperties>
</file>