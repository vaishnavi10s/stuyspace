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506D1C-9091-4921-94A1-43651227BE0F}" type="datetimeFigureOut">
              <a:rPr lang="en-US" smtClean="0"/>
              <a:t>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A847B7-FF61-45DD-B8CC-DAA21EE90BAB}" type="slidenum">
              <a:rPr lang="en-US" smtClean="0"/>
              <a:t>‹#›</a:t>
            </a:fld>
            <a:endParaRPr lang="en-US"/>
          </a:p>
        </p:txBody>
      </p:sp>
    </p:spTree>
    <p:extLst>
      <p:ext uri="{BB962C8B-B14F-4D97-AF65-F5344CB8AC3E}">
        <p14:creationId xmlns:p14="http://schemas.microsoft.com/office/powerpoint/2010/main" val="3571446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DFB9F9-BDA2-444D-814D-2ACE776AA97C}" type="datetime1">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6C9239-B231-4D12-8FD3-9A982752E9A9}" type="datetime1">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739746-1AEA-4915-8866-70FC33EA696F}" type="datetime1">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63B89B-EFDB-4151-A540-A95233DDFA99}" type="datetime1">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A2F0B6-E96E-4CBC-9E4C-09C0C556781F}" type="datetime1">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826747F-B68C-4AB6-9D68-A9832B728ACC}" type="datetime1">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406A20-AD96-460B-B887-7189CE1B3226}" type="datetime1">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17B44C-26DA-4856-AE7C-60213818B98F}" type="datetime1">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B38F7D-1AA7-4D58-9E83-7903129998A9}" type="datetime1">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030818-EE1C-444D-A733-618A79DF972B}" type="datetime1">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5D100B-9FA5-497E-8AE1-8B40BEF135B9}" type="datetime1">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057C0B-6BF3-49E7-A156-785D640F5AB1}" type="datetime1">
              <a:rPr lang="en-US" smtClean="0"/>
              <a:t>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 II</a:t>
            </a:r>
            <a:endParaRPr lang="en-US" dirty="0"/>
          </a:p>
        </p:txBody>
      </p:sp>
      <p:sp>
        <p:nvSpPr>
          <p:cNvPr id="3" name="Subtitle 2"/>
          <p:cNvSpPr>
            <a:spLocks noGrp="1"/>
          </p:cNvSpPr>
          <p:nvPr>
            <p:ph type="subTitle" idx="1"/>
          </p:nvPr>
        </p:nvSpPr>
        <p:spPr/>
        <p:txBody>
          <a:bodyPr/>
          <a:lstStyle/>
          <a:p>
            <a:r>
              <a:rPr lang="en-US" dirty="0" smtClean="0"/>
              <a:t>Project Planning</a:t>
            </a:r>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8719901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Project </a:t>
            </a:r>
            <a:r>
              <a:rPr lang="en-US" dirty="0" smtClean="0">
                <a:latin typeface="Times New Roman" pitchFamily="18" charset="0"/>
                <a:cs typeface="Times New Roman" pitchFamily="18" charset="0"/>
              </a:rPr>
              <a:t>integration Management </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95593" y="4509370"/>
            <a:ext cx="4525963" cy="1910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88932" y="1609533"/>
            <a:ext cx="7997868" cy="3416320"/>
          </a:xfrm>
          <a:prstGeom prst="rect">
            <a:avLst/>
          </a:prstGeom>
        </p:spPr>
        <p:txBody>
          <a:bodyPr wrap="square">
            <a:spAutoFit/>
          </a:bodyPr>
          <a:lstStyle/>
          <a:p>
            <a:pPr algn="just"/>
            <a:r>
              <a:rPr lang="en-US" sz="2400" dirty="0">
                <a:latin typeface="Times New Roman" pitchFamily="18" charset="0"/>
                <a:cs typeface="Times New Roman" pitchFamily="18" charset="0"/>
              </a:rPr>
              <a:t>Project integration management helps coordinate all the various parts of a project, so members of different teams follow one overall plan.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keeps projects running smoothly and efficiently</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project manager is responsible for integration management.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ensure that project tasks and connected workflows are united.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Efficient </a:t>
            </a:r>
            <a:r>
              <a:rPr lang="en-US" sz="2400" dirty="0">
                <a:latin typeface="Times New Roman" pitchFamily="18" charset="0"/>
                <a:cs typeface="Times New Roman" pitchFamily="18" charset="0"/>
              </a:rPr>
              <a:t>project integration management is crucial for accurate project execution.</a:t>
            </a:r>
          </a:p>
        </p:txBody>
      </p:sp>
      <p:sp>
        <p:nvSpPr>
          <p:cNvPr id="6" name="Slide Number Placeholder 5"/>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1419837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Benefits </a:t>
            </a:r>
            <a:r>
              <a:rPr lang="en-US" b="1" dirty="0"/>
              <a:t>of project integration management.</a:t>
            </a:r>
            <a:br>
              <a:rPr lang="en-US" b="1" dirty="0"/>
            </a:br>
            <a:endParaRPr lang="en-US" dirty="0"/>
          </a:p>
        </p:txBody>
      </p:sp>
      <p:sp>
        <p:nvSpPr>
          <p:cNvPr id="3" name="Content Placeholder 2"/>
          <p:cNvSpPr>
            <a:spLocks noGrp="1"/>
          </p:cNvSpPr>
          <p:nvPr>
            <p:ph idx="1"/>
          </p:nvPr>
        </p:nvSpPr>
        <p:spPr/>
        <p:txBody>
          <a:bodyPr>
            <a:normAutofit/>
          </a:bodyPr>
          <a:lstStyle/>
          <a:p>
            <a:pPr marL="0" indent="0" algn="just">
              <a:buNone/>
            </a:pPr>
            <a:r>
              <a:rPr lang="en-US" sz="2000" dirty="0"/>
              <a:t>Achieving project integration of teams and processes can be challenging. However, there are several key benefits for the progression of your projects</a:t>
            </a:r>
            <a:r>
              <a:rPr lang="en-US" sz="2000" dirty="0" smtClean="0"/>
              <a:t>.</a:t>
            </a:r>
          </a:p>
          <a:p>
            <a:pPr algn="just"/>
            <a:r>
              <a:rPr lang="en-US" sz="2000" b="1" dirty="0"/>
              <a:t>Increased accountability from team members:</a:t>
            </a:r>
            <a:r>
              <a:rPr lang="en-US" sz="2000" dirty="0"/>
              <a:t> Aligning project goals means team members should be 100% sure of their responsibilities and know the importance of managing each responsibility. As team members take on more responsibility, communication becomes less cluttered and more focused</a:t>
            </a:r>
            <a:r>
              <a:rPr lang="en-US" sz="2000" dirty="0" smtClean="0"/>
              <a:t>.</a:t>
            </a:r>
          </a:p>
          <a:p>
            <a:pPr algn="just"/>
            <a:r>
              <a:rPr lang="en-US" sz="2000" b="1" dirty="0"/>
              <a:t>Increasing efficiency:</a:t>
            </a:r>
            <a:r>
              <a:rPr lang="en-US" sz="2000" dirty="0"/>
              <a:t> Integration management means reviewing all project teams and analyzing where efficiency can be improved</a:t>
            </a:r>
            <a:r>
              <a:rPr lang="en-US" sz="2000" dirty="0" smtClean="0"/>
              <a:t>.</a:t>
            </a:r>
          </a:p>
          <a:p>
            <a:pPr algn="just"/>
            <a:r>
              <a:rPr lang="en-US" sz="2000" b="1" dirty="0"/>
              <a:t>Clearly defined roles with no surprises:</a:t>
            </a:r>
            <a:r>
              <a:rPr lang="en-US" sz="2000" dirty="0"/>
              <a:t> Once a project manager fully fleshes out the strategy, there should be no initial margin for error. Each team will be aware of its main aims and objectives and, therefore, which team is responsible for delivering each part.</a:t>
            </a:r>
          </a:p>
          <a:p>
            <a:pPr algn="just"/>
            <a:endParaRPr lang="en-US" sz="2000" dirty="0"/>
          </a:p>
          <a:p>
            <a:pPr algn="just"/>
            <a:endParaRPr lang="en-US" sz="2000" dirty="0"/>
          </a:p>
        </p:txBody>
      </p:sp>
      <p:sp>
        <p:nvSpPr>
          <p:cNvPr id="4" name="Slide Number Placeholder 3"/>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1005766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The </a:t>
            </a:r>
            <a:r>
              <a:rPr lang="en-US" b="1" dirty="0"/>
              <a:t>project integration management process.</a:t>
            </a:r>
            <a:br>
              <a:rPr lang="en-US" b="1" dirty="0"/>
            </a:br>
            <a:endParaRPr lang="en-US" dirty="0"/>
          </a:p>
        </p:txBody>
      </p:sp>
      <p:sp>
        <p:nvSpPr>
          <p:cNvPr id="3" name="Content Placeholder 2"/>
          <p:cNvSpPr>
            <a:spLocks noGrp="1"/>
          </p:cNvSpPr>
          <p:nvPr>
            <p:ph idx="1"/>
          </p:nvPr>
        </p:nvSpPr>
        <p:spPr/>
        <p:txBody>
          <a:bodyPr>
            <a:normAutofit/>
          </a:bodyPr>
          <a:lstStyle/>
          <a:p>
            <a:pPr algn="just"/>
            <a:r>
              <a:rPr lang="en-US" sz="2000" dirty="0"/>
              <a:t>Understanding the systems, workflows, and methodologies all team members use is essential before implementing project integration management processes.</a:t>
            </a:r>
            <a:endParaRPr lang="en-US"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73" y="2560638"/>
            <a:ext cx="8980227" cy="446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3583202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Project: Online College Admission System</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1 </a:t>
            </a:r>
            <a:r>
              <a:rPr lang="en-US" b="1" dirty="0"/>
              <a:t>Develop Project Charter</a:t>
            </a:r>
          </a:p>
          <a:p>
            <a:r>
              <a:rPr lang="en-US" b="1" dirty="0" smtClean="0"/>
              <a:t> </a:t>
            </a:r>
            <a:r>
              <a:rPr lang="en-US" b="1" dirty="0"/>
              <a:t>What happens?</a:t>
            </a:r>
          </a:p>
          <a:p>
            <a:r>
              <a:rPr lang="en-US" dirty="0"/>
              <a:t>The project is formally approved.</a:t>
            </a:r>
          </a:p>
          <a:p>
            <a:pPr marL="0" indent="0">
              <a:buNone/>
            </a:pPr>
            <a:r>
              <a:rPr lang="en-US" b="1" dirty="0" smtClean="0"/>
              <a:t>Example</a:t>
            </a:r>
            <a:r>
              <a:rPr lang="en-US" b="1" dirty="0"/>
              <a:t>:</a:t>
            </a:r>
          </a:p>
          <a:p>
            <a:r>
              <a:rPr lang="en-US" dirty="0"/>
              <a:t>College management decides to develop an </a:t>
            </a:r>
            <a:r>
              <a:rPr lang="en-US" b="1" dirty="0"/>
              <a:t>Online Admission System</a:t>
            </a:r>
            <a:r>
              <a:rPr lang="en-US" dirty="0"/>
              <a:t>.</a:t>
            </a:r>
          </a:p>
          <a:p>
            <a:r>
              <a:rPr lang="en-US" dirty="0"/>
              <a:t>The </a:t>
            </a:r>
            <a:r>
              <a:rPr lang="en-US" b="1" dirty="0"/>
              <a:t>Project Charter</a:t>
            </a:r>
            <a:r>
              <a:rPr lang="en-US" dirty="0"/>
              <a:t> includes:</a:t>
            </a:r>
          </a:p>
          <a:p>
            <a:r>
              <a:rPr lang="en-US" dirty="0"/>
              <a:t>Objective: Online admission for students</a:t>
            </a:r>
          </a:p>
          <a:p>
            <a:r>
              <a:rPr lang="en-US" dirty="0"/>
              <a:t>Budget: </a:t>
            </a:r>
            <a:r>
              <a:rPr lang="en-US" dirty="0" smtClean="0"/>
              <a:t>8 </a:t>
            </a:r>
            <a:r>
              <a:rPr lang="en-US" dirty="0"/>
              <a:t>lakhs</a:t>
            </a:r>
          </a:p>
          <a:p>
            <a:r>
              <a:rPr lang="en-US" dirty="0"/>
              <a:t>Duration: 6 months</a:t>
            </a:r>
          </a:p>
          <a:p>
            <a:r>
              <a:rPr lang="en-US" dirty="0"/>
              <a:t>Project Manager: Assigned officially</a:t>
            </a:r>
          </a:p>
          <a:p>
            <a:r>
              <a:rPr lang="en-US" i="1" dirty="0" smtClean="0"/>
              <a:t>Without </a:t>
            </a:r>
            <a:r>
              <a:rPr lang="en-US" i="1" dirty="0"/>
              <a:t>this step, the project cannot officially start.</a:t>
            </a:r>
            <a:endParaRPr lang="en-US" dirty="0"/>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9803451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2 </a:t>
            </a:r>
            <a:r>
              <a:rPr lang="en-US" b="1" dirty="0"/>
              <a:t>Develop Project Management Plan</a:t>
            </a:r>
          </a:p>
          <a:p>
            <a:r>
              <a:rPr lang="en-US" b="1" dirty="0" smtClean="0"/>
              <a:t> </a:t>
            </a:r>
            <a:r>
              <a:rPr lang="en-US" b="1" dirty="0"/>
              <a:t>What happens?</a:t>
            </a:r>
          </a:p>
          <a:p>
            <a:r>
              <a:rPr lang="en-US" dirty="0"/>
              <a:t>All individual plans are combined into </a:t>
            </a:r>
            <a:r>
              <a:rPr lang="en-US" b="1" dirty="0"/>
              <a:t>one integrated plan</a:t>
            </a:r>
            <a:r>
              <a:rPr lang="en-US" dirty="0"/>
              <a:t>.</a:t>
            </a:r>
          </a:p>
          <a:p>
            <a:pPr marL="0" indent="0">
              <a:buNone/>
            </a:pPr>
            <a:r>
              <a:rPr lang="en-US" b="1" dirty="0" smtClean="0"/>
              <a:t>Example</a:t>
            </a:r>
            <a:r>
              <a:rPr lang="en-US" b="1" dirty="0"/>
              <a:t>:</a:t>
            </a:r>
          </a:p>
          <a:p>
            <a:r>
              <a:rPr lang="en-US" dirty="0"/>
              <a:t>The project manager prepares and integrates:</a:t>
            </a:r>
          </a:p>
          <a:p>
            <a:r>
              <a:rPr lang="en-US" dirty="0"/>
              <a:t>Scope plan (modules: registration, payment, merit list)</a:t>
            </a:r>
          </a:p>
          <a:p>
            <a:r>
              <a:rPr lang="en-US" dirty="0"/>
              <a:t>Schedule plan (timeline for each module)</a:t>
            </a:r>
          </a:p>
          <a:p>
            <a:r>
              <a:rPr lang="en-US" dirty="0"/>
              <a:t>Cost plan (development, testing, hosting)</a:t>
            </a:r>
          </a:p>
          <a:p>
            <a:r>
              <a:rPr lang="en-US" dirty="0"/>
              <a:t>Risk plan (server failure, security risk)</a:t>
            </a:r>
          </a:p>
          <a:p>
            <a:r>
              <a:rPr lang="en-US" dirty="0" smtClean="0"/>
              <a:t>➡All </a:t>
            </a:r>
            <a:r>
              <a:rPr lang="en-US" dirty="0"/>
              <a:t>these are merged into </a:t>
            </a:r>
            <a:r>
              <a:rPr lang="en-US" b="1" dirty="0"/>
              <a:t>one Project Management Plan</a:t>
            </a:r>
            <a:r>
              <a:rPr lang="en-US" dirty="0"/>
              <a:t>.</a:t>
            </a:r>
          </a:p>
          <a:p>
            <a:r>
              <a:rPr lang="en-US" i="1" dirty="0" smtClean="0"/>
              <a:t>This </a:t>
            </a:r>
            <a:r>
              <a:rPr lang="en-US" i="1" dirty="0"/>
              <a:t>is the core of integration management.</a:t>
            </a:r>
            <a:endParaRPr lang="en-US" dirty="0"/>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8225542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3</a:t>
            </a:r>
            <a:r>
              <a:rPr lang="en-US" b="1" dirty="0"/>
              <a:t> </a:t>
            </a:r>
            <a:r>
              <a:rPr lang="en-US" b="1" dirty="0" smtClean="0"/>
              <a:t>Direct </a:t>
            </a:r>
            <a:r>
              <a:rPr lang="en-US" b="1" dirty="0"/>
              <a:t>and Manage Project Work</a:t>
            </a:r>
          </a:p>
          <a:p>
            <a:r>
              <a:rPr lang="en-US" b="1" dirty="0" smtClean="0"/>
              <a:t> </a:t>
            </a:r>
            <a:r>
              <a:rPr lang="en-US" b="1" dirty="0"/>
              <a:t>What happens?</a:t>
            </a:r>
          </a:p>
          <a:p>
            <a:r>
              <a:rPr lang="en-US" dirty="0"/>
              <a:t>The plan is executed and work is performed.</a:t>
            </a:r>
          </a:p>
          <a:p>
            <a:r>
              <a:rPr lang="en-US" b="1" dirty="0" smtClean="0"/>
              <a:t> </a:t>
            </a:r>
            <a:r>
              <a:rPr lang="en-US" b="1" dirty="0"/>
              <a:t>Example:</a:t>
            </a:r>
          </a:p>
          <a:p>
            <a:r>
              <a:rPr lang="en-US" dirty="0"/>
              <a:t>Developers code the admission portal</a:t>
            </a:r>
          </a:p>
          <a:p>
            <a:r>
              <a:rPr lang="en-US" dirty="0"/>
              <a:t>Testers test payment and login modules</a:t>
            </a:r>
          </a:p>
          <a:p>
            <a:r>
              <a:rPr lang="en-US" dirty="0"/>
              <a:t>Project manager coordinates team and resources</a:t>
            </a:r>
          </a:p>
          <a:p>
            <a:r>
              <a:rPr lang="en-US" dirty="0" smtClean="0"/>
              <a:t>➡ </a:t>
            </a:r>
            <a:r>
              <a:rPr lang="en-US" dirty="0"/>
              <a:t>Ensures work is done </a:t>
            </a:r>
            <a:r>
              <a:rPr lang="en-US" b="1" dirty="0"/>
              <a:t>as per the integrated plan</a:t>
            </a:r>
            <a:r>
              <a:rPr lang="en-US" dirty="0"/>
              <a:t>.</a:t>
            </a:r>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4602197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4Monitor </a:t>
            </a:r>
            <a:r>
              <a:rPr lang="en-US" b="1" dirty="0"/>
              <a:t>and Control Project Work</a:t>
            </a:r>
          </a:p>
          <a:p>
            <a:r>
              <a:rPr lang="en-US" b="1" dirty="0" smtClean="0"/>
              <a:t> </a:t>
            </a:r>
            <a:r>
              <a:rPr lang="en-US" b="1" dirty="0"/>
              <a:t>What happens?</a:t>
            </a:r>
          </a:p>
          <a:p>
            <a:r>
              <a:rPr lang="en-US" dirty="0"/>
              <a:t>Actual progress is compared with planned progress.</a:t>
            </a:r>
          </a:p>
          <a:p>
            <a:pPr marL="0" indent="0">
              <a:buNone/>
            </a:pPr>
            <a:r>
              <a:rPr lang="en-US" b="1" dirty="0" smtClean="0"/>
              <a:t>Example</a:t>
            </a:r>
            <a:r>
              <a:rPr lang="en-US" b="1" dirty="0"/>
              <a:t>:</a:t>
            </a:r>
          </a:p>
          <a:p>
            <a:r>
              <a:rPr lang="en-US" dirty="0"/>
              <a:t>Planned: Registration module completed in 3 weeks</a:t>
            </a:r>
          </a:p>
          <a:p>
            <a:r>
              <a:rPr lang="en-US" dirty="0"/>
              <a:t>Actual: Takes 4 weeks</a:t>
            </a:r>
          </a:p>
          <a:p>
            <a:r>
              <a:rPr lang="en-US" dirty="0"/>
              <a:t>The project manager:</a:t>
            </a:r>
          </a:p>
          <a:p>
            <a:r>
              <a:rPr lang="en-US" dirty="0"/>
              <a:t>Identifies delay</a:t>
            </a:r>
          </a:p>
          <a:p>
            <a:r>
              <a:rPr lang="en-US" dirty="0"/>
              <a:t>Takes corrective action (extra resources / revised schedule)</a:t>
            </a:r>
          </a:p>
          <a:p>
            <a:r>
              <a:rPr lang="en-US" i="1" dirty="0" smtClean="0"/>
              <a:t>Keeps </a:t>
            </a:r>
            <a:r>
              <a:rPr lang="en-US" i="1" dirty="0"/>
              <a:t>the project on track.</a:t>
            </a:r>
            <a:endParaRPr lang="en-US" dirty="0"/>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38339933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41543"/>
          </a:xfrm>
        </p:spPr>
        <p:txBody>
          <a:bodyPr>
            <a:normAutofit fontScale="70000" lnSpcReduction="20000"/>
          </a:bodyPr>
          <a:lstStyle/>
          <a:p>
            <a:pPr marL="0" indent="0">
              <a:buNone/>
            </a:pPr>
            <a:r>
              <a:rPr lang="en-US" sz="3400" b="1" dirty="0" smtClean="0"/>
              <a:t>5</a:t>
            </a:r>
            <a:r>
              <a:rPr lang="en-US" sz="3400" b="1" dirty="0"/>
              <a:t> </a:t>
            </a:r>
            <a:r>
              <a:rPr lang="en-US" sz="3400" b="1" dirty="0" smtClean="0"/>
              <a:t>Perform </a:t>
            </a:r>
            <a:r>
              <a:rPr lang="en-US" sz="3400" b="1" dirty="0"/>
              <a:t>Integrated Change Control (Very Important for Exams)</a:t>
            </a:r>
          </a:p>
          <a:p>
            <a:r>
              <a:rPr lang="en-US" sz="3400" b="1" dirty="0" smtClean="0"/>
              <a:t> </a:t>
            </a:r>
            <a:r>
              <a:rPr lang="en-US" sz="3400" b="1" dirty="0"/>
              <a:t>What happens?</a:t>
            </a:r>
          </a:p>
          <a:p>
            <a:r>
              <a:rPr lang="en-US" sz="3400" dirty="0"/>
              <a:t>All change requests are reviewed and approved/rejected formally.</a:t>
            </a:r>
          </a:p>
          <a:p>
            <a:r>
              <a:rPr lang="en-US" sz="3400" b="1" dirty="0" smtClean="0"/>
              <a:t> </a:t>
            </a:r>
            <a:r>
              <a:rPr lang="en-US" sz="3400" b="1" dirty="0"/>
              <a:t>Example:</a:t>
            </a:r>
          </a:p>
          <a:p>
            <a:r>
              <a:rPr lang="en-US" sz="3400" dirty="0"/>
              <a:t>Client requests </a:t>
            </a:r>
            <a:r>
              <a:rPr lang="en-US" sz="3400" b="1" dirty="0"/>
              <a:t>online document upload feature</a:t>
            </a:r>
            <a:r>
              <a:rPr lang="en-US" sz="3400" dirty="0"/>
              <a:t>.</a:t>
            </a:r>
          </a:p>
          <a:p>
            <a:r>
              <a:rPr lang="en-US" sz="3400" dirty="0"/>
              <a:t>Project manager checks:</a:t>
            </a:r>
          </a:p>
          <a:p>
            <a:r>
              <a:rPr lang="en-US" sz="3400" dirty="0"/>
              <a:t>Impact on cost</a:t>
            </a:r>
          </a:p>
          <a:p>
            <a:r>
              <a:rPr lang="en-US" sz="3400" dirty="0"/>
              <a:t>Impact on schedule</a:t>
            </a:r>
          </a:p>
          <a:p>
            <a:r>
              <a:rPr lang="en-US" sz="3400" dirty="0"/>
              <a:t>Impact on scope</a:t>
            </a:r>
          </a:p>
          <a:p>
            <a:r>
              <a:rPr lang="en-US" sz="3400" dirty="0" smtClean="0"/>
              <a:t>➡ </a:t>
            </a:r>
            <a:r>
              <a:rPr lang="en-US" sz="3400" dirty="0"/>
              <a:t>Change Control Board (CCB) approves the change.</a:t>
            </a:r>
          </a:p>
          <a:p>
            <a:r>
              <a:rPr lang="en-US" sz="3400" i="1" dirty="0" smtClean="0"/>
              <a:t>Prevents </a:t>
            </a:r>
            <a:r>
              <a:rPr lang="en-US" sz="3400" i="1" dirty="0"/>
              <a:t>scope creep.</a:t>
            </a:r>
            <a:endParaRPr lang="en-US" sz="3400" dirty="0"/>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23168285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6 Close </a:t>
            </a:r>
            <a:r>
              <a:rPr lang="en-US" b="1" dirty="0"/>
              <a:t>Project or Phase</a:t>
            </a:r>
          </a:p>
          <a:p>
            <a:r>
              <a:rPr lang="en-US" b="1" dirty="0" smtClean="0"/>
              <a:t> </a:t>
            </a:r>
            <a:r>
              <a:rPr lang="en-US" b="1" dirty="0"/>
              <a:t>What happens?</a:t>
            </a:r>
          </a:p>
          <a:p>
            <a:r>
              <a:rPr lang="en-US" dirty="0"/>
              <a:t>Formal completion and handover.</a:t>
            </a:r>
          </a:p>
          <a:p>
            <a:pPr marL="0" indent="0">
              <a:buNone/>
            </a:pPr>
            <a:r>
              <a:rPr lang="en-US" b="1" dirty="0" smtClean="0"/>
              <a:t> </a:t>
            </a:r>
            <a:r>
              <a:rPr lang="en-US" b="1" dirty="0"/>
              <a:t>Example:</a:t>
            </a:r>
          </a:p>
          <a:p>
            <a:r>
              <a:rPr lang="en-US" dirty="0"/>
              <a:t>System delivered and accepted by college</a:t>
            </a:r>
          </a:p>
          <a:p>
            <a:r>
              <a:rPr lang="en-US" dirty="0"/>
              <a:t>Documentation submitted</a:t>
            </a:r>
          </a:p>
          <a:p>
            <a:r>
              <a:rPr lang="en-US" dirty="0"/>
              <a:t>Final report prepared</a:t>
            </a:r>
          </a:p>
          <a:p>
            <a:r>
              <a:rPr lang="en-US" dirty="0"/>
              <a:t>Team released</a:t>
            </a:r>
          </a:p>
          <a:p>
            <a:r>
              <a:rPr lang="en-US" dirty="0" smtClean="0"/>
              <a:t> </a:t>
            </a:r>
            <a:r>
              <a:rPr lang="en-US" i="1" dirty="0"/>
              <a:t>Project is officially closed.</a:t>
            </a:r>
            <a:endParaRPr lang="en-US" dirty="0"/>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36655963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a:t>
            </a:r>
            <a:endParaRPr lang="en-US" dirty="0"/>
          </a:p>
        </p:txBody>
      </p:sp>
      <p:sp>
        <p:nvSpPr>
          <p:cNvPr id="3" name="Content Placeholder 2"/>
          <p:cNvSpPr>
            <a:spLocks noGrp="1"/>
          </p:cNvSpPr>
          <p:nvPr>
            <p:ph idx="1"/>
          </p:nvPr>
        </p:nvSpPr>
        <p:spPr/>
        <p:txBody>
          <a:bodyPr>
            <a:normAutofit fontScale="77500" lnSpcReduction="20000"/>
          </a:bodyPr>
          <a:lstStyle/>
          <a:p>
            <a:r>
              <a:rPr lang="en-US" dirty="0"/>
              <a:t>Project Charter</a:t>
            </a:r>
          </a:p>
          <a:p>
            <a:r>
              <a:rPr lang="en-US" dirty="0"/>
              <a:t>      ↓</a:t>
            </a:r>
          </a:p>
          <a:p>
            <a:r>
              <a:rPr lang="en-US" dirty="0"/>
              <a:t>Project </a:t>
            </a:r>
            <a:r>
              <a:rPr lang="en-US" dirty="0" smtClean="0"/>
              <a:t>Management</a:t>
            </a:r>
            <a:endParaRPr lang="en-US" dirty="0"/>
          </a:p>
          <a:p>
            <a:r>
              <a:rPr lang="en-US" dirty="0"/>
              <a:t>      ↓</a:t>
            </a:r>
          </a:p>
          <a:p>
            <a:r>
              <a:rPr lang="en-US" dirty="0"/>
              <a:t>Execute Work</a:t>
            </a:r>
          </a:p>
          <a:p>
            <a:r>
              <a:rPr lang="en-US" dirty="0"/>
              <a:t>      ↓</a:t>
            </a:r>
          </a:p>
          <a:p>
            <a:r>
              <a:rPr lang="en-US" dirty="0"/>
              <a:t>Monitor &amp; Control</a:t>
            </a:r>
          </a:p>
          <a:p>
            <a:r>
              <a:rPr lang="en-US" dirty="0"/>
              <a:t>      ↓</a:t>
            </a:r>
          </a:p>
          <a:p>
            <a:r>
              <a:rPr lang="en-US" dirty="0"/>
              <a:t>Change Control</a:t>
            </a:r>
          </a:p>
          <a:p>
            <a:r>
              <a:rPr lang="en-US" dirty="0"/>
              <a:t>      ↓</a:t>
            </a:r>
          </a:p>
          <a:p>
            <a:r>
              <a:rPr lang="en-US" dirty="0"/>
              <a:t>Project Closure</a:t>
            </a:r>
          </a:p>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15997746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511</Words>
  <Application>Microsoft Office PowerPoint</Application>
  <PresentationFormat>On-screen Show (4:3)</PresentationFormat>
  <Paragraphs>99</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Unit - II</vt:lpstr>
      <vt:lpstr>Project integration Management </vt:lpstr>
      <vt:lpstr> Benefits of project integration management. </vt:lpstr>
      <vt:lpstr> The project integration management process. </vt:lpstr>
      <vt:lpstr>Example Project: Online College Admission System</vt:lpstr>
      <vt:lpstr>PowerPoint Presentation</vt:lpstr>
      <vt:lpstr>PowerPoint Presentation</vt:lpstr>
      <vt:lpstr>PowerPoint Presentation</vt:lpstr>
      <vt:lpstr>PowerPoint Presentation</vt:lpstr>
      <vt:lpstr>PowerPoint Presentation</vt:lpstr>
      <vt:lpstr>Flow</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dc:description>generated using python-pptx</dc:description>
  <cp:lastModifiedBy>ANIL</cp:lastModifiedBy>
  <cp:revision>9</cp:revision>
  <dcterms:created xsi:type="dcterms:W3CDTF">2013-01-27T09:14:16Z</dcterms:created>
  <dcterms:modified xsi:type="dcterms:W3CDTF">2026-01-03T13:21:36Z</dcterms:modified>
</cp:coreProperties>
</file>