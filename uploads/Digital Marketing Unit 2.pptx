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88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56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baXGSAcbp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34777"/>
            <a:ext cx="7924933" cy="137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Marketing Landscape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66291" y="2758612"/>
            <a:ext cx="2811254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&amp; Trends in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55729" y="3383194"/>
            <a:ext cx="2232541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Marketing Session • 60 Minutes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59767" y="3722026"/>
            <a:ext cx="824300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5"/>
            <a:ext cx="7620166" cy="211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Digital Marketing Market Overview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Ecosystem &amp; Market Share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Platform Rankings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Spend Distribution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Trends &amp; Opportunities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Digital Marketing Market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3653" y="1249496"/>
            <a:ext cx="1516529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$598.58B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3653" y="1729549"/>
            <a:ext cx="151652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Value 2025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10975" y="2420442"/>
            <a:ext cx="1322050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$1,440B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910975" y="2900495"/>
            <a:ext cx="132205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by 2034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9553" y="3591554"/>
            <a:ext cx="1364893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889553" y="4071607"/>
            <a:ext cx="136489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Growth 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5"/>
            <a:ext cx="7924933" cy="146595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943985"/>
            <a:ext cx="7924933" cy="146595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4638476"/>
            <a:ext cx="7924933" cy="146595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 Spend 2025 Breakdown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068" y="1478028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Digital Spend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068" y="1904504"/>
            <a:ext cx="761722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$678.7B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068" y="2300386"/>
            <a:ext cx="761722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68.4% of total ad spend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8068" y="3172519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Ad Spend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068" y="3598995"/>
            <a:ext cx="761722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$276.7B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068" y="3994878"/>
            <a:ext cx="761722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+9.2% growth YoY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8068" y="4867011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Advertising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068" y="5293485"/>
            <a:ext cx="761722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068" y="5689368"/>
            <a:ext cx="761722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59.7% of web traffic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Social Media Platforms - Market Share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211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- 67.32% market share (2.9B+ users)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High active users, strong video dominance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- 10.7% market share, influencer marketing hub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Rapid growth, Gen Z focus, short-form video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- 9.24% desktop market share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Social Media Users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00159" y="1249493"/>
            <a:ext cx="1543516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5.42B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00159" y="1729548"/>
            <a:ext cx="154351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Users Worldwide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52594" y="3005996"/>
            <a:ext cx="1638647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752594" y="3486050"/>
            <a:ext cx="163864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Networks per User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Content Takes Over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70934" y="1249493"/>
            <a:ext cx="2001967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$140.18B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570934" y="1729548"/>
            <a:ext cx="200196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Video Ad Market 2025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05726" y="2420441"/>
            <a:ext cx="1532384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805726" y="2900495"/>
            <a:ext cx="153238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Traffic (Video)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0090" y="3591553"/>
            <a:ext cx="1863656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640090" y="4071607"/>
            <a:ext cx="186365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Short Video Content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Ad Spend Platforms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3"/>
            <a:ext cx="7620166" cy="211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Facebook/Instagram/Meta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Largest share of ad dollars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Major video advertising platform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Growing ad spend from brands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- 13.7B searches/day globally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 Platforms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Connected TV +21% growth (Netflix, etc.)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Marketing Era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736570" y="1249496"/>
            <a:ext cx="1670695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60.9%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736570" y="1729550"/>
            <a:ext cx="167069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Web Traffic 2025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709" y="3005998"/>
            <a:ext cx="2376418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383709" y="3486052"/>
            <a:ext cx="237641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Ad Spend via Mobile (2030)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Trends &amp; Growth Areas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691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Media Networks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+13.9% growth (embedded shopping)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TV/OTT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+10.9% growth (Netflix ads, etc.)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Marketing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$32.55B market by 2025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New search paradigm shift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1"/>
            <a:ext cx="7924933" cy="146595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943983"/>
            <a:ext cx="7924933" cy="146595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4638475"/>
            <a:ext cx="7924933" cy="146595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Marketing 2025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068" y="1478026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068" y="1904502"/>
            <a:ext cx="761722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$32.55B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068" y="2300385"/>
            <a:ext cx="761722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$24B (2024)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8068" y="3172518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068" y="3598994"/>
            <a:ext cx="761722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068" y="3994877"/>
            <a:ext cx="761722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 of marketers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8068" y="4867010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Star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068" y="5293482"/>
            <a:ext cx="761722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068" y="5689364"/>
            <a:ext cx="761722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51.6% of marketers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Marketing Evolution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1"/>
            <a:ext cx="7620166" cy="1691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Dominance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- 13.7 billion searches/day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Search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Growing to 50% of all searches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Search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New search behavior on platforms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Search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Conversational search shifting dynamics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5387" y="2777463"/>
            <a:ext cx="5813227" cy="175650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Marketing Transformation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99293" y="1249491"/>
            <a:ext cx="1745248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99293" y="1729546"/>
            <a:ext cx="174524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Boost with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93921" y="3005998"/>
            <a:ext cx="546328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Personalization, Segmentation, Predictive Analytics, Chatbots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Your Platform Mix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691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Brands: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Facebook, Instagram, TikTok, YouTube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Brands: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LinkedIn, YouTube, Google Search, Industry blogs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Instagram Shop, Pinterest, TikTok, Retail Media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Audience: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TikTok, Instagram Reels, YouTube Shorts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691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market: </a:t>
            </a: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$598.58B (2025)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$1.44T (2034)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imperative: </a:t>
            </a: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60.9%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traffic on mobile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dominance: </a:t>
            </a: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internet traffic + 78% prefer short video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diversification essential for reach and engagement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72799" y="1146947"/>
            <a:ext cx="7620166" cy="102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bg1"/>
                </a:solidFill>
              </a:rPr>
              <a:t>Video </a:t>
            </a:r>
            <a:r>
              <a:rPr lang="en-US" dirty="0" smtClean="0">
                <a:solidFill>
                  <a:schemeClr val="bg1"/>
                </a:solidFill>
              </a:rPr>
              <a:t>Resource:</a:t>
            </a:r>
          </a:p>
          <a:p>
            <a:r>
              <a:rPr lang="en-US" b="1" dirty="0">
                <a:solidFill>
                  <a:schemeClr val="bg1"/>
                </a:solidFill>
                <a:hlinkClick r:id="rId3"/>
              </a:rPr>
              <a:t>https://www.youtube.com/watch?v=ubaXGSAcbpk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Simplilearn</a:t>
            </a:r>
            <a:r>
              <a:rPr lang="en-US" dirty="0" smtClean="0">
                <a:solidFill>
                  <a:schemeClr val="bg1"/>
                </a:solidFill>
              </a:rPr>
              <a:t> Digital Marketing Full Course 2026: 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(Covers platforms, strategies, Google Ads, analytics, and social media marketing)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Research </a:t>
            </a:r>
            <a:r>
              <a:rPr lang="en-US" dirty="0">
                <a:solidFill>
                  <a:schemeClr val="bg1"/>
                </a:solidFill>
              </a:rPr>
              <a:t>Paper:</a:t>
            </a:r>
          </a:p>
          <a:p>
            <a:r>
              <a:rPr lang="en-US" dirty="0">
                <a:solidFill>
                  <a:schemeClr val="bg1"/>
                </a:solidFill>
              </a:rPr>
              <a:t>Digital Marketing Market Growth Analysis - Research and Markets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Topics: AI/ML-driven personalization, social commerce, AR/VR, 5G adoption, programmatic advertising, omnichannel strategies</a:t>
            </a:r>
          </a:p>
          <a:p>
            <a:r>
              <a:rPr lang="en-US" dirty="0">
                <a:solidFill>
                  <a:schemeClr val="bg1"/>
                </a:solidFill>
              </a:rPr>
              <a:t>Data Sources (5 cited):</a:t>
            </a:r>
          </a:p>
          <a:p>
            <a:r>
              <a:rPr lang="en-US" dirty="0" err="1">
                <a:solidFill>
                  <a:schemeClr val="bg1"/>
                </a:solidFill>
              </a:rPr>
              <a:t>DataReportal</a:t>
            </a:r>
            <a:r>
              <a:rPr lang="en-US" dirty="0">
                <a:solidFill>
                  <a:schemeClr val="bg1"/>
                </a:solidFill>
              </a:rPr>
              <a:t> - Digital 2025 Social Platform Analysis</a:t>
            </a:r>
          </a:p>
          <a:p>
            <a:r>
              <a:rPr lang="en-US" dirty="0">
                <a:solidFill>
                  <a:schemeClr val="bg1"/>
                </a:solidFill>
              </a:rPr>
              <a:t>Sprout Social - 80+ Social Media Marketing Statistics</a:t>
            </a:r>
          </a:p>
          <a:p>
            <a:r>
              <a:rPr lang="en-US" dirty="0">
                <a:solidFill>
                  <a:schemeClr val="bg1"/>
                </a:solidFill>
              </a:rPr>
              <a:t>Research and Markets - Social Media Market Report 2025-2029</a:t>
            </a:r>
          </a:p>
          <a:p>
            <a:r>
              <a:rPr lang="en-US" dirty="0">
                <a:solidFill>
                  <a:schemeClr val="bg1"/>
                </a:solidFill>
              </a:rPr>
              <a:t>Sensor Tower - State of Digital Advertising 2025</a:t>
            </a:r>
          </a:p>
          <a:p>
            <a:r>
              <a:rPr lang="en-US" dirty="0" err="1">
                <a:solidFill>
                  <a:schemeClr val="bg1"/>
                </a:solidFill>
              </a:rPr>
              <a:t>Dentsu</a:t>
            </a:r>
            <a:r>
              <a:rPr lang="en-US" dirty="0">
                <a:solidFill>
                  <a:schemeClr val="bg1"/>
                </a:solidFill>
              </a:rPr>
              <a:t> - Global Ad Spend Forecasts 2025</a:t>
            </a:r>
          </a:p>
        </p:txBody>
      </p:sp>
    </p:spTree>
    <p:extLst>
      <p:ext uri="{BB962C8B-B14F-4D97-AF65-F5344CB8AC3E}">
        <p14:creationId xmlns:p14="http://schemas.microsoft.com/office/powerpoint/2010/main" val="3505578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334" y="1804132"/>
            <a:ext cx="2495332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69" y="2581349"/>
            <a:ext cx="2052062" cy="26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732689" y="3152682"/>
            <a:ext cx="1678623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resources on next slide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Data 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173268"/>
            <a:ext cx="7620166" cy="196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DataReportal (2025):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2025 - Global Social Platform Analysis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Sprout Social (2025):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80+ Social Media Marketing Statistics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Markets (2025):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Social Media Market Report 2025-2029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Tower (2025):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of Digital Advertising 2025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Dentsu (2025):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 Ad Spend Forecasts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Marketing (2025):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100+ Digital Marketing Statistics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Learning Resources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268"/>
            <a:ext cx="8083431" cy="27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Tutorial: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34" y="1523674"/>
            <a:ext cx="7924933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Full Course 2026 - Simplilearn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34" y="2224655"/>
            <a:ext cx="8083431" cy="27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34" y="2575061"/>
            <a:ext cx="7924933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Market Growth Analysis - Research and Markets</a:t>
            </a:r>
            <a:endParaRPr lang="en-US" sz="120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Topic: Market trends, AI/ML, social commerce integration, personalization strategies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621</Words>
  <Application>Microsoft Office PowerPoint</Application>
  <PresentationFormat>On-screen Show (16:9)</PresentationFormat>
  <Paragraphs>137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Windows User</cp:lastModifiedBy>
  <cp:revision>2</cp:revision>
  <dcterms:created xsi:type="dcterms:W3CDTF">2026-01-22T19:29:41Z</dcterms:created>
  <dcterms:modified xsi:type="dcterms:W3CDTF">2026-01-22T19:32:15Z</dcterms:modified>
</cp:coreProperties>
</file>