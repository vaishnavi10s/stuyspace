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065444"/>
            <a:ext cx="7924933" cy="137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Fundamentals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53818" y="2589279"/>
            <a:ext cx="4236363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Digital Transformation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01419" y="3366162"/>
            <a:ext cx="2340997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vs Digital Marketing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01419" y="3628760"/>
            <a:ext cx="2340997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Behavior in the Digital World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01419" y="3891360"/>
            <a:ext cx="2340997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 Model &amp; Marketing Funnel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Agenda (60 minutes)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325728"/>
            <a:ext cx="7620166" cy="19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Context (5 min)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Why Digital Marketing Matters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vs Digital Marketing (15 min)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Key Differences &amp; ROI Comparison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 Digital World (15 min)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Behavior Patterns &amp; Trends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 Funnel Model (20 min)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Framework &amp; Real-World Applications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Case Studies (5 min)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Coca-Cola vs Airbnb Examples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6"/>
            <a:ext cx="7924933" cy="101004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488076"/>
            <a:ext cx="7924933" cy="101004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726657"/>
            <a:ext cx="7924933" cy="101004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Marketing Matters in 2025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068" y="1478030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Scale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068" y="1828271"/>
            <a:ext cx="7617222" cy="20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 market reaching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$2,279.4B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2025 with 24.3% CAGR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068" y="2716610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Shift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068" y="3066852"/>
            <a:ext cx="7617222" cy="20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expect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experiences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all digital touchpoints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068" y="3955191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Impact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068" y="4305433"/>
            <a:ext cx="7617222" cy="20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data collection enables </a:t>
            </a:r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consumer understanding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34" y="1401795"/>
          <a:ext cx="7924933" cy="2676922"/>
        </p:xfrm>
        <a:graphic>
          <a:graphicData uri="http://schemas.openxmlformats.org/drawingml/2006/table">
            <a:tbl>
              <a:tblPr/>
              <a:tblGrid>
                <a:gridCol w="2641644"/>
                <a:gridCol w="2641644"/>
                <a:gridCol w="2641644"/>
              </a:tblGrid>
              <a:tr h="446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Marketing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Marketing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46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 but less targeted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Highly targeted &amp; precise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6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Difficult to track ROI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analytics &amp; tracking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6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upfront investment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Scalable from $5/day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6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campaign adjustments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optimization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6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~$1.50 per dollar spent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~$2.80 per dollar spent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vs Digital Marketing: At a Glance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1590" y="1401796"/>
            <a:ext cx="1800655" cy="136855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02468" y="3075122"/>
            <a:ext cx="1939065" cy="136855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46740" y="4748445"/>
            <a:ext cx="2050521" cy="136855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Ad Spending Forecast (2025)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918755" y="1630331"/>
            <a:ext cx="13380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18755" y="2087398"/>
            <a:ext cx="1338074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 Spending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918755" y="2355289"/>
            <a:ext cx="1338074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market share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8249" y="3303654"/>
            <a:ext cx="14792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8249" y="3760722"/>
            <a:ext cx="1479252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Ad Spending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848249" y="4028612"/>
            <a:ext cx="1479252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but stable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91407" y="4976980"/>
            <a:ext cx="15929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91407" y="5434047"/>
            <a:ext cx="1592937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to Traditional Ratio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791407" y="5701938"/>
            <a:ext cx="1592937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shift clear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Businesses Choose Digital Marketing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3"/>
            <a:ext cx="7620166" cy="19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Targeting: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Reach 25-34 year old fitness enthusiasts in Chicago interested in keto diets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 Scaling: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$5/day budget and scale based on results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ROI: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 every click, conversion, and cost-per-lead in real-time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Optimization: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Adjust campaigns instantly without waiting for new print runs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Engagement: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 interaction with customers builds relationships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3"/>
            <a:ext cx="2932906" cy="177601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3254043"/>
            <a:ext cx="7924933" cy="127992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Integrated Approach: Best of Both Worlds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068" y="1478028"/>
            <a:ext cx="2525355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Benefits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601" y="1828270"/>
            <a:ext cx="2247305" cy="96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increase in customer interaction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 boost in brand recall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rise in sales conversions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38068" y="3482578"/>
            <a:ext cx="761722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068" y="3832820"/>
            <a:ext cx="7467865" cy="383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traditional for awareness &amp; brand building, digital for targeting &amp; conversion. Guide customers through entire buying journey.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Behavior Has Changed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3"/>
            <a:ext cx="7620166" cy="2308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First: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Consumers extensively research products before purchase, comparing across multiple platforms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 Matters: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seek reviews, recommendations, and peer validation before buying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Mobile-Centric: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70% of online interactions happen on mobile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Expected: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Customers expect recommendations reflecting their preferences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Engagement: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interact via apps, websites, social media, email, and in-store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6901" y="2396961"/>
            <a:ext cx="2430198" cy="213700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Rise of Social Commerce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331475" y="1249496"/>
            <a:ext cx="4570502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31475" y="1599740"/>
            <a:ext cx="457050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commerce growing at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the rate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traditional e-commerce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475" y="1965359"/>
            <a:ext cx="4570502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Platforms: Instagram, TikTok, Facebook, Pinterest leading conversion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585435" y="2625496"/>
            <a:ext cx="2012593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13969" y="2975739"/>
            <a:ext cx="1744596" cy="132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product discovery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User-generated content trust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purchasing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partnerships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401798"/>
            <a:ext cx="7924933" cy="7431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221013"/>
            <a:ext cx="7924933" cy="7431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040228"/>
            <a:ext cx="7924933" cy="7431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3859448"/>
            <a:ext cx="7924933" cy="7431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Customer Decision Journey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83001" y="1554100"/>
            <a:ext cx="7751148" cy="20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Awareness &amp; Discovery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83001" y="1800825"/>
            <a:ext cx="775114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identifies a need through social media, search engines, or recommendations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83001" y="2373316"/>
            <a:ext cx="7751148" cy="20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Research &amp; Consideration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83001" y="2620040"/>
            <a:ext cx="775114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research: reviews, comparisons, price checking across e-commerce sites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83001" y="3192531"/>
            <a:ext cx="7751148" cy="20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Evaluation &amp; Trust Building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83001" y="3439255"/>
            <a:ext cx="775114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seeks social proof, influencer opinions, and testimonials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83001" y="4011746"/>
            <a:ext cx="7751148" cy="20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Purchase &amp; Advocacy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783001" y="4258470"/>
            <a:ext cx="775114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purchase option; likely to share experience on social media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1959" y="1777501"/>
            <a:ext cx="3539917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AIDA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54507" y="2554714"/>
            <a:ext cx="5634822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for Customer Engagement &amp; Conversion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77467" y="3179299"/>
            <a:ext cx="2388900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→ Interest → Desire → Action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1"/>
            <a:ext cx="7924933" cy="10206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498657"/>
            <a:ext cx="7924933" cy="219256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 Stage 1: ATTENTION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9818" y="1478026"/>
            <a:ext cx="758483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Grab Notice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9818" y="1828270"/>
            <a:ext cx="758483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potential customers aware that your product/service exists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9818" y="2727192"/>
            <a:ext cx="758483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Tactics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8351" y="3077435"/>
            <a:ext cx="7207581" cy="1385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Eye-catching social media ads (Instagram, TikTok)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Engaging YouTube thumbnails and video previews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Compelling blog post headlines and meta descriptions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partnerships and brand mentions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1"/>
            <a:ext cx="7924933" cy="10206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498657"/>
            <a:ext cx="7924933" cy="219256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 Stage 2: INTEREST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9818" y="1478026"/>
            <a:ext cx="758483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Hold &amp; Engage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9818" y="1828270"/>
            <a:ext cx="758483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compelling information about features, benefits, and value proposition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9818" y="2727192"/>
            <a:ext cx="758483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Tactics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8351" y="3077435"/>
            <a:ext cx="7207581" cy="1385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In-depth blog articles addressing customer pain points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videos demonstrating product features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newsletters nurturing leads with valuable content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Testimonials and case studies building credibility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6"/>
            <a:ext cx="7924933" cy="10206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498657"/>
            <a:ext cx="7924933" cy="25674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 Stage 3: DESIRE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9818" y="1478026"/>
            <a:ext cx="758483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Create Want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9818" y="1828270"/>
            <a:ext cx="758483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emotional connection and demonstrate unique value; create urgency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9818" y="2727192"/>
            <a:ext cx="758483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Tactics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8351" y="3077435"/>
            <a:ext cx="7207581" cy="176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Limited-time offers and exclusive discounts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User-generated content showcasing real results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content (vs competitors)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Scarcity messaging ("Only 5 left in stock")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product recommendations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6"/>
            <a:ext cx="7924933" cy="10206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498657"/>
            <a:ext cx="7924933" cy="25674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 Stage 4: 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9818" y="1478026"/>
            <a:ext cx="758483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Drive Conversion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9818" y="1828270"/>
            <a:ext cx="758483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easy and compelling for customers to take the next step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9818" y="2727192"/>
            <a:ext cx="758483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Tactics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8351" y="3077435"/>
            <a:ext cx="7207581" cy="176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compelling CTAs (Call-to-Action) buttons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checkout process (1-click purchasing)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trial offers or money-back guarantees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 ads for abandoned carts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Post-purchase follow-up for advocacy &amp; repeat business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691022"/>
            <a:ext cx="7924933" cy="539254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ATTENTION: 100% of Potential Customers Aware</a:t>
            </a:r>
            <a:endParaRPr lang="en-US" sz="1320" dirty="0"/>
          </a:p>
        </p:txBody>
      </p:sp>
      <p:sp>
        <p:nvSpPr>
          <p:cNvPr id="3" name="Text 1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AIDA Funnel: Customer Journey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534" y="2306343"/>
            <a:ext cx="7924933" cy="45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INTEREST: ~80% Engaged &amp; Learning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534" y="2839482"/>
            <a:ext cx="7924933" cy="45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DESIRE: ~50% Wanting to Buy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34" y="3372613"/>
            <a:ext cx="7924933" cy="45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~25% Taking Next Step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285" y="4347437"/>
            <a:ext cx="8083431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Percentages vary by industry, product, and campaign effectiveness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173268"/>
            <a:ext cx="7924933" cy="77059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019933"/>
            <a:ext cx="7924933" cy="77059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2866597"/>
            <a:ext cx="7924933" cy="77059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3713262"/>
            <a:ext cx="7924933" cy="77059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Productivity App Using AIDA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83001" y="1325566"/>
            <a:ext cx="775114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3001" y="1599744"/>
            <a:ext cx="775114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Engaging social media posts highlighting key features, influencer partnerships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83001" y="2172230"/>
            <a:ext cx="775114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3001" y="2446409"/>
            <a:ext cx="775114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In-depth blog articles solving productivity challenges, tutorial videos, free webinars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83001" y="3018904"/>
            <a:ext cx="775114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3001" y="3293073"/>
            <a:ext cx="775114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trial (30 days), customer success stories, limited-time launch discount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83001" y="3865569"/>
            <a:ext cx="775114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3001" y="4139738"/>
            <a:ext cx="775114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signup, money-back guarantee, email nurture for trial users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173268"/>
            <a:ext cx="7924933" cy="8162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103769"/>
            <a:ext cx="7924933" cy="119988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417922"/>
            <a:ext cx="7924933" cy="8162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Coca-Cola (Traditional Marketing)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1835" y="1325566"/>
            <a:ext cx="777273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Campaign: "Share a Coke"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1835" y="1645379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bottle labels &amp; retail promotions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61835" y="2256076"/>
            <a:ext cx="777273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1835" y="2575889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2% sales increase (first increase in years)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61835" y="2767710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Massive brand engagement &amp; consumer participation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61835" y="2959531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Limited measurement data &amp; analytics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61835" y="3570229"/>
            <a:ext cx="777273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1835" y="3890042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reach but difficult to track precise ROI and customer behavior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173268"/>
            <a:ext cx="7924933" cy="8162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103769"/>
            <a:ext cx="7924933" cy="119988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417922"/>
            <a:ext cx="7924933" cy="8162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Airbnb (Digital Marketing)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1835" y="1325566"/>
            <a:ext cx="777273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Targeted Digital + Social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1835" y="1645379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Behavior-based targeting, user-generated content, influencer partnerships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61835" y="2256076"/>
            <a:ext cx="777273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1835" y="2575889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Highly specific audience targeting (interests, location, behavior)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61835" y="2767710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performance tracking &amp; optimization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61835" y="2959531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Two-way engagement with direct customer interaction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61835" y="3570229"/>
            <a:ext cx="777273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1835" y="3890042"/>
            <a:ext cx="7772738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Measurable, scalable, and personalized approach drives higher ROI</a:t>
            </a:r>
            <a:endParaRPr lang="en-US" sz="10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173259"/>
            <a:ext cx="2805576" cy="220083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3602627"/>
            <a:ext cx="1954609" cy="220083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Coca-Cola vs Airbnb: The Key Difference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61835" y="1325556"/>
            <a:ext cx="2550994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Coca-Cola (Traditional)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135" y="1599735"/>
            <a:ext cx="2348673" cy="1622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approach</a:t>
            </a:r>
            <a:endParaRPr lang="en-US" sz="1020" dirty="0"/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reach, broad appeal</a:t>
            </a:r>
            <a:endParaRPr lang="en-US" sz="1020" dirty="0"/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measurement</a:t>
            </a:r>
            <a:endParaRPr lang="en-US" sz="1020" dirty="0"/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communication</a:t>
            </a:r>
            <a:endParaRPr lang="en-US" sz="1020" dirty="0"/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production costs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61835" y="3754934"/>
            <a:ext cx="168300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(Digital)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135" y="4029103"/>
            <a:ext cx="1497707" cy="1622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approach</a:t>
            </a:r>
            <a:endParaRPr lang="en-US" sz="1020" dirty="0"/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audience match</a:t>
            </a:r>
            <a:endParaRPr lang="en-US" sz="1020" dirty="0"/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analytics</a:t>
            </a:r>
            <a:endParaRPr lang="en-US" sz="1020" dirty="0"/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interaction</a:t>
            </a:r>
            <a:endParaRPr lang="en-US" sz="1020" dirty="0"/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budget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530285" y="5955767"/>
            <a:ext cx="8083431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strategy: Use both! Traditional for awareness, Digital for conversion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87"/>
            <a:ext cx="7924933" cy="94241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420438"/>
            <a:ext cx="7924933" cy="9425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591548"/>
            <a:ext cx="7924933" cy="94241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AIDA to Digital Channels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1835" y="1401794"/>
            <a:ext cx="777273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1835" y="1675963"/>
            <a:ext cx="7772738" cy="1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via engaging posts; Interest through comments; Desire with limited offers; Action via direct messaging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61835" y="2572736"/>
            <a:ext cx="777273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Marketing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1835" y="2846915"/>
            <a:ext cx="7772738" cy="1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from subject lines; Interest via content preview; Desire by showcasing benefits; Action with CTAs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61835" y="3743846"/>
            <a:ext cx="7772738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1835" y="4018025"/>
            <a:ext cx="7772738" cy="1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from headlines; Interest in blog/video; Desire through case studies; Action via CTAs &amp; free trials</a:t>
            </a:r>
            <a:endParaRPr lang="en-US" sz="10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87"/>
            <a:ext cx="7620166" cy="19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dominates: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$800B vs $200B traditional; 2.8x better ROI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behavior evolved: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Omnichannel, research-heavy, social proof dependent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 is best: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30% higher interaction, 23% better recall with integrated approach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 still works: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Framework guides any product/service through awareness to conversion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matters: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Digital enables real-time optimization traditional cannot match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References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173259"/>
            <a:ext cx="8083431" cy="1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eMarketer Report 2024 - Digital ad spending projected at $800B globally by 2025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609534" y="1354494"/>
            <a:ext cx="8083431" cy="1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HubSpot Study 2024 - Digital marketing ROI of $2.80 per dollar spent vs traditional $1.50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609534" y="1535739"/>
            <a:ext cx="8083431" cy="1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Nielsen Report - 41% of people trust online ads; data privacy concerns rising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9534" y="1716974"/>
            <a:ext cx="8083431" cy="1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OCP Academy 2025 - Blended campaigns show 30% increase in customer interaction, 20% rise in conversions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09534" y="1898219"/>
            <a:ext cx="8083431" cy="1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Borderless Access 2025 - Digital transformation market at $2,279.4B with 24.3% CAGR</a:t>
            </a:r>
            <a:endParaRPr lang="en-US" sz="10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Resources for Further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6"/>
            <a:ext cx="7924933" cy="564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YouTube Video (Recommended):</a:t>
            </a:r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151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20-min video with real-world examples of AIDA in digital marketing and advertising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09534" y="1966680"/>
            <a:ext cx="7924933" cy="564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Research Paper (Academic):</a:t>
            </a:r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Impact of Digital Marketing Strategies on Consumer Behavior" - eMan Research Publishing (2025)</a:t>
            </a:r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consumer engagement in digital spaces, psychological mechanisms, data-driven personalization, and ethical implications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534" y="2683864"/>
            <a:ext cx="7924933" cy="383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Additional Reading:</a:t>
            </a:r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link:</a:t>
            </a:r>
            <a:endParaRPr lang="en-US" sz="10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0456" y="1596758"/>
            <a:ext cx="5362923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682651" y="2373967"/>
            <a:ext cx="5778699" cy="26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floor for case studies, challenges, and real-world applications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72608" y="3097606"/>
            <a:ext cx="3598783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you apply AIDA to your own business?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72608" y="3360204"/>
            <a:ext cx="3598783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digital channels matter most for your target audience?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2026-01-22T19:34:34Z</dcterms:created>
  <dcterms:modified xsi:type="dcterms:W3CDTF">2026-01-22T19:34:34Z</dcterms:modified>
</cp:coreProperties>
</file>